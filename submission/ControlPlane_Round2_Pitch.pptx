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ControlPlane is an admission-control layer for AI. Enterprises moved from AI that answers to AI that acts. We authorise the action. We do not score the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refund agent emitted that sentence. Confidence point-nine-four. Money moved Tuesday, found Friday. Clause 7.2 does not exist. The company wrongly paid one lakh eighty-four thousand rupees. The system didn't fail. It was never asked to prove anything. Oversight is still built for the answering era: score the text, chart the failure, review the log next week. The cost of a wrong output changed category. It used to be a bad paragraph. It is now an executed transaction.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oversight tool inspects what the model said. The only thing that can prove it is the evidence assembled before the model ran — and that record is thrown away the moment generation starts. Everyone watches the exit. Nobody records the entrance. ControlPlane keeps the receipts. That turns hallucination checking from a judgment call into a set-membership test, and turns oversight from scoring text into authorising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AI response is not text to be scored. It is a set of claims requesting permission to act. We capture every span at context assembly — source, ACL, hash, offsets — then freeze. The model cannot invent a span after the fact, and it has no channel to declare a binding. Performance reads the graph forward. Cost reads it backward. Responsibility reads the labels. Everywhere else that's three products. Here it's three questions on one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Provenance Recorder captured five spans before the model ran. Vendor agreement, order lookup, an HR note, FAQ, CRM. Clause 7.2 is in none of them, because clause 7.2 does not exist. The claim stays UNSUPPORTED. Not contradicted — there is nothing to contradict. Not low confidence. Unproven. The claim carries the burden of proof. Nothing passes because nobody objected.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those five spans did bind. The HR internal note. The claim is true — it is in the evidence. The caller is a customer-support agent with vendor-public clearance. The span is hr-confidential. Deterministic entitlement check: the ACL is not a subset of the caller's clearance. On the customer-visible text path — R1 — the matrix says Edit. Strip the unentitled span. Surgical, never generative. This is the incident output-only checkers cannot see: they never carry who is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response. Second pending action: issue the refund. R3, irreversible, one lakh eighty-four thousand rupees. The driving claim is still clause 7.2, still unproven, still categorical. The matrix says Escalate. Held and escalated with the evidence packet — the claim, the empty span list, the verdict. Not an alert. The hash chain verifies. The customer-visible line is edited. The payout is held. Both are correct at the same time. Proof scales with consequence.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span. Same claim. Same hash. Only the caller changed. analyst_01 is not entitled to the HR-comp span — the matrix says Edit. hr_partner_01 is — Pass. Zero LLM in this path. The claim did not change. The evidence did not change. The access right did. This is the incident output-only checkers cannot see, and it is the argument against RAG groundedness made concrete: groundedness sees the retrieval and says supported; it never carries who is asking, so it cannot flip on identity.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Guardrails match banned surface forms. Clause 7.2 is a well-formed sentence, so they admit it. Groundedness checkers average and cannot see who is asking, so they miss both the missing clause and the HR span. Confidence fails by definition: the failure mode is confidently wrong. The judge asks, does this look right? We ask, which span proves it? You cannot block, edit or escalate on eighty-seven.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hedged warranty guess on a support reply is not the same object as an ungrounded clause authorising a payment. Treat them as one score and you either over-flag the first — the plane gets switched off — or under-flag the second. Same plane. Support streams with an annotation. The copilot's partner email is edited. The refund is held and escalated. Proof still scales with consequence.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forty thousand interactions a week, uniform deep checking is how planes get disabled. Budget follows blast radius. We will not put a savings percentage on this slide — that number is knowable only on your traffic. What is knowable now: a missing clause cannot authorise a payout; an HR span cannot ride along to the wrong caller; dead compute is a walk backward on the same graph, not an estimate. Shadow first. Enforce R3 next. We hook context assembly — that is real integration, and it is why the design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not claim to eliminate hallucinations. The honest claim has a shape: on this route we catch a measured percent of ungrounded claims at forty milliseconds p50 — and here is the measured percent we don't. Every team will claim detection. Publishing our own false-negative rate is the move none of them will make. The blanks stay blank until we measure. Derived claims are the residual risk we will say out loud. UNKNOWN never becomes SUPPORTED. That one rule is the boundary between a control plane and false assurance.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asking to take this into shadow on one support route and one acting route. Enforcement is earned per route. The first artefact you get is the counterfactual — would have held N, of which M were true positives — not a block. That system was never asked to prove anything. Now nothing acts until it can prove it should.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00 // TITLE</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1691640"/>
            <a:ext cx="8778240" cy="292608"/>
          </a:xfrm>
          <a:prstGeom prst="rect">
            <a:avLst/>
          </a:prstGeom>
          <a:noFill/>
          <a:ln/>
        </p:spPr>
        <p:txBody>
          <a:bodyPr wrap="square" lIns="0" tIns="0" rIns="0" bIns="0" rtlCol="0" anchor="ctr"/>
          <a:lstStyle/>
          <a:p>
            <a:pPr indent="0" marL="0">
              <a:buNone/>
            </a:pPr>
            <a:r>
              <a:rPr lang="en-US" sz="1400" spc="220" kern="0" dirty="0">
                <a:solidFill>
                  <a:srgbClr val="D9482A"/>
                </a:solidFill>
                <a:latin typeface="Arial" pitchFamily="34" charset="0"/>
                <a:ea typeface="Arial" pitchFamily="34" charset="-122"/>
                <a:cs typeface="Arial" pitchFamily="34" charset="-120"/>
              </a:rPr>
              <a:t>ACCENTURE INNOVATION CHALLENGE 2026  ·  ROUND 2  ·  TRACK 1</a:t>
            </a:r>
            <a:endParaRPr lang="en-US" sz="1400" dirty="0"/>
          </a:p>
        </p:txBody>
      </p:sp>
      <p:sp>
        <p:nvSpPr>
          <p:cNvPr id="12" name="Text 9"/>
          <p:cNvSpPr/>
          <p:nvPr/>
        </p:nvSpPr>
        <p:spPr>
          <a:xfrm>
            <a:off x="950976" y="2084832"/>
            <a:ext cx="8869680" cy="1051560"/>
          </a:xfrm>
          <a:prstGeom prst="rect">
            <a:avLst/>
          </a:prstGeom>
          <a:noFill/>
          <a:ln/>
        </p:spPr>
        <p:txBody>
          <a:bodyPr wrap="square" lIns="0" tIns="0" rIns="0" bIns="0" rtlCol="0" anchor="ctr"/>
          <a:lstStyle/>
          <a:p>
            <a:pPr indent="0" marL="0">
              <a:buNone/>
            </a:pPr>
            <a:r>
              <a:rPr lang="en-US" sz="7200" b="1" spc="-200" kern="0" dirty="0">
                <a:solidFill>
                  <a:srgbClr val="F2E3D5"/>
                </a:solidFill>
                <a:latin typeface="Arial" pitchFamily="34" charset="0"/>
                <a:ea typeface="Arial" pitchFamily="34" charset="-122"/>
                <a:cs typeface="Arial" pitchFamily="34" charset="-120"/>
              </a:rPr>
              <a:t>CONTROL</a:t>
            </a:r>
            <a:pPr indent="0" marL="0">
              <a:buNone/>
            </a:pPr>
            <a:r>
              <a:rPr lang="en-US" sz="7200" b="1" spc="-200" kern="0" dirty="0">
                <a:solidFill>
                  <a:srgbClr val="D9482A"/>
                </a:solidFill>
                <a:latin typeface="Arial" pitchFamily="34" charset="0"/>
                <a:ea typeface="Arial" pitchFamily="34" charset="-122"/>
                <a:cs typeface="Arial" pitchFamily="34" charset="-120"/>
              </a:rPr>
              <a:t>PLANE</a:t>
            </a:r>
            <a:pPr indent="0" marL="0">
              <a:buNone/>
            </a:pPr>
            <a:r>
              <a:rPr lang="en-US" sz="7200" b="1" spc="-200" kern="0" dirty="0">
                <a:solidFill>
                  <a:srgbClr val="F2E3D5"/>
                </a:solidFill>
                <a:latin typeface="Arial" pitchFamily="34" charset="0"/>
                <a:ea typeface="Arial" pitchFamily="34" charset="-122"/>
                <a:cs typeface="Arial" pitchFamily="34" charset="-120"/>
              </a:rPr>
              <a:t>.AI</a:t>
            </a:r>
            <a:endParaRPr lang="en-US" sz="7200" dirty="0"/>
          </a:p>
        </p:txBody>
      </p:sp>
      <p:sp>
        <p:nvSpPr>
          <p:cNvPr id="13" name="Text 10"/>
          <p:cNvSpPr/>
          <p:nvPr/>
        </p:nvSpPr>
        <p:spPr>
          <a:xfrm>
            <a:off x="950976" y="3218688"/>
            <a:ext cx="8778240" cy="438912"/>
          </a:xfrm>
          <a:prstGeom prst="rect">
            <a:avLst/>
          </a:prstGeom>
          <a:noFill/>
          <a:ln/>
        </p:spPr>
        <p:txBody>
          <a:bodyPr wrap="square" lIns="0" tIns="0" rIns="0" bIns="0" rtlCol="0" anchor="ctr"/>
          <a:lstStyle/>
          <a:p>
            <a:pPr indent="0" marL="0">
              <a:buNone/>
            </a:pPr>
            <a:r>
              <a:rPr lang="en-US" sz="2400" dirty="0">
                <a:solidFill>
                  <a:srgbClr val="C9B5A3"/>
                </a:solidFill>
                <a:latin typeface="Arial" pitchFamily="34" charset="0"/>
                <a:ea typeface="Arial" pitchFamily="34" charset="-122"/>
                <a:cs typeface="Arial" pitchFamily="34" charset="-120"/>
              </a:rPr>
              <a:t>Admission-control layer for AI that acts</a:t>
            </a:r>
            <a:endParaRPr lang="en-US" sz="2400" dirty="0"/>
          </a:p>
        </p:txBody>
      </p:sp>
      <p:sp>
        <p:nvSpPr>
          <p:cNvPr id="14" name="Text 11"/>
          <p:cNvSpPr/>
          <p:nvPr/>
        </p:nvSpPr>
        <p:spPr>
          <a:xfrm>
            <a:off x="950976" y="3730752"/>
            <a:ext cx="8778240" cy="384048"/>
          </a:xfrm>
          <a:prstGeom prst="rect">
            <a:avLst/>
          </a:prstGeom>
          <a:noFill/>
          <a:ln/>
        </p:spPr>
        <p:txBody>
          <a:bodyPr wrap="square" lIns="0" tIns="0" rIns="0" bIns="0" rtlCol="0" anchor="ctr"/>
          <a:lstStyle/>
          <a:p>
            <a:pPr indent="0" marL="0">
              <a:buNone/>
            </a:pPr>
            <a:r>
              <a:rPr lang="en-US" sz="1800" dirty="0">
                <a:solidFill>
                  <a:srgbClr val="7A5D4E"/>
                </a:solidFill>
                <a:latin typeface="Arial" pitchFamily="34" charset="0"/>
                <a:ea typeface="Arial" pitchFamily="34" charset="-122"/>
                <a:cs typeface="Arial" pitchFamily="34" charset="-120"/>
              </a:rPr>
              <a:t>We authorise the action. We do not score the paragraph.</a:t>
            </a:r>
            <a:endParaRPr lang="en-US" sz="1800" dirty="0"/>
          </a:p>
        </p:txBody>
      </p:sp>
      <p:sp>
        <p:nvSpPr>
          <p:cNvPr id="15" name="Shape 12"/>
          <p:cNvSpPr/>
          <p:nvPr/>
        </p:nvSpPr>
        <p:spPr>
          <a:xfrm>
            <a:off x="950976" y="4370832"/>
            <a:ext cx="2331720" cy="384048"/>
          </a:xfrm>
          <a:prstGeom prst="rect">
            <a:avLst/>
          </a:prstGeom>
          <a:ln w="8636">
            <a:solidFill>
              <a:srgbClr val="D9482A"/>
            </a:solidFill>
            <a:prstDash val="solid"/>
          </a:ln>
        </p:spPr>
      </p:sp>
      <p:sp>
        <p:nvSpPr>
          <p:cNvPr id="16" name="Text 13"/>
          <p:cNvSpPr/>
          <p:nvPr/>
        </p:nvSpPr>
        <p:spPr>
          <a:xfrm>
            <a:off x="1078992" y="4425696"/>
            <a:ext cx="2112264" cy="292608"/>
          </a:xfrm>
          <a:prstGeom prst="rect">
            <a:avLst/>
          </a:prstGeom>
          <a:noFill/>
          <a:ln/>
        </p:spPr>
        <p:txBody>
          <a:bodyPr wrap="square" lIns="0" tIns="0" rIns="0" bIns="0" rtlCol="0" anchor="ctr"/>
          <a:lstStyle/>
          <a:p>
            <a:pPr indent="0" marL="0">
              <a:buNone/>
            </a:pPr>
            <a:r>
              <a:rPr lang="en-US" sz="1400" spc="120" kern="0" dirty="0">
                <a:solidFill>
                  <a:srgbClr val="D9482A"/>
                </a:solidFill>
                <a:latin typeface="Arial" pitchFamily="34" charset="0"/>
                <a:ea typeface="Arial" pitchFamily="34" charset="-122"/>
                <a:cs typeface="Arial" pitchFamily="34" charset="-120"/>
              </a:rPr>
              <a:t>◉  PS #1</a:t>
            </a:r>
            <a:endParaRPr lang="en-US" sz="1400" dirty="0"/>
          </a:p>
        </p:txBody>
      </p:sp>
      <p:sp>
        <p:nvSpPr>
          <p:cNvPr id="17" name="Shape 14"/>
          <p:cNvSpPr/>
          <p:nvPr/>
        </p:nvSpPr>
        <p:spPr>
          <a:xfrm>
            <a:off x="3429000" y="4370832"/>
            <a:ext cx="2880360" cy="384048"/>
          </a:xfrm>
          <a:prstGeom prst="rect">
            <a:avLst/>
          </a:prstGeom>
          <a:ln w="8636">
            <a:solidFill>
              <a:srgbClr val="3A1E16"/>
            </a:solidFill>
            <a:prstDash val="solid"/>
          </a:ln>
        </p:spPr>
      </p:sp>
      <p:sp>
        <p:nvSpPr>
          <p:cNvPr id="18" name="Text 15"/>
          <p:cNvSpPr/>
          <p:nvPr/>
        </p:nvSpPr>
        <p:spPr>
          <a:xfrm>
            <a:off x="3557016" y="4425696"/>
            <a:ext cx="2660904" cy="292608"/>
          </a:xfrm>
          <a:prstGeom prst="rect">
            <a:avLst/>
          </a:prstGeom>
          <a:noFill/>
          <a:ln/>
        </p:spPr>
        <p:txBody>
          <a:bodyPr wrap="square" lIns="0" tIns="0" rIns="0" bIns="0" rtlCol="0" anchor="ctr"/>
          <a:lstStyle/>
          <a:p>
            <a:pPr indent="0" marL="0">
              <a:buNone/>
            </a:pPr>
            <a:r>
              <a:rPr lang="en-US" sz="1400" spc="120" kern="0" dirty="0">
                <a:solidFill>
                  <a:srgbClr val="C9B5A3"/>
                </a:solidFill>
                <a:latin typeface="Arial" pitchFamily="34" charset="0"/>
                <a:ea typeface="Arial" pitchFamily="34" charset="-122"/>
                <a:cs typeface="Arial" pitchFamily="34" charset="-120"/>
              </a:rPr>
              <a:t>IIT GANDHINAGAR</a:t>
            </a:r>
            <a:endParaRPr lang="en-US" sz="1400" dirty="0"/>
          </a:p>
        </p:txBody>
      </p:sp>
      <p:sp>
        <p:nvSpPr>
          <p:cNvPr id="19" name="Shape 16"/>
          <p:cNvSpPr/>
          <p:nvPr/>
        </p:nvSpPr>
        <p:spPr>
          <a:xfrm>
            <a:off x="6455664" y="4370832"/>
            <a:ext cx="3246120" cy="384048"/>
          </a:xfrm>
          <a:prstGeom prst="rect">
            <a:avLst/>
          </a:prstGeom>
          <a:ln w="8636">
            <a:solidFill>
              <a:srgbClr val="3A1E16"/>
            </a:solidFill>
            <a:prstDash val="solid"/>
          </a:ln>
        </p:spPr>
      </p:sp>
      <p:sp>
        <p:nvSpPr>
          <p:cNvPr id="20" name="Text 17"/>
          <p:cNvSpPr/>
          <p:nvPr/>
        </p:nvSpPr>
        <p:spPr>
          <a:xfrm>
            <a:off x="6583680" y="4425696"/>
            <a:ext cx="3026664" cy="292608"/>
          </a:xfrm>
          <a:prstGeom prst="rect">
            <a:avLst/>
          </a:prstGeom>
          <a:noFill/>
          <a:ln/>
        </p:spPr>
        <p:txBody>
          <a:bodyPr wrap="square" lIns="0" tIns="0" rIns="0" bIns="0" rtlCol="0" anchor="ctr"/>
          <a:lstStyle/>
          <a:p>
            <a:pPr indent="0" marL="0">
              <a:buNone/>
            </a:pPr>
            <a:r>
              <a:rPr lang="en-US" sz="1400" spc="120" kern="0" dirty="0">
                <a:solidFill>
                  <a:srgbClr val="C9B5A3"/>
                </a:solidFill>
                <a:latin typeface="Arial" pitchFamily="34" charset="0"/>
                <a:ea typeface="Arial" pitchFamily="34" charset="-122"/>
                <a:cs typeface="Arial" pitchFamily="34" charset="-120"/>
              </a:rPr>
              <a:t>TEAM CONTROLPLANE</a:t>
            </a:r>
            <a:endParaRPr lang="en-US" sz="1400" dirty="0"/>
          </a:p>
        </p:txBody>
      </p:sp>
      <p:sp>
        <p:nvSpPr>
          <p:cNvPr id="21" name="Text 18"/>
          <p:cNvSpPr/>
          <p:nvPr/>
        </p:nvSpPr>
        <p:spPr>
          <a:xfrm>
            <a:off x="950976" y="8732520"/>
            <a:ext cx="8778240" cy="292608"/>
          </a:xfrm>
          <a:prstGeom prst="rect">
            <a:avLst/>
          </a:prstGeom>
          <a:noFill/>
          <a:ln/>
        </p:spPr>
        <p:txBody>
          <a:bodyPr wrap="square" lIns="0" tIns="0" rIns="0" bIns="0" rtlCol="0" anchor="ctr"/>
          <a:lstStyle/>
          <a:p>
            <a:pPr indent="0" marL="0">
              <a:buNone/>
            </a:pPr>
            <a:r>
              <a:rPr lang="en-US" sz="1600" spc="150" kern="0" dirty="0">
                <a:solidFill>
                  <a:srgbClr val="F2E3D5"/>
                </a:solidFill>
                <a:latin typeface="Arial" pitchFamily="34" charset="0"/>
                <a:ea typeface="Arial" pitchFamily="34" charset="-122"/>
                <a:cs typeface="Arial" pitchFamily="34" charset="-120"/>
              </a:rPr>
              <a:t>CHODA SRUJAN SAI  ·  DHRITHIKA</a:t>
            </a:r>
            <a:endParaRPr lang="en-US" sz="1600" dirty="0"/>
          </a:p>
        </p:txBody>
      </p:sp>
      <p:sp>
        <p:nvSpPr>
          <p:cNvPr id="22" name="Text 19"/>
          <p:cNvSpPr/>
          <p:nvPr/>
        </p:nvSpPr>
        <p:spPr>
          <a:xfrm>
            <a:off x="950976" y="9052560"/>
            <a:ext cx="8778240" cy="256032"/>
          </a:xfrm>
          <a:prstGeom prst="rect">
            <a:avLst/>
          </a:prstGeom>
          <a:noFill/>
          <a:ln/>
        </p:spPr>
        <p:txBody>
          <a:bodyPr wrap="square" lIns="0" tIns="0" rIns="0" bIns="0" rtlCol="0" anchor="ctr"/>
          <a:lstStyle/>
          <a:p>
            <a:pPr indent="0" marL="0">
              <a:buNone/>
            </a:pPr>
            <a:r>
              <a:rPr lang="en-US" sz="1400" spc="120" kern="0" dirty="0">
                <a:solidFill>
                  <a:srgbClr val="7A5D4E"/>
                </a:solidFill>
                <a:latin typeface="Arial" pitchFamily="34" charset="0"/>
                <a:ea typeface="Arial" pitchFamily="34" charset="-122"/>
                <a:cs typeface="Arial" pitchFamily="34" charset="-120"/>
              </a:rPr>
              <a:t>IIT GANDHINAGAR  ·  PROBLEM STATEMENT #1</a:t>
            </a:r>
            <a:endParaRPr lang="en-US" sz="1400" dirty="0"/>
          </a:p>
        </p:txBody>
      </p:sp>
      <p:sp>
        <p:nvSpPr>
          <p:cNvPr id="23" name="Shape 20"/>
          <p:cNvSpPr/>
          <p:nvPr/>
        </p:nvSpPr>
        <p:spPr>
          <a:xfrm>
            <a:off x="10241280" y="1554480"/>
            <a:ext cx="7095744" cy="7498080"/>
          </a:xfrm>
          <a:prstGeom prst="rect">
            <a:avLst/>
          </a:prstGeom>
          <a:solidFill>
            <a:srgbClr val="1A0D0A"/>
          </a:solidFill>
          <a:ln w="8636">
            <a:solidFill>
              <a:srgbClr val="5A2E20"/>
            </a:solidFill>
            <a:prstDash val="solid"/>
          </a:ln>
        </p:spPr>
      </p:sp>
      <p:sp>
        <p:nvSpPr>
          <p:cNvPr id="24" name="Shape 21"/>
          <p:cNvSpPr/>
          <p:nvPr/>
        </p:nvSpPr>
        <p:spPr>
          <a:xfrm>
            <a:off x="10250424" y="1993392"/>
            <a:ext cx="7077456" cy="9144"/>
          </a:xfrm>
          <a:prstGeom prst="rect">
            <a:avLst/>
          </a:prstGeom>
          <a:solidFill>
            <a:srgbClr val="3A1E16"/>
          </a:solidFill>
          <a:ln/>
        </p:spPr>
      </p:sp>
      <p:sp>
        <p:nvSpPr>
          <p:cNvPr id="25" name="Text 22"/>
          <p:cNvSpPr/>
          <p:nvPr/>
        </p:nvSpPr>
        <p:spPr>
          <a:xfrm>
            <a:off x="10405872" y="1627632"/>
            <a:ext cx="3630534"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PRIMITIVE // ONE GRAPH</a:t>
            </a:r>
            <a:endParaRPr lang="en-US" sz="1300" dirty="0"/>
          </a:p>
        </p:txBody>
      </p:sp>
      <p:sp>
        <p:nvSpPr>
          <p:cNvPr id="26" name="Text 23"/>
          <p:cNvSpPr/>
          <p:nvPr/>
        </p:nvSpPr>
        <p:spPr>
          <a:xfrm>
            <a:off x="14356812" y="1627632"/>
            <a:ext cx="2797332"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LANE 1</a:t>
            </a:r>
            <a:endParaRPr lang="en-US" sz="1300" dirty="0"/>
          </a:p>
        </p:txBody>
      </p:sp>
      <p:sp>
        <p:nvSpPr>
          <p:cNvPr id="27" name="Text 24"/>
          <p:cNvSpPr/>
          <p:nvPr/>
        </p:nvSpPr>
        <p:spPr>
          <a:xfrm>
            <a:off x="10533888" y="2359152"/>
            <a:ext cx="1417320" cy="438912"/>
          </a:xfrm>
          <a:prstGeom prst="rect">
            <a:avLst/>
          </a:prstGeom>
          <a:noFill/>
          <a:ln/>
        </p:spPr>
        <p:txBody>
          <a:bodyPr wrap="square" lIns="0" tIns="0" rIns="0" bIns="0" rtlCol="0" anchor="ctr"/>
          <a:lstStyle/>
          <a:p>
            <a:pPr indent="0" marL="0">
              <a:buNone/>
            </a:pPr>
            <a:r>
              <a:rPr lang="en-US" sz="1500" b="1" dirty="0">
                <a:solidFill>
                  <a:srgbClr val="F2E3D5"/>
                </a:solidFill>
                <a:latin typeface="Courier New" pitchFamily="34" charset="0"/>
                <a:ea typeface="Courier New" pitchFamily="34" charset="-122"/>
                <a:cs typeface="Courier New" pitchFamily="34" charset="-120"/>
              </a:rPr>
              <a:t>STEP</a:t>
            </a:r>
            <a:endParaRPr lang="en-US" sz="1500" dirty="0"/>
          </a:p>
        </p:txBody>
      </p:sp>
      <p:sp>
        <p:nvSpPr>
          <p:cNvPr id="28" name="Text 25"/>
          <p:cNvSpPr/>
          <p:nvPr/>
        </p:nvSpPr>
        <p:spPr>
          <a:xfrm>
            <a:off x="11978640" y="2359152"/>
            <a:ext cx="2651760" cy="438912"/>
          </a:xfrm>
          <a:prstGeom prst="rect">
            <a:avLst/>
          </a:prstGeom>
          <a:noFill/>
          <a:ln/>
        </p:spPr>
        <p:txBody>
          <a:bodyPr wrap="square" lIns="0" tIns="0" rIns="0" bIns="0" rtlCol="0" anchor="ctr"/>
          <a:lstStyle/>
          <a:p>
            <a:pPr algn="ctr" indent="0" marL="0">
              <a:buNone/>
            </a:pPr>
            <a:r>
              <a:rPr lang="en-US" sz="1300" dirty="0">
                <a:solidFill>
                  <a:srgbClr val="D9482A"/>
                </a:solidFill>
                <a:latin typeface="Arial" pitchFamily="34" charset="0"/>
                <a:ea typeface="Arial" pitchFamily="34" charset="-122"/>
                <a:cs typeface="Arial" pitchFamily="34" charset="-120"/>
              </a:rPr>
              <a:t>→  produces  →</a:t>
            </a:r>
            <a:endParaRPr lang="en-US" sz="1300" dirty="0"/>
          </a:p>
        </p:txBody>
      </p:sp>
      <p:sp>
        <p:nvSpPr>
          <p:cNvPr id="29" name="Text 26"/>
          <p:cNvSpPr/>
          <p:nvPr/>
        </p:nvSpPr>
        <p:spPr>
          <a:xfrm>
            <a:off x="14676120" y="2359152"/>
            <a:ext cx="1920240" cy="438912"/>
          </a:xfrm>
          <a:prstGeom prst="rect">
            <a:avLst/>
          </a:prstGeom>
          <a:noFill/>
          <a:ln/>
        </p:spPr>
        <p:txBody>
          <a:bodyPr wrap="square" lIns="0" tIns="0" rIns="0" bIns="0" rtlCol="0" anchor="ctr"/>
          <a:lstStyle/>
          <a:p>
            <a:pPr indent="0" marL="0">
              <a:buNone/>
            </a:pPr>
            <a:r>
              <a:rPr lang="en-US" sz="1500" b="1" dirty="0">
                <a:solidFill>
                  <a:srgbClr val="F2C572"/>
                </a:solidFill>
                <a:latin typeface="Courier New" pitchFamily="34" charset="0"/>
                <a:ea typeface="Courier New" pitchFamily="34" charset="-122"/>
                <a:cs typeface="Courier New" pitchFamily="34" charset="-120"/>
              </a:rPr>
              <a:t>SPAN</a:t>
            </a:r>
            <a:endParaRPr lang="en-US" sz="1500" dirty="0"/>
          </a:p>
        </p:txBody>
      </p:sp>
      <p:sp>
        <p:nvSpPr>
          <p:cNvPr id="30" name="Text 27"/>
          <p:cNvSpPr/>
          <p:nvPr/>
        </p:nvSpPr>
        <p:spPr>
          <a:xfrm>
            <a:off x="10533888" y="2926080"/>
            <a:ext cx="1417320" cy="438912"/>
          </a:xfrm>
          <a:prstGeom prst="rect">
            <a:avLst/>
          </a:prstGeom>
          <a:noFill/>
          <a:ln/>
        </p:spPr>
        <p:txBody>
          <a:bodyPr wrap="square" lIns="0" tIns="0" rIns="0" bIns="0" rtlCol="0" anchor="ctr"/>
          <a:lstStyle/>
          <a:p>
            <a:pPr indent="0" marL="0">
              <a:buNone/>
            </a:pPr>
            <a:r>
              <a:rPr lang="en-US" sz="1500" b="1" dirty="0">
                <a:solidFill>
                  <a:srgbClr val="F2E3D5"/>
                </a:solidFill>
                <a:latin typeface="Courier New" pitchFamily="34" charset="0"/>
                <a:ea typeface="Courier New" pitchFamily="34" charset="-122"/>
                <a:cs typeface="Courier New" pitchFamily="34" charset="-120"/>
              </a:rPr>
              <a:t>SPAN</a:t>
            </a:r>
            <a:endParaRPr lang="en-US" sz="1500" dirty="0"/>
          </a:p>
        </p:txBody>
      </p:sp>
      <p:sp>
        <p:nvSpPr>
          <p:cNvPr id="31" name="Text 28"/>
          <p:cNvSpPr/>
          <p:nvPr/>
        </p:nvSpPr>
        <p:spPr>
          <a:xfrm>
            <a:off x="11978640" y="2926080"/>
            <a:ext cx="2651760" cy="438912"/>
          </a:xfrm>
          <a:prstGeom prst="rect">
            <a:avLst/>
          </a:prstGeom>
          <a:noFill/>
          <a:ln/>
        </p:spPr>
        <p:txBody>
          <a:bodyPr wrap="square" lIns="0" tIns="0" rIns="0" bIns="0" rtlCol="0" anchor="ctr"/>
          <a:lstStyle/>
          <a:p>
            <a:pPr algn="ctr" indent="0" marL="0">
              <a:buNone/>
            </a:pPr>
            <a:r>
              <a:rPr lang="en-US" sz="1300" dirty="0">
                <a:solidFill>
                  <a:srgbClr val="D9482A"/>
                </a:solidFill>
                <a:latin typeface="Arial" pitchFamily="34" charset="0"/>
                <a:ea typeface="Arial" pitchFamily="34" charset="-122"/>
                <a:cs typeface="Arial" pitchFamily="34" charset="-120"/>
              </a:rPr>
              <a:t>→  binds  →</a:t>
            </a:r>
            <a:endParaRPr lang="en-US" sz="1300" dirty="0"/>
          </a:p>
        </p:txBody>
      </p:sp>
      <p:sp>
        <p:nvSpPr>
          <p:cNvPr id="32" name="Text 29"/>
          <p:cNvSpPr/>
          <p:nvPr/>
        </p:nvSpPr>
        <p:spPr>
          <a:xfrm>
            <a:off x="14676120" y="2926080"/>
            <a:ext cx="1920240" cy="438912"/>
          </a:xfrm>
          <a:prstGeom prst="rect">
            <a:avLst/>
          </a:prstGeom>
          <a:noFill/>
          <a:ln/>
        </p:spPr>
        <p:txBody>
          <a:bodyPr wrap="square" lIns="0" tIns="0" rIns="0" bIns="0" rtlCol="0" anchor="ctr"/>
          <a:lstStyle/>
          <a:p>
            <a:pPr indent="0" marL="0">
              <a:buNone/>
            </a:pPr>
            <a:r>
              <a:rPr lang="en-US" sz="1500" b="1" dirty="0">
                <a:solidFill>
                  <a:srgbClr val="F2C572"/>
                </a:solidFill>
                <a:latin typeface="Courier New" pitchFamily="34" charset="0"/>
                <a:ea typeface="Courier New" pitchFamily="34" charset="-122"/>
                <a:cs typeface="Courier New" pitchFamily="34" charset="-120"/>
              </a:rPr>
              <a:t>CLAIM</a:t>
            </a:r>
            <a:endParaRPr lang="en-US" sz="1500" dirty="0"/>
          </a:p>
        </p:txBody>
      </p:sp>
      <p:sp>
        <p:nvSpPr>
          <p:cNvPr id="33" name="Text 30"/>
          <p:cNvSpPr/>
          <p:nvPr/>
        </p:nvSpPr>
        <p:spPr>
          <a:xfrm>
            <a:off x="10533888" y="3493008"/>
            <a:ext cx="1417320" cy="438912"/>
          </a:xfrm>
          <a:prstGeom prst="rect">
            <a:avLst/>
          </a:prstGeom>
          <a:noFill/>
          <a:ln/>
        </p:spPr>
        <p:txBody>
          <a:bodyPr wrap="square" lIns="0" tIns="0" rIns="0" bIns="0" rtlCol="0" anchor="ctr"/>
          <a:lstStyle/>
          <a:p>
            <a:pPr indent="0" marL="0">
              <a:buNone/>
            </a:pPr>
            <a:r>
              <a:rPr lang="en-US" sz="1500" b="1" dirty="0">
                <a:solidFill>
                  <a:srgbClr val="F2E3D5"/>
                </a:solidFill>
                <a:latin typeface="Courier New" pitchFamily="34" charset="0"/>
                <a:ea typeface="Courier New" pitchFamily="34" charset="-122"/>
                <a:cs typeface="Courier New" pitchFamily="34" charset="-120"/>
              </a:rPr>
              <a:t>CLAIM</a:t>
            </a:r>
            <a:endParaRPr lang="en-US" sz="1500" dirty="0"/>
          </a:p>
        </p:txBody>
      </p:sp>
      <p:sp>
        <p:nvSpPr>
          <p:cNvPr id="34" name="Text 31"/>
          <p:cNvSpPr/>
          <p:nvPr/>
        </p:nvSpPr>
        <p:spPr>
          <a:xfrm>
            <a:off x="11978640" y="3493008"/>
            <a:ext cx="2651760" cy="438912"/>
          </a:xfrm>
          <a:prstGeom prst="rect">
            <a:avLst/>
          </a:prstGeom>
          <a:noFill/>
          <a:ln/>
        </p:spPr>
        <p:txBody>
          <a:bodyPr wrap="square" lIns="0" tIns="0" rIns="0" bIns="0" rtlCol="0" anchor="ctr"/>
          <a:lstStyle/>
          <a:p>
            <a:pPr algn="ctr" indent="0" marL="0">
              <a:buNone/>
            </a:pPr>
            <a:r>
              <a:rPr lang="en-US" sz="1300" dirty="0">
                <a:solidFill>
                  <a:srgbClr val="D9482A"/>
                </a:solidFill>
                <a:latin typeface="Arial" pitchFamily="34" charset="0"/>
                <a:ea typeface="Arial" pitchFamily="34" charset="-122"/>
                <a:cs typeface="Arial" pitchFamily="34" charset="-120"/>
              </a:rPr>
              <a:t>→  authorizes  →</a:t>
            </a:r>
            <a:endParaRPr lang="en-US" sz="1300" dirty="0"/>
          </a:p>
        </p:txBody>
      </p:sp>
      <p:sp>
        <p:nvSpPr>
          <p:cNvPr id="35" name="Text 32"/>
          <p:cNvSpPr/>
          <p:nvPr/>
        </p:nvSpPr>
        <p:spPr>
          <a:xfrm>
            <a:off x="14676120" y="3493008"/>
            <a:ext cx="1920240" cy="438912"/>
          </a:xfrm>
          <a:prstGeom prst="rect">
            <a:avLst/>
          </a:prstGeom>
          <a:noFill/>
          <a:ln/>
        </p:spPr>
        <p:txBody>
          <a:bodyPr wrap="square" lIns="0" tIns="0" rIns="0" bIns="0" rtlCol="0" anchor="ctr"/>
          <a:lstStyle/>
          <a:p>
            <a:pPr indent="0" marL="0">
              <a:buNone/>
            </a:pPr>
            <a:r>
              <a:rPr lang="en-US" sz="1500" b="1" dirty="0">
                <a:solidFill>
                  <a:srgbClr val="F2C572"/>
                </a:solidFill>
                <a:latin typeface="Courier New" pitchFamily="34" charset="0"/>
                <a:ea typeface="Courier New" pitchFamily="34" charset="-122"/>
                <a:cs typeface="Courier New" pitchFamily="34" charset="-120"/>
              </a:rPr>
              <a:t>ACTION</a:t>
            </a:r>
            <a:endParaRPr lang="en-US" sz="1500" dirty="0"/>
          </a:p>
        </p:txBody>
      </p:sp>
      <p:sp>
        <p:nvSpPr>
          <p:cNvPr id="36" name="Text 33"/>
          <p:cNvSpPr/>
          <p:nvPr/>
        </p:nvSpPr>
        <p:spPr>
          <a:xfrm>
            <a:off x="10497312" y="4434840"/>
            <a:ext cx="6583680" cy="292608"/>
          </a:xfrm>
          <a:prstGeom prst="rect">
            <a:avLst/>
          </a:prstGeom>
          <a:noFill/>
          <a:ln/>
        </p:spPr>
        <p:txBody>
          <a:bodyPr wrap="square" lIns="0" tIns="0" rIns="0" bIns="0" rtlCol="0" anchor="ctr"/>
          <a:lstStyle/>
          <a:p>
            <a:pPr indent="0" marL="0">
              <a:buNone/>
            </a:pPr>
            <a:r>
              <a:rPr lang="en-US" sz="1400" spc="180" kern="0" dirty="0">
                <a:solidFill>
                  <a:srgbClr val="F2C572"/>
                </a:solidFill>
                <a:latin typeface="Arial" pitchFamily="34" charset="0"/>
                <a:ea typeface="Arial" pitchFamily="34" charset="-122"/>
                <a:cs typeface="Arial" pitchFamily="34" charset="-120"/>
              </a:rPr>
              <a:t>FOUR NODES. THREE READS.</a:t>
            </a:r>
            <a:endParaRPr lang="en-US" sz="1400" dirty="0"/>
          </a:p>
        </p:txBody>
      </p:sp>
      <p:sp>
        <p:nvSpPr>
          <p:cNvPr id="37" name="Text 34"/>
          <p:cNvSpPr/>
          <p:nvPr/>
        </p:nvSpPr>
        <p:spPr>
          <a:xfrm>
            <a:off x="10497312" y="4892040"/>
            <a:ext cx="640080" cy="329184"/>
          </a:xfrm>
          <a:prstGeom prst="rect">
            <a:avLst/>
          </a:prstGeom>
          <a:noFill/>
          <a:ln/>
        </p:spPr>
        <p:txBody>
          <a:bodyPr wrap="square" lIns="0" tIns="0" rIns="0" bIns="0" rtlCol="0" anchor="ctr"/>
          <a:lstStyle/>
          <a:p>
            <a:pPr indent="0" marL="0">
              <a:buNone/>
            </a:pPr>
            <a:r>
              <a:rPr lang="en-US" sz="1600" b="1" dirty="0">
                <a:solidFill>
                  <a:srgbClr val="D9482A"/>
                </a:solidFill>
                <a:latin typeface="Arial" pitchFamily="34" charset="0"/>
                <a:ea typeface="Arial" pitchFamily="34" charset="-122"/>
                <a:cs typeface="Arial" pitchFamily="34" charset="-120"/>
              </a:rPr>
              <a:t>01</a:t>
            </a:r>
            <a:endParaRPr lang="en-US" sz="1600" dirty="0"/>
          </a:p>
        </p:txBody>
      </p:sp>
      <p:sp>
        <p:nvSpPr>
          <p:cNvPr id="38" name="Text 35"/>
          <p:cNvSpPr/>
          <p:nvPr/>
        </p:nvSpPr>
        <p:spPr>
          <a:xfrm>
            <a:off x="11173968" y="4892040"/>
            <a:ext cx="5394960" cy="292608"/>
          </a:xfrm>
          <a:prstGeom prst="rect">
            <a:avLst/>
          </a:prstGeom>
          <a:noFill/>
          <a:ln/>
        </p:spPr>
        <p:txBody>
          <a:bodyPr wrap="square" lIns="0" tIns="0" rIns="0" bIns="0" rtlCol="0" anchor="ctr"/>
          <a:lstStyle/>
          <a:p>
            <a:pPr indent="0" marL="0">
              <a:buNone/>
            </a:pPr>
            <a:r>
              <a:rPr lang="en-US" sz="1600" b="1" spc="120" kern="0" dirty="0">
                <a:solidFill>
                  <a:srgbClr val="F2E3D5"/>
                </a:solidFill>
                <a:latin typeface="Arial" pitchFamily="34" charset="0"/>
                <a:ea typeface="Arial" pitchFamily="34" charset="-122"/>
                <a:cs typeface="Arial" pitchFamily="34" charset="-120"/>
              </a:rPr>
              <a:t>PERFORMANCE</a:t>
            </a:r>
            <a:endParaRPr lang="en-US" sz="1600" dirty="0"/>
          </a:p>
        </p:txBody>
      </p:sp>
      <p:sp>
        <p:nvSpPr>
          <p:cNvPr id="39" name="Text 36"/>
          <p:cNvSpPr/>
          <p:nvPr/>
        </p:nvSpPr>
        <p:spPr>
          <a:xfrm>
            <a:off x="11173968" y="5202936"/>
            <a:ext cx="5394960" cy="329184"/>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Does each claim bind to a span?</a:t>
            </a:r>
            <a:endParaRPr lang="en-US" sz="1500" dirty="0"/>
          </a:p>
        </p:txBody>
      </p:sp>
      <p:sp>
        <p:nvSpPr>
          <p:cNvPr id="40" name="Text 37"/>
          <p:cNvSpPr/>
          <p:nvPr/>
        </p:nvSpPr>
        <p:spPr>
          <a:xfrm>
            <a:off x="10497312" y="5916168"/>
            <a:ext cx="640080" cy="329184"/>
          </a:xfrm>
          <a:prstGeom prst="rect">
            <a:avLst/>
          </a:prstGeom>
          <a:noFill/>
          <a:ln/>
        </p:spPr>
        <p:txBody>
          <a:bodyPr wrap="square" lIns="0" tIns="0" rIns="0" bIns="0" rtlCol="0" anchor="ctr"/>
          <a:lstStyle/>
          <a:p>
            <a:pPr indent="0" marL="0">
              <a:buNone/>
            </a:pPr>
            <a:r>
              <a:rPr lang="en-US" sz="1600" b="1" dirty="0">
                <a:solidFill>
                  <a:srgbClr val="D9482A"/>
                </a:solidFill>
                <a:latin typeface="Arial" pitchFamily="34" charset="0"/>
                <a:ea typeface="Arial" pitchFamily="34" charset="-122"/>
                <a:cs typeface="Arial" pitchFamily="34" charset="-120"/>
              </a:rPr>
              <a:t>02</a:t>
            </a:r>
            <a:endParaRPr lang="en-US" sz="1600" dirty="0"/>
          </a:p>
        </p:txBody>
      </p:sp>
      <p:sp>
        <p:nvSpPr>
          <p:cNvPr id="41" name="Text 38"/>
          <p:cNvSpPr/>
          <p:nvPr/>
        </p:nvSpPr>
        <p:spPr>
          <a:xfrm>
            <a:off x="11173968" y="5916168"/>
            <a:ext cx="5394960" cy="292608"/>
          </a:xfrm>
          <a:prstGeom prst="rect">
            <a:avLst/>
          </a:prstGeom>
          <a:noFill/>
          <a:ln/>
        </p:spPr>
        <p:txBody>
          <a:bodyPr wrap="square" lIns="0" tIns="0" rIns="0" bIns="0" rtlCol="0" anchor="ctr"/>
          <a:lstStyle/>
          <a:p>
            <a:pPr indent="0" marL="0">
              <a:buNone/>
            </a:pPr>
            <a:r>
              <a:rPr lang="en-US" sz="1600" b="1" spc="120" kern="0" dirty="0">
                <a:solidFill>
                  <a:srgbClr val="F2E3D5"/>
                </a:solidFill>
                <a:latin typeface="Arial" pitchFamily="34" charset="0"/>
                <a:ea typeface="Arial" pitchFamily="34" charset="-122"/>
                <a:cs typeface="Arial" pitchFamily="34" charset="-120"/>
              </a:rPr>
              <a:t>COST</a:t>
            </a:r>
            <a:endParaRPr lang="en-US" sz="1600" dirty="0"/>
          </a:p>
        </p:txBody>
      </p:sp>
      <p:sp>
        <p:nvSpPr>
          <p:cNvPr id="42" name="Text 39"/>
          <p:cNvSpPr/>
          <p:nvPr/>
        </p:nvSpPr>
        <p:spPr>
          <a:xfrm>
            <a:off x="11173968" y="6227064"/>
            <a:ext cx="5394960" cy="329184"/>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Did each step ground an accepted claim?</a:t>
            </a:r>
            <a:endParaRPr lang="en-US" sz="1500" dirty="0"/>
          </a:p>
        </p:txBody>
      </p:sp>
      <p:sp>
        <p:nvSpPr>
          <p:cNvPr id="43" name="Text 40"/>
          <p:cNvSpPr/>
          <p:nvPr/>
        </p:nvSpPr>
        <p:spPr>
          <a:xfrm>
            <a:off x="10497312" y="6940296"/>
            <a:ext cx="640080" cy="329184"/>
          </a:xfrm>
          <a:prstGeom prst="rect">
            <a:avLst/>
          </a:prstGeom>
          <a:noFill/>
          <a:ln/>
        </p:spPr>
        <p:txBody>
          <a:bodyPr wrap="square" lIns="0" tIns="0" rIns="0" bIns="0" rtlCol="0" anchor="ctr"/>
          <a:lstStyle/>
          <a:p>
            <a:pPr indent="0" marL="0">
              <a:buNone/>
            </a:pPr>
            <a:r>
              <a:rPr lang="en-US" sz="1600" b="1" dirty="0">
                <a:solidFill>
                  <a:srgbClr val="D9482A"/>
                </a:solidFill>
                <a:latin typeface="Arial" pitchFamily="34" charset="0"/>
                <a:ea typeface="Arial" pitchFamily="34" charset="-122"/>
                <a:cs typeface="Arial" pitchFamily="34" charset="-120"/>
              </a:rPr>
              <a:t>03</a:t>
            </a:r>
            <a:endParaRPr lang="en-US" sz="1600" dirty="0"/>
          </a:p>
        </p:txBody>
      </p:sp>
      <p:sp>
        <p:nvSpPr>
          <p:cNvPr id="44" name="Text 41"/>
          <p:cNvSpPr/>
          <p:nvPr/>
        </p:nvSpPr>
        <p:spPr>
          <a:xfrm>
            <a:off x="11173968" y="6940296"/>
            <a:ext cx="5394960" cy="292608"/>
          </a:xfrm>
          <a:prstGeom prst="rect">
            <a:avLst/>
          </a:prstGeom>
          <a:noFill/>
          <a:ln/>
        </p:spPr>
        <p:txBody>
          <a:bodyPr wrap="square" lIns="0" tIns="0" rIns="0" bIns="0" rtlCol="0" anchor="ctr"/>
          <a:lstStyle/>
          <a:p>
            <a:pPr indent="0" marL="0">
              <a:buNone/>
            </a:pPr>
            <a:r>
              <a:rPr lang="en-US" sz="1600" b="1" spc="120" kern="0" dirty="0">
                <a:solidFill>
                  <a:srgbClr val="F2E3D5"/>
                </a:solidFill>
                <a:latin typeface="Arial" pitchFamily="34" charset="0"/>
                <a:ea typeface="Arial" pitchFamily="34" charset="-122"/>
                <a:cs typeface="Arial" pitchFamily="34" charset="-120"/>
              </a:rPr>
              <a:t>RESPONSIBILITY</a:t>
            </a:r>
            <a:endParaRPr lang="en-US" sz="1600" dirty="0"/>
          </a:p>
        </p:txBody>
      </p:sp>
      <p:sp>
        <p:nvSpPr>
          <p:cNvPr id="45" name="Text 42"/>
          <p:cNvSpPr/>
          <p:nvPr/>
        </p:nvSpPr>
        <p:spPr>
          <a:xfrm>
            <a:off x="11173968" y="7251192"/>
            <a:ext cx="5394960" cy="329184"/>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Is the caller entitled to every bound span?</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01 // PROBLEM</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73152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01 · PROBLEM</a:t>
            </a:r>
            <a:endParaRPr lang="en-US" sz="1500" dirty="0"/>
          </a:p>
        </p:txBody>
      </p:sp>
      <p:sp>
        <p:nvSpPr>
          <p:cNvPr id="12" name="Text 9"/>
          <p:cNvSpPr/>
          <p:nvPr/>
        </p:nvSpPr>
        <p:spPr>
          <a:xfrm>
            <a:off x="950976" y="1243584"/>
            <a:ext cx="16367760" cy="713232"/>
          </a:xfrm>
          <a:prstGeom prst="rect">
            <a:avLst/>
          </a:prstGeom>
          <a:noFill/>
          <a:ln/>
        </p:spPr>
        <p:txBody>
          <a:bodyPr wrap="square" lIns="0" tIns="0" rIns="0" bIns="0" rtlCol="0" anchor="t"/>
          <a:lstStyle/>
          <a:p>
            <a:pPr algn="l" indent="0" marL="0">
              <a:buNone/>
            </a:pPr>
            <a:r>
              <a:rPr lang="en-US" sz="3600" b="1" spc="-75" kern="0" dirty="0">
                <a:solidFill>
                  <a:srgbClr val="F2E3D5"/>
                </a:solidFill>
                <a:latin typeface="Arial" pitchFamily="34" charset="0"/>
                <a:ea typeface="Arial" pitchFamily="34" charset="-122"/>
                <a:cs typeface="Arial" pitchFamily="34" charset="-120"/>
              </a:rPr>
              <a:t>IT USED TO BE A BAD </a:t>
            </a:r>
            <a:pPr algn="l" indent="0" marL="0">
              <a:buNone/>
            </a:pPr>
            <a:r>
              <a:rPr lang="en-US" sz="3600" b="1" spc="-75" kern="0" dirty="0">
                <a:solidFill>
                  <a:srgbClr val="D9482A"/>
                </a:solidFill>
                <a:latin typeface="Arial" pitchFamily="34" charset="0"/>
                <a:ea typeface="Arial" pitchFamily="34" charset="-122"/>
                <a:cs typeface="Arial" pitchFamily="34" charset="-120"/>
              </a:rPr>
              <a:t>PARAGRAPH</a:t>
            </a:r>
            <a:pPr algn="l" indent="0" marL="0">
              <a:buNone/>
            </a:pPr>
            <a:r>
              <a:rPr lang="en-US" sz="3600" b="1" spc="-75" kern="0" dirty="0">
                <a:solidFill>
                  <a:srgbClr val="F2E3D5"/>
                </a:solidFill>
                <a:latin typeface="Arial" pitchFamily="34" charset="0"/>
                <a:ea typeface="Arial" pitchFamily="34" charset="-122"/>
                <a:cs typeface="Arial" pitchFamily="34" charset="-120"/>
              </a:rPr>
              <a:t>.</a:t>
            </a:r>
            <a:endParaRPr lang="en-US" sz="3600" dirty="0"/>
          </a:p>
        </p:txBody>
      </p:sp>
      <p:sp>
        <p:nvSpPr>
          <p:cNvPr id="13" name="Text 10"/>
          <p:cNvSpPr/>
          <p:nvPr/>
        </p:nvSpPr>
        <p:spPr>
          <a:xfrm>
            <a:off x="950976" y="1956816"/>
            <a:ext cx="16367760" cy="365760"/>
          </a:xfrm>
          <a:prstGeom prst="rect">
            <a:avLst/>
          </a:prstGeom>
          <a:noFill/>
          <a:ln/>
        </p:spPr>
        <p:txBody>
          <a:bodyPr wrap="square" lIns="0" tIns="0" rIns="0" bIns="0" rtlCol="0" anchor="ctr"/>
          <a:lstStyle/>
          <a:p>
            <a:pPr indent="0" marL="0">
              <a:buNone/>
            </a:pPr>
            <a:r>
              <a:rPr lang="en-US" sz="2200" dirty="0">
                <a:solidFill>
                  <a:srgbClr val="C9B5A3"/>
                </a:solidFill>
                <a:latin typeface="Arial" pitchFamily="34" charset="0"/>
                <a:ea typeface="Arial" pitchFamily="34" charset="-122"/>
                <a:cs typeface="Arial" pitchFamily="34" charset="-120"/>
              </a:rPr>
              <a:t>It is now an executed transaction.</a:t>
            </a:r>
            <a:endParaRPr lang="en-US" sz="2200" dirty="0"/>
          </a:p>
        </p:txBody>
      </p:sp>
      <p:sp>
        <p:nvSpPr>
          <p:cNvPr id="14" name="Shape 11"/>
          <p:cNvSpPr/>
          <p:nvPr/>
        </p:nvSpPr>
        <p:spPr>
          <a:xfrm>
            <a:off x="950976" y="2450592"/>
            <a:ext cx="10195560" cy="5074920"/>
          </a:xfrm>
          <a:prstGeom prst="rect">
            <a:avLst/>
          </a:prstGeom>
          <a:solidFill>
            <a:srgbClr val="1A0D0A"/>
          </a:solidFill>
          <a:ln w="8636">
            <a:solidFill>
              <a:srgbClr val="5A2E20"/>
            </a:solidFill>
            <a:prstDash val="solid"/>
          </a:ln>
        </p:spPr>
      </p:sp>
      <p:sp>
        <p:nvSpPr>
          <p:cNvPr id="15" name="Shape 12"/>
          <p:cNvSpPr/>
          <p:nvPr/>
        </p:nvSpPr>
        <p:spPr>
          <a:xfrm>
            <a:off x="960120" y="2889504"/>
            <a:ext cx="10177272" cy="9144"/>
          </a:xfrm>
          <a:prstGeom prst="rect">
            <a:avLst/>
          </a:prstGeom>
          <a:solidFill>
            <a:srgbClr val="3A1E16"/>
          </a:solidFill>
          <a:ln/>
        </p:spPr>
      </p:sp>
      <p:sp>
        <p:nvSpPr>
          <p:cNvPr id="16" name="Text 13"/>
          <p:cNvSpPr/>
          <p:nvPr/>
        </p:nvSpPr>
        <p:spPr>
          <a:xfrm>
            <a:off x="1115568" y="2523744"/>
            <a:ext cx="5304434"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UNGATED OUTPUT</a:t>
            </a:r>
            <a:endParaRPr lang="en-US" sz="1300" dirty="0"/>
          </a:p>
        </p:txBody>
      </p:sp>
      <p:sp>
        <p:nvSpPr>
          <p:cNvPr id="17" name="Text 14"/>
          <p:cNvSpPr/>
          <p:nvPr/>
        </p:nvSpPr>
        <p:spPr>
          <a:xfrm>
            <a:off x="6864401" y="2523744"/>
            <a:ext cx="4099255"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CONF 0.94 · ALL FILTERS PASS</a:t>
            </a:r>
            <a:endParaRPr lang="en-US" sz="1300" dirty="0"/>
          </a:p>
        </p:txBody>
      </p:sp>
      <p:sp>
        <p:nvSpPr>
          <p:cNvPr id="18" name="Text 15"/>
          <p:cNvSpPr/>
          <p:nvPr/>
        </p:nvSpPr>
        <p:spPr>
          <a:xfrm>
            <a:off x="1261872" y="3108960"/>
            <a:ext cx="9555480" cy="1965960"/>
          </a:xfrm>
          <a:prstGeom prst="rect">
            <a:avLst/>
          </a:prstGeom>
          <a:noFill/>
          <a:ln/>
        </p:spPr>
        <p:txBody>
          <a:bodyPr wrap="square" lIns="0" tIns="0" rIns="0" bIns="0" rtlCol="0" anchor="ctr"/>
          <a:lstStyle/>
          <a:p>
            <a:pPr indent="0" marL="0">
              <a:buNone/>
            </a:pPr>
            <a:r>
              <a:rPr lang="en-US" sz="2800" i="1" dirty="0">
                <a:solidFill>
                  <a:srgbClr val="F2E3D5"/>
                </a:solidFill>
                <a:latin typeface="Arial" pitchFamily="34" charset="0"/>
                <a:ea typeface="Arial" pitchFamily="34" charset="-122"/>
                <a:cs typeface="Arial" pitchFamily="34" charset="-120"/>
              </a:rPr>
              <a:t>“Approved. Refund of ₹1,84,000 issued under clause 7.2 of the vendor agreement.”</a:t>
            </a:r>
            <a:endParaRPr lang="en-US" sz="2800" dirty="0"/>
          </a:p>
        </p:txBody>
      </p:sp>
      <p:sp>
        <p:nvSpPr>
          <p:cNvPr id="19" name="Shape 16"/>
          <p:cNvSpPr/>
          <p:nvPr/>
        </p:nvSpPr>
        <p:spPr>
          <a:xfrm>
            <a:off x="1261872" y="5212080"/>
            <a:ext cx="9555480" cy="9144"/>
          </a:xfrm>
          <a:prstGeom prst="rect">
            <a:avLst/>
          </a:prstGeom>
          <a:solidFill>
            <a:srgbClr val="3A1E16"/>
          </a:solidFill>
          <a:ln/>
        </p:spPr>
      </p:sp>
      <p:sp>
        <p:nvSpPr>
          <p:cNvPr id="20" name="Text 17"/>
          <p:cNvSpPr/>
          <p:nvPr/>
        </p:nvSpPr>
        <p:spPr>
          <a:xfrm>
            <a:off x="1261872" y="5394960"/>
            <a:ext cx="9555480" cy="365760"/>
          </a:xfrm>
          <a:prstGeom prst="rect">
            <a:avLst/>
          </a:prstGeom>
          <a:noFill/>
          <a:ln/>
        </p:spPr>
        <p:txBody>
          <a:bodyPr wrap="square" lIns="0" tIns="0" rIns="0" bIns="0" rtlCol="0" anchor="ctr"/>
          <a:lstStyle/>
          <a:p>
            <a:pPr indent="0" marL="0">
              <a:buNone/>
            </a:pPr>
            <a:r>
              <a:rPr lang="en-US" sz="1800" b="1" spc="140" kern="0" dirty="0">
                <a:solidFill>
                  <a:srgbClr val="F2C572"/>
                </a:solidFill>
                <a:latin typeface="Arial" pitchFamily="34" charset="0"/>
                <a:ea typeface="Arial" pitchFamily="34" charset="-122"/>
                <a:cs typeface="Arial" pitchFamily="34" charset="-120"/>
              </a:rPr>
              <a:t>MONEY MOVED TUESDAY.  FOUND FRIDAY.</a:t>
            </a:r>
            <a:endParaRPr lang="en-US" sz="1800" dirty="0"/>
          </a:p>
        </p:txBody>
      </p:sp>
      <p:sp>
        <p:nvSpPr>
          <p:cNvPr id="21" name="Text 18"/>
          <p:cNvSpPr/>
          <p:nvPr/>
        </p:nvSpPr>
        <p:spPr>
          <a:xfrm>
            <a:off x="1261872" y="5852160"/>
            <a:ext cx="9555480" cy="77724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Every filter passed it. Oversight scored the text. The payout had already cleared.</a:t>
            </a:r>
            <a:endParaRPr lang="en-US" sz="1600" dirty="0"/>
          </a:p>
        </p:txBody>
      </p:sp>
      <p:sp>
        <p:nvSpPr>
          <p:cNvPr id="22" name="Shape 19"/>
          <p:cNvSpPr/>
          <p:nvPr/>
        </p:nvSpPr>
        <p:spPr>
          <a:xfrm>
            <a:off x="11384280" y="2450592"/>
            <a:ext cx="5952744" cy="5074920"/>
          </a:xfrm>
          <a:prstGeom prst="rect">
            <a:avLst/>
          </a:prstGeom>
          <a:solidFill>
            <a:srgbClr val="1A0D0A"/>
          </a:solidFill>
          <a:ln w="13970">
            <a:solidFill>
              <a:srgbClr val="D9482A"/>
            </a:solidFill>
            <a:prstDash val="solid"/>
          </a:ln>
        </p:spPr>
      </p:sp>
      <p:sp>
        <p:nvSpPr>
          <p:cNvPr id="23" name="Shape 20"/>
          <p:cNvSpPr/>
          <p:nvPr/>
        </p:nvSpPr>
        <p:spPr>
          <a:xfrm>
            <a:off x="11384280" y="2450592"/>
            <a:ext cx="5952744" cy="41148"/>
          </a:xfrm>
          <a:prstGeom prst="rect">
            <a:avLst/>
          </a:prstGeom>
          <a:solidFill>
            <a:srgbClr val="D9482A"/>
          </a:solidFill>
          <a:ln/>
        </p:spPr>
      </p:sp>
      <p:sp>
        <p:nvSpPr>
          <p:cNvPr id="24" name="Text 21"/>
          <p:cNvSpPr/>
          <p:nvPr/>
        </p:nvSpPr>
        <p:spPr>
          <a:xfrm>
            <a:off x="11658600" y="2651760"/>
            <a:ext cx="5440680" cy="292608"/>
          </a:xfrm>
          <a:prstGeom prst="rect">
            <a:avLst/>
          </a:prstGeom>
          <a:noFill/>
          <a:ln/>
        </p:spPr>
        <p:txBody>
          <a:bodyPr wrap="square" lIns="0" tIns="0" rIns="0" bIns="0" rtlCol="0" anchor="ctr"/>
          <a:lstStyle/>
          <a:p>
            <a:pPr indent="0" marL="0">
              <a:buNone/>
            </a:pPr>
            <a:r>
              <a:rPr lang="en-US" sz="1400" spc="200" kern="0" dirty="0">
                <a:solidFill>
                  <a:srgbClr val="7A5D4E"/>
                </a:solidFill>
                <a:latin typeface="Arial" pitchFamily="34" charset="0"/>
                <a:ea typeface="Arial" pitchFamily="34" charset="-122"/>
                <a:cs typeface="Arial" pitchFamily="34" charset="-120"/>
              </a:rPr>
              <a:t>THE COMPANY PAID</a:t>
            </a:r>
            <a:endParaRPr lang="en-US" sz="1400" dirty="0"/>
          </a:p>
        </p:txBody>
      </p:sp>
      <p:sp>
        <p:nvSpPr>
          <p:cNvPr id="25" name="Text 22"/>
          <p:cNvSpPr/>
          <p:nvPr/>
        </p:nvSpPr>
        <p:spPr>
          <a:xfrm>
            <a:off x="11658600" y="2999232"/>
            <a:ext cx="5440680" cy="960120"/>
          </a:xfrm>
          <a:prstGeom prst="rect">
            <a:avLst/>
          </a:prstGeom>
          <a:noFill/>
          <a:ln/>
        </p:spPr>
        <p:txBody>
          <a:bodyPr wrap="square" lIns="0" tIns="0" rIns="0" bIns="0" rtlCol="0" anchor="ctr"/>
          <a:lstStyle/>
          <a:p>
            <a:pPr indent="0" marL="0">
              <a:buNone/>
            </a:pPr>
            <a:r>
              <a:rPr lang="en-US" sz="4800" b="1" dirty="0">
                <a:solidFill>
                  <a:srgbClr val="F2E3D5"/>
                </a:solidFill>
                <a:latin typeface="Arial" pitchFamily="34" charset="0"/>
                <a:ea typeface="Arial" pitchFamily="34" charset="-122"/>
                <a:cs typeface="Arial" pitchFamily="34" charset="-120"/>
              </a:rPr>
              <a:t>₹1,84,000</a:t>
            </a:r>
            <a:endParaRPr lang="en-US" sz="4800" dirty="0"/>
          </a:p>
        </p:txBody>
      </p:sp>
      <p:sp>
        <p:nvSpPr>
          <p:cNvPr id="26" name="Text 23"/>
          <p:cNvSpPr/>
          <p:nvPr/>
        </p:nvSpPr>
        <p:spPr>
          <a:xfrm>
            <a:off x="11658600" y="4041648"/>
            <a:ext cx="5440680" cy="640080"/>
          </a:xfrm>
          <a:prstGeom prst="rect">
            <a:avLst/>
          </a:prstGeom>
          <a:noFill/>
          <a:ln/>
        </p:spPr>
        <p:txBody>
          <a:bodyPr wrap="square" lIns="0" tIns="0" rIns="0" bIns="0" rtlCol="0" anchor="ctr"/>
          <a:lstStyle/>
          <a:p>
            <a:pPr indent="0" marL="0">
              <a:buNone/>
            </a:pPr>
            <a:r>
              <a:rPr lang="en-US" sz="2000" b="1" dirty="0">
                <a:solidFill>
                  <a:srgbClr val="D9482A"/>
                </a:solidFill>
                <a:latin typeface="Arial" pitchFamily="34" charset="0"/>
                <a:ea typeface="Arial" pitchFamily="34" charset="-122"/>
                <a:cs typeface="Arial" pitchFamily="34" charset="-120"/>
              </a:rPr>
              <a:t>CLAUSE 7.2 DOES NOT EXIST.</a:t>
            </a:r>
            <a:endParaRPr lang="en-US" sz="2000" dirty="0"/>
          </a:p>
        </p:txBody>
      </p:sp>
      <p:sp>
        <p:nvSpPr>
          <p:cNvPr id="27" name="Text 24"/>
          <p:cNvSpPr/>
          <p:nvPr/>
        </p:nvSpPr>
        <p:spPr>
          <a:xfrm>
            <a:off x="11658600" y="4754880"/>
            <a:ext cx="5440680" cy="123444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Not a cap. Not a denial. Not “doesn’t cover.” The clause is absent from the vendor agreement.</a:t>
            </a:r>
            <a:endParaRPr lang="en-US" sz="1600" dirty="0"/>
          </a:p>
        </p:txBody>
      </p:sp>
      <p:sp>
        <p:nvSpPr>
          <p:cNvPr id="28" name="Text 25"/>
          <p:cNvSpPr/>
          <p:nvPr/>
        </p:nvSpPr>
        <p:spPr>
          <a:xfrm>
            <a:off x="11658600" y="6080760"/>
            <a:ext cx="5440680" cy="960120"/>
          </a:xfrm>
          <a:prstGeom prst="rect">
            <a:avLst/>
          </a:prstGeom>
          <a:noFill/>
          <a:ln/>
        </p:spPr>
        <p:txBody>
          <a:bodyPr wrap="square" lIns="0" tIns="0" rIns="0" bIns="0" rtlCol="0" anchor="ctr"/>
          <a:lstStyle/>
          <a:p>
            <a:pPr indent="0" marL="0">
              <a:buNone/>
            </a:pPr>
            <a:r>
              <a:rPr lang="en-US" sz="1600" dirty="0">
                <a:solidFill>
                  <a:srgbClr val="F2E3D5"/>
                </a:solidFill>
                <a:latin typeface="Arial" pitchFamily="34" charset="0"/>
                <a:ea typeface="Arial" pitchFamily="34" charset="-122"/>
                <a:cs typeface="Arial" pitchFamily="34" charset="-120"/>
              </a:rPr>
              <a:t>The customer did not lose it.</a:t>
            </a:r>
            <a:endParaRPr lang="en-US" sz="1600" dirty="0"/>
          </a:p>
          <a:p>
            <a:pPr indent="0" marL="0">
              <a:buNone/>
            </a:pPr>
            <a:r>
              <a:rPr lang="en-US" sz="1600" dirty="0">
                <a:solidFill>
                  <a:srgbClr val="F2E3D5"/>
                </a:solidFill>
                <a:latin typeface="Arial" pitchFamily="34" charset="0"/>
                <a:ea typeface="Arial" pitchFamily="34" charset="-122"/>
                <a:cs typeface="Arial" pitchFamily="34" charset="-120"/>
              </a:rPr>
              <a:t>The company wrongly paid it.</a:t>
            </a:r>
            <a:endParaRPr lang="en-US" sz="1600" dirty="0"/>
          </a:p>
        </p:txBody>
      </p:sp>
      <p:sp>
        <p:nvSpPr>
          <p:cNvPr id="29" name="Shape 26"/>
          <p:cNvSpPr/>
          <p:nvPr/>
        </p:nvSpPr>
        <p:spPr>
          <a:xfrm>
            <a:off x="950976" y="7790688"/>
            <a:ext cx="16386048" cy="1536192"/>
          </a:xfrm>
          <a:prstGeom prst="rect">
            <a:avLst/>
          </a:prstGeom>
          <a:solidFill>
            <a:srgbClr val="1A0D0A"/>
          </a:solidFill>
          <a:ln w="8636">
            <a:solidFill>
              <a:srgbClr val="3A1E16"/>
            </a:solidFill>
            <a:prstDash val="solid"/>
          </a:ln>
        </p:spPr>
      </p:sp>
      <p:sp>
        <p:nvSpPr>
          <p:cNvPr id="30" name="Text 27"/>
          <p:cNvSpPr/>
          <p:nvPr/>
        </p:nvSpPr>
        <p:spPr>
          <a:xfrm>
            <a:off x="1243584" y="7936992"/>
            <a:ext cx="15819120" cy="384048"/>
          </a:xfrm>
          <a:prstGeom prst="rect">
            <a:avLst/>
          </a:prstGeom>
          <a:noFill/>
          <a:ln/>
        </p:spPr>
        <p:txBody>
          <a:bodyPr wrap="square" lIns="0" tIns="0" rIns="0" bIns="0" rtlCol="0" anchor="ctr"/>
          <a:lstStyle/>
          <a:p>
            <a:pPr indent="0" marL="0">
              <a:buNone/>
            </a:pPr>
            <a:r>
              <a:rPr lang="en-US" sz="2000" b="1" spc="60" kern="0" dirty="0">
                <a:solidFill>
                  <a:srgbClr val="F2E3D5"/>
                </a:solidFill>
                <a:latin typeface="Arial" pitchFamily="34" charset="0"/>
                <a:ea typeface="Arial" pitchFamily="34" charset="-122"/>
                <a:cs typeface="Arial" pitchFamily="34" charset="-120"/>
              </a:rPr>
              <a:t>THE SYSTEM DIDN'T FAIL. IT WAS NEVER ASKED TO PROVE ANYTHING.</a:t>
            </a:r>
            <a:endParaRPr lang="en-US" sz="2000" dirty="0"/>
          </a:p>
        </p:txBody>
      </p:sp>
      <p:sp>
        <p:nvSpPr>
          <p:cNvPr id="31" name="Text 28"/>
          <p:cNvSpPr/>
          <p:nvPr/>
        </p:nvSpPr>
        <p:spPr>
          <a:xfrm>
            <a:off x="1243584" y="8375904"/>
            <a:ext cx="15819120" cy="658368"/>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Oversight is still built for the answering era: score the text, chart the failure, review the log next week. The cost of a wrong output changed category.</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02 // INSIGHT</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73152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02 · INSIGHT</a:t>
            </a:r>
            <a:endParaRPr lang="en-US" sz="1500" dirty="0"/>
          </a:p>
        </p:txBody>
      </p:sp>
      <p:sp>
        <p:nvSpPr>
          <p:cNvPr id="12" name="Text 9"/>
          <p:cNvSpPr/>
          <p:nvPr/>
        </p:nvSpPr>
        <p:spPr>
          <a:xfrm>
            <a:off x="950976" y="1243584"/>
            <a:ext cx="16367760" cy="640080"/>
          </a:xfrm>
          <a:prstGeom prst="rect">
            <a:avLst/>
          </a:prstGeom>
          <a:noFill/>
          <a:ln/>
        </p:spPr>
        <p:txBody>
          <a:bodyPr wrap="square" lIns="0" tIns="0" rIns="0" bIns="0" rtlCol="0" anchor="t"/>
          <a:lstStyle/>
          <a:p>
            <a:pPr algn="l" indent="0" marL="0">
              <a:buNone/>
            </a:pPr>
            <a:r>
              <a:rPr lang="en-US" sz="3600" b="1" spc="-75" kern="0" dirty="0">
                <a:solidFill>
                  <a:srgbClr val="F2E3D5"/>
                </a:solidFill>
                <a:latin typeface="Arial" pitchFamily="34" charset="0"/>
                <a:ea typeface="Arial" pitchFamily="34" charset="-122"/>
                <a:cs typeface="Arial" pitchFamily="34" charset="-120"/>
              </a:rPr>
              <a:t>EVERYONE WATCHES THE EXIT.</a:t>
            </a:r>
            <a:endParaRPr lang="en-US" sz="3600" dirty="0"/>
          </a:p>
        </p:txBody>
      </p:sp>
      <p:sp>
        <p:nvSpPr>
          <p:cNvPr id="13" name="Text 10"/>
          <p:cNvSpPr/>
          <p:nvPr/>
        </p:nvSpPr>
        <p:spPr>
          <a:xfrm>
            <a:off x="950976" y="1920240"/>
            <a:ext cx="16367760" cy="384048"/>
          </a:xfrm>
          <a:prstGeom prst="rect">
            <a:avLst/>
          </a:prstGeom>
          <a:noFill/>
          <a:ln/>
        </p:spPr>
        <p:txBody>
          <a:bodyPr wrap="square" lIns="0" tIns="0" rIns="0" bIns="0" rtlCol="0" anchor="ctr"/>
          <a:lstStyle/>
          <a:p>
            <a:pPr indent="0" marL="0">
              <a:buNone/>
            </a:pPr>
            <a:r>
              <a:rPr lang="en-US" sz="2400" dirty="0">
                <a:solidFill>
                  <a:srgbClr val="D9482A"/>
                </a:solidFill>
                <a:latin typeface="Arial" pitchFamily="34" charset="0"/>
                <a:ea typeface="Arial" pitchFamily="34" charset="-122"/>
                <a:cs typeface="Arial" pitchFamily="34" charset="-120"/>
              </a:rPr>
              <a:t>Nobody records the entrance.</a:t>
            </a:r>
            <a:endParaRPr lang="en-US" sz="2400" dirty="0"/>
          </a:p>
        </p:txBody>
      </p:sp>
      <p:sp>
        <p:nvSpPr>
          <p:cNvPr id="14" name="Shape 11"/>
          <p:cNvSpPr/>
          <p:nvPr/>
        </p:nvSpPr>
        <p:spPr>
          <a:xfrm>
            <a:off x="950976" y="2542032"/>
            <a:ext cx="5394960" cy="5486400"/>
          </a:xfrm>
          <a:prstGeom prst="rect">
            <a:avLst/>
          </a:prstGeom>
          <a:solidFill>
            <a:srgbClr val="1A0D0A"/>
          </a:solidFill>
          <a:ln w="8636">
            <a:solidFill>
              <a:srgbClr val="3A1E16"/>
            </a:solidFill>
            <a:prstDash val="solid"/>
          </a:ln>
        </p:spPr>
      </p:sp>
      <p:sp>
        <p:nvSpPr>
          <p:cNvPr id="15" name="Shape 12"/>
          <p:cNvSpPr/>
          <p:nvPr/>
        </p:nvSpPr>
        <p:spPr>
          <a:xfrm>
            <a:off x="950976" y="2542032"/>
            <a:ext cx="5394960" cy="41148"/>
          </a:xfrm>
          <a:prstGeom prst="rect">
            <a:avLst/>
          </a:prstGeom>
          <a:solidFill>
            <a:srgbClr val="D9482A"/>
          </a:solidFill>
          <a:ln/>
        </p:spPr>
      </p:sp>
      <p:sp>
        <p:nvSpPr>
          <p:cNvPr id="16" name="Text 13"/>
          <p:cNvSpPr/>
          <p:nvPr/>
        </p:nvSpPr>
        <p:spPr>
          <a:xfrm>
            <a:off x="1243584" y="2788920"/>
            <a:ext cx="4809744" cy="365760"/>
          </a:xfrm>
          <a:prstGeom prst="rect">
            <a:avLst/>
          </a:prstGeom>
          <a:noFill/>
          <a:ln/>
        </p:spPr>
        <p:txBody>
          <a:bodyPr wrap="square" lIns="0" tIns="0" rIns="0" bIns="0" rtlCol="0" anchor="ctr"/>
          <a:lstStyle/>
          <a:p>
            <a:pPr indent="0" marL="0">
              <a:buNone/>
            </a:pPr>
            <a:r>
              <a:rPr lang="en-US" sz="1800" b="1" spc="200" kern="0" dirty="0">
                <a:solidFill>
                  <a:srgbClr val="D9482A"/>
                </a:solidFill>
                <a:latin typeface="Arial" pitchFamily="34" charset="0"/>
                <a:ea typeface="Arial" pitchFamily="34" charset="-122"/>
                <a:cs typeface="Arial" pitchFamily="34" charset="-120"/>
              </a:rPr>
              <a:t>01</a:t>
            </a:r>
            <a:endParaRPr lang="en-US" sz="1800" dirty="0"/>
          </a:p>
        </p:txBody>
      </p:sp>
      <p:sp>
        <p:nvSpPr>
          <p:cNvPr id="17" name="Text 14"/>
          <p:cNvSpPr/>
          <p:nvPr/>
        </p:nvSpPr>
        <p:spPr>
          <a:xfrm>
            <a:off x="1243584" y="3246120"/>
            <a:ext cx="4809744" cy="1234440"/>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RECEIPTS, NOT THE MODEL'S MIND</a:t>
            </a:r>
            <a:endParaRPr lang="en-US" sz="2200" dirty="0"/>
          </a:p>
        </p:txBody>
      </p:sp>
      <p:sp>
        <p:nvSpPr>
          <p:cNvPr id="18" name="Text 15"/>
          <p:cNvSpPr/>
          <p:nvPr/>
        </p:nvSpPr>
        <p:spPr>
          <a:xfrm>
            <a:off x="1243584" y="4617720"/>
            <a:ext cx="4809744" cy="292608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We sit at the I/O layer. Evidence is captured at context assembly — source, ACL, hash, offsets — then frozen. The model cannot invent a span after the fact.</a:t>
            </a:r>
            <a:endParaRPr lang="en-US" sz="1600" dirty="0"/>
          </a:p>
        </p:txBody>
      </p:sp>
      <p:sp>
        <p:nvSpPr>
          <p:cNvPr id="19" name="Shape 16"/>
          <p:cNvSpPr/>
          <p:nvPr/>
        </p:nvSpPr>
        <p:spPr>
          <a:xfrm>
            <a:off x="6528816" y="2542032"/>
            <a:ext cx="5394960" cy="5486400"/>
          </a:xfrm>
          <a:prstGeom prst="rect">
            <a:avLst/>
          </a:prstGeom>
          <a:solidFill>
            <a:srgbClr val="1A0D0A"/>
          </a:solidFill>
          <a:ln w="8636">
            <a:solidFill>
              <a:srgbClr val="3A1E16"/>
            </a:solidFill>
            <a:prstDash val="solid"/>
          </a:ln>
        </p:spPr>
      </p:sp>
      <p:sp>
        <p:nvSpPr>
          <p:cNvPr id="20" name="Shape 17"/>
          <p:cNvSpPr/>
          <p:nvPr/>
        </p:nvSpPr>
        <p:spPr>
          <a:xfrm>
            <a:off x="6528816" y="2542032"/>
            <a:ext cx="5394960" cy="41148"/>
          </a:xfrm>
          <a:prstGeom prst="rect">
            <a:avLst/>
          </a:prstGeom>
          <a:solidFill>
            <a:srgbClr val="D9482A"/>
          </a:solidFill>
          <a:ln/>
        </p:spPr>
      </p:sp>
      <p:sp>
        <p:nvSpPr>
          <p:cNvPr id="21" name="Text 18"/>
          <p:cNvSpPr/>
          <p:nvPr/>
        </p:nvSpPr>
        <p:spPr>
          <a:xfrm>
            <a:off x="6821424" y="2788920"/>
            <a:ext cx="4809744" cy="365760"/>
          </a:xfrm>
          <a:prstGeom prst="rect">
            <a:avLst/>
          </a:prstGeom>
          <a:noFill/>
          <a:ln/>
        </p:spPr>
        <p:txBody>
          <a:bodyPr wrap="square" lIns="0" tIns="0" rIns="0" bIns="0" rtlCol="0" anchor="ctr"/>
          <a:lstStyle/>
          <a:p>
            <a:pPr indent="0" marL="0">
              <a:buNone/>
            </a:pPr>
            <a:r>
              <a:rPr lang="en-US" sz="1800" b="1" spc="200" kern="0" dirty="0">
                <a:solidFill>
                  <a:srgbClr val="D9482A"/>
                </a:solidFill>
                <a:latin typeface="Arial" pitchFamily="34" charset="0"/>
                <a:ea typeface="Arial" pitchFamily="34" charset="-122"/>
                <a:cs typeface="Arial" pitchFamily="34" charset="-120"/>
              </a:rPr>
              <a:t>02</a:t>
            </a:r>
            <a:endParaRPr lang="en-US" sz="1800" dirty="0"/>
          </a:p>
        </p:txBody>
      </p:sp>
      <p:sp>
        <p:nvSpPr>
          <p:cNvPr id="22" name="Text 19"/>
          <p:cNvSpPr/>
          <p:nvPr/>
        </p:nvSpPr>
        <p:spPr>
          <a:xfrm>
            <a:off x="6821424" y="3246120"/>
            <a:ext cx="4809744" cy="1234440"/>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SET-MEMBERSHIP, NOT JUDGMENT</a:t>
            </a:r>
            <a:endParaRPr lang="en-US" sz="2200" dirty="0"/>
          </a:p>
        </p:txBody>
      </p:sp>
      <p:sp>
        <p:nvSpPr>
          <p:cNvPr id="23" name="Text 20"/>
          <p:cNvSpPr/>
          <p:nvPr/>
        </p:nvSpPr>
        <p:spPr>
          <a:xfrm>
            <a:off x="6821424" y="4617720"/>
            <a:ext cx="4809744" cy="292608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The verdict is a set-membership test against evidence captured before generation. Not an opinion about finished text. Binding either exists or it does not.</a:t>
            </a:r>
            <a:endParaRPr lang="en-US" sz="1600" dirty="0"/>
          </a:p>
        </p:txBody>
      </p:sp>
      <p:sp>
        <p:nvSpPr>
          <p:cNvPr id="24" name="Shape 21"/>
          <p:cNvSpPr/>
          <p:nvPr/>
        </p:nvSpPr>
        <p:spPr>
          <a:xfrm>
            <a:off x="12106656" y="2542032"/>
            <a:ext cx="5394960" cy="5486400"/>
          </a:xfrm>
          <a:prstGeom prst="rect">
            <a:avLst/>
          </a:prstGeom>
          <a:solidFill>
            <a:srgbClr val="1A0D0A"/>
          </a:solidFill>
          <a:ln w="8636">
            <a:solidFill>
              <a:srgbClr val="3A1E16"/>
            </a:solidFill>
            <a:prstDash val="solid"/>
          </a:ln>
        </p:spPr>
      </p:sp>
      <p:sp>
        <p:nvSpPr>
          <p:cNvPr id="25" name="Shape 22"/>
          <p:cNvSpPr/>
          <p:nvPr/>
        </p:nvSpPr>
        <p:spPr>
          <a:xfrm>
            <a:off x="12106656" y="2542032"/>
            <a:ext cx="5394960" cy="41148"/>
          </a:xfrm>
          <a:prstGeom prst="rect">
            <a:avLst/>
          </a:prstGeom>
          <a:solidFill>
            <a:srgbClr val="D9482A"/>
          </a:solidFill>
          <a:ln/>
        </p:spPr>
      </p:sp>
      <p:sp>
        <p:nvSpPr>
          <p:cNvPr id="26" name="Text 23"/>
          <p:cNvSpPr/>
          <p:nvPr/>
        </p:nvSpPr>
        <p:spPr>
          <a:xfrm>
            <a:off x="12399264" y="2788920"/>
            <a:ext cx="4809744" cy="365760"/>
          </a:xfrm>
          <a:prstGeom prst="rect">
            <a:avLst/>
          </a:prstGeom>
          <a:noFill/>
          <a:ln/>
        </p:spPr>
        <p:txBody>
          <a:bodyPr wrap="square" lIns="0" tIns="0" rIns="0" bIns="0" rtlCol="0" anchor="ctr"/>
          <a:lstStyle/>
          <a:p>
            <a:pPr indent="0" marL="0">
              <a:buNone/>
            </a:pPr>
            <a:r>
              <a:rPr lang="en-US" sz="1800" b="1" spc="200" kern="0" dirty="0">
                <a:solidFill>
                  <a:srgbClr val="D9482A"/>
                </a:solidFill>
                <a:latin typeface="Arial" pitchFamily="34" charset="0"/>
                <a:ea typeface="Arial" pitchFamily="34" charset="-122"/>
                <a:cs typeface="Arial" pitchFamily="34" charset="-120"/>
              </a:rPr>
              <a:t>03</a:t>
            </a:r>
            <a:endParaRPr lang="en-US" sz="1800" dirty="0"/>
          </a:p>
        </p:txBody>
      </p:sp>
      <p:sp>
        <p:nvSpPr>
          <p:cNvPr id="27" name="Text 24"/>
          <p:cNvSpPr/>
          <p:nvPr/>
        </p:nvSpPr>
        <p:spPr>
          <a:xfrm>
            <a:off x="12399264" y="3246120"/>
            <a:ext cx="4809744" cy="1234440"/>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DEFAULT: UNSUPPORTED</a:t>
            </a:r>
            <a:endParaRPr lang="en-US" sz="2200" dirty="0"/>
          </a:p>
        </p:txBody>
      </p:sp>
      <p:sp>
        <p:nvSpPr>
          <p:cNvPr id="28" name="Text 25"/>
          <p:cNvSpPr/>
          <p:nvPr/>
        </p:nvSpPr>
        <p:spPr>
          <a:xfrm>
            <a:off x="12399264" y="4617720"/>
            <a:ext cx="4809744" cy="292608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A claim must earn SUPPORTED. Nothing passes because nobody objected. Absence of evidence is not conflicting evidence — the claim stays unproven.</a:t>
            </a:r>
            <a:endParaRPr lang="en-US" sz="1600" dirty="0"/>
          </a:p>
        </p:txBody>
      </p:sp>
      <p:sp>
        <p:nvSpPr>
          <p:cNvPr id="29" name="Text 26"/>
          <p:cNvSpPr/>
          <p:nvPr/>
        </p:nvSpPr>
        <p:spPr>
          <a:xfrm>
            <a:off x="950976" y="8229600"/>
            <a:ext cx="16386048" cy="329184"/>
          </a:xfrm>
          <a:prstGeom prst="rect">
            <a:avLst/>
          </a:prstGeom>
          <a:noFill/>
          <a:ln/>
        </p:spPr>
        <p:txBody>
          <a:bodyPr wrap="square" lIns="0" tIns="0" rIns="0" bIns="0" rtlCol="0" anchor="ctr"/>
          <a:lstStyle/>
          <a:p>
            <a:pPr indent="0" marL="0">
              <a:buNone/>
            </a:pPr>
            <a:r>
              <a:rPr lang="en-US" sz="1600" dirty="0">
                <a:solidFill>
                  <a:srgbClr val="7A5D4E"/>
                </a:solidFill>
                <a:latin typeface="Arial" pitchFamily="34" charset="0"/>
                <a:ea typeface="Arial" pitchFamily="34" charset="-122"/>
                <a:cs typeface="Arial" pitchFamily="34" charset="-120"/>
              </a:rPr>
              <a:t>We read the model's receipts, not the model's mind.  ·  Oversight becomes authorising actions.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03 // PRIMITIVE</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91440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03 · PRIMITIVE</a:t>
            </a:r>
            <a:endParaRPr lang="en-US" sz="1500" dirty="0"/>
          </a:p>
        </p:txBody>
      </p:sp>
      <p:sp>
        <p:nvSpPr>
          <p:cNvPr id="12" name="Text 9"/>
          <p:cNvSpPr/>
          <p:nvPr/>
        </p:nvSpPr>
        <p:spPr>
          <a:xfrm>
            <a:off x="950976" y="1225296"/>
            <a:ext cx="16367760" cy="566928"/>
          </a:xfrm>
          <a:prstGeom prst="rect">
            <a:avLst/>
          </a:prstGeom>
          <a:noFill/>
          <a:ln/>
        </p:spPr>
        <p:txBody>
          <a:bodyPr wrap="square" lIns="0" tIns="0" rIns="0" bIns="0" rtlCol="0" anchor="t"/>
          <a:lstStyle/>
          <a:p>
            <a:pPr algn="l" indent="0" marL="0">
              <a:buNone/>
            </a:pPr>
            <a:r>
              <a:rPr lang="en-US" sz="3200" b="1" spc="-75" kern="0" dirty="0">
                <a:solidFill>
                  <a:srgbClr val="F2E3D5"/>
                </a:solidFill>
                <a:latin typeface="Arial" pitchFamily="34" charset="0"/>
                <a:ea typeface="Arial" pitchFamily="34" charset="-122"/>
                <a:cs typeface="Arial" pitchFamily="34" charset="-120"/>
              </a:rPr>
              <a:t>AN AI RESPONSE IS A SET OF </a:t>
            </a:r>
            <a:pPr algn="l" indent="0" marL="0">
              <a:buNone/>
            </a:pPr>
            <a:r>
              <a:rPr lang="en-US" sz="3200" b="1" spc="-75" kern="0" dirty="0">
                <a:solidFill>
                  <a:srgbClr val="D9482A"/>
                </a:solidFill>
                <a:latin typeface="Arial" pitchFamily="34" charset="0"/>
                <a:ea typeface="Arial" pitchFamily="34" charset="-122"/>
                <a:cs typeface="Arial" pitchFamily="34" charset="-120"/>
              </a:rPr>
              <a:t>CLAIMS</a:t>
            </a:r>
            <a:pPr algn="l" indent="0" marL="0">
              <a:buNone/>
            </a:pPr>
            <a:r>
              <a:rPr lang="en-US" sz="3200" b="1" spc="-75" kern="0" dirty="0">
                <a:solidFill>
                  <a:srgbClr val="F2E3D5"/>
                </a:solidFill>
                <a:latin typeface="Arial" pitchFamily="34" charset="0"/>
                <a:ea typeface="Arial" pitchFamily="34" charset="-122"/>
                <a:cs typeface="Arial" pitchFamily="34" charset="-120"/>
              </a:rPr>
              <a:t>.</a:t>
            </a:r>
            <a:endParaRPr lang="en-US" sz="3200" dirty="0"/>
          </a:p>
        </p:txBody>
      </p:sp>
      <p:sp>
        <p:nvSpPr>
          <p:cNvPr id="13" name="Text 10"/>
          <p:cNvSpPr/>
          <p:nvPr/>
        </p:nvSpPr>
        <p:spPr>
          <a:xfrm>
            <a:off x="950976" y="1810512"/>
            <a:ext cx="16367760" cy="310896"/>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Not text to be scored. Claims requesting permission to act.</a:t>
            </a:r>
            <a:endParaRPr lang="en-US" sz="1600" dirty="0"/>
          </a:p>
        </p:txBody>
      </p:sp>
      <p:sp>
        <p:nvSpPr>
          <p:cNvPr id="14" name="Shape 11"/>
          <p:cNvSpPr/>
          <p:nvPr/>
        </p:nvSpPr>
        <p:spPr>
          <a:xfrm>
            <a:off x="950976" y="2267712"/>
            <a:ext cx="4041648" cy="2331720"/>
          </a:xfrm>
          <a:prstGeom prst="rect">
            <a:avLst/>
          </a:prstGeom>
          <a:solidFill>
            <a:srgbClr val="1A0D0A"/>
          </a:solidFill>
          <a:ln w="8636">
            <a:solidFill>
              <a:srgbClr val="5A2E20"/>
            </a:solidFill>
            <a:prstDash val="solid"/>
          </a:ln>
        </p:spPr>
      </p:sp>
      <p:sp>
        <p:nvSpPr>
          <p:cNvPr id="15" name="Text 12"/>
          <p:cNvSpPr/>
          <p:nvPr/>
        </p:nvSpPr>
        <p:spPr>
          <a:xfrm>
            <a:off x="1152144" y="2395728"/>
            <a:ext cx="1097280" cy="274320"/>
          </a:xfrm>
          <a:prstGeom prst="rect">
            <a:avLst/>
          </a:prstGeom>
          <a:noFill/>
          <a:ln/>
        </p:spPr>
        <p:txBody>
          <a:bodyPr wrap="square" lIns="0" tIns="0" rIns="0" bIns="0" rtlCol="0" anchor="ctr"/>
          <a:lstStyle/>
          <a:p>
            <a:pPr indent="0" marL="0">
              <a:buNone/>
            </a:pPr>
            <a:r>
              <a:rPr lang="en-US" sz="1300" spc="150" kern="0" dirty="0">
                <a:solidFill>
                  <a:srgbClr val="D9482A"/>
                </a:solidFill>
                <a:latin typeface="Arial" pitchFamily="34" charset="0"/>
                <a:ea typeface="Arial" pitchFamily="34" charset="-122"/>
                <a:cs typeface="Arial" pitchFamily="34" charset="-120"/>
              </a:rPr>
              <a:t>01</a:t>
            </a:r>
            <a:endParaRPr lang="en-US" sz="1300" dirty="0"/>
          </a:p>
        </p:txBody>
      </p:sp>
      <p:sp>
        <p:nvSpPr>
          <p:cNvPr id="16" name="Text 13"/>
          <p:cNvSpPr/>
          <p:nvPr/>
        </p:nvSpPr>
        <p:spPr>
          <a:xfrm>
            <a:off x="1152144" y="2688336"/>
            <a:ext cx="3639312" cy="438912"/>
          </a:xfrm>
          <a:prstGeom prst="rect">
            <a:avLst/>
          </a:prstGeom>
          <a:noFill/>
          <a:ln/>
        </p:spPr>
        <p:txBody>
          <a:bodyPr wrap="square" lIns="0" tIns="0" rIns="0" bIns="0" rtlCol="0" anchor="ctr"/>
          <a:lstStyle/>
          <a:p>
            <a:pPr indent="0" marL="0">
              <a:buNone/>
            </a:pPr>
            <a:r>
              <a:rPr lang="en-US" sz="2600" b="1" dirty="0">
                <a:solidFill>
                  <a:srgbClr val="F2E3D5"/>
                </a:solidFill>
                <a:latin typeface="Arial" pitchFamily="34" charset="0"/>
                <a:ea typeface="Arial" pitchFamily="34" charset="-122"/>
                <a:cs typeface="Arial" pitchFamily="34" charset="-120"/>
              </a:rPr>
              <a:t>STEP</a:t>
            </a:r>
            <a:endParaRPr lang="en-US" sz="2600" dirty="0"/>
          </a:p>
        </p:txBody>
      </p:sp>
      <p:sp>
        <p:nvSpPr>
          <p:cNvPr id="17" name="Text 14"/>
          <p:cNvSpPr/>
          <p:nvPr/>
        </p:nvSpPr>
        <p:spPr>
          <a:xfrm>
            <a:off x="1152144" y="3182112"/>
            <a:ext cx="3639312" cy="109728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Tool call, retrieval, model turn.</a:t>
            </a:r>
            <a:endParaRPr lang="en-US" sz="1500" dirty="0"/>
          </a:p>
        </p:txBody>
      </p:sp>
      <p:sp>
        <p:nvSpPr>
          <p:cNvPr id="18" name="Text 15"/>
          <p:cNvSpPr/>
          <p:nvPr/>
        </p:nvSpPr>
        <p:spPr>
          <a:xfrm>
            <a:off x="4864608" y="3063240"/>
            <a:ext cx="347472" cy="365760"/>
          </a:xfrm>
          <a:prstGeom prst="rect">
            <a:avLst/>
          </a:prstGeom>
          <a:noFill/>
          <a:ln/>
        </p:spPr>
        <p:txBody>
          <a:bodyPr wrap="square" lIns="0" tIns="0" rIns="0" bIns="0" rtlCol="0" anchor="ctr"/>
          <a:lstStyle/>
          <a:p>
            <a:pPr indent="0" marL="0">
              <a:buNone/>
            </a:pPr>
            <a:r>
              <a:rPr lang="en-US" sz="1600" b="1" dirty="0">
                <a:solidFill>
                  <a:srgbClr val="D9482A"/>
                </a:solidFill>
                <a:latin typeface="Arial" pitchFamily="34" charset="0"/>
                <a:ea typeface="Arial" pitchFamily="34" charset="-122"/>
                <a:cs typeface="Arial" pitchFamily="34" charset="-120"/>
              </a:rPr>
              <a:t>▶</a:t>
            </a:r>
            <a:endParaRPr lang="en-US" sz="1600" dirty="0"/>
          </a:p>
        </p:txBody>
      </p:sp>
      <p:sp>
        <p:nvSpPr>
          <p:cNvPr id="19" name="Shape 16"/>
          <p:cNvSpPr/>
          <p:nvPr/>
        </p:nvSpPr>
        <p:spPr>
          <a:xfrm>
            <a:off x="5230368" y="2267712"/>
            <a:ext cx="4041648" cy="2331720"/>
          </a:xfrm>
          <a:prstGeom prst="rect">
            <a:avLst/>
          </a:prstGeom>
          <a:solidFill>
            <a:srgbClr val="1A0D0A"/>
          </a:solidFill>
          <a:ln w="8636">
            <a:solidFill>
              <a:srgbClr val="5A2E20"/>
            </a:solidFill>
            <a:prstDash val="solid"/>
          </a:ln>
        </p:spPr>
      </p:sp>
      <p:sp>
        <p:nvSpPr>
          <p:cNvPr id="20" name="Text 17"/>
          <p:cNvSpPr/>
          <p:nvPr/>
        </p:nvSpPr>
        <p:spPr>
          <a:xfrm>
            <a:off x="5431536" y="2395728"/>
            <a:ext cx="1097280" cy="274320"/>
          </a:xfrm>
          <a:prstGeom prst="rect">
            <a:avLst/>
          </a:prstGeom>
          <a:noFill/>
          <a:ln/>
        </p:spPr>
        <p:txBody>
          <a:bodyPr wrap="square" lIns="0" tIns="0" rIns="0" bIns="0" rtlCol="0" anchor="ctr"/>
          <a:lstStyle/>
          <a:p>
            <a:pPr indent="0" marL="0">
              <a:buNone/>
            </a:pPr>
            <a:r>
              <a:rPr lang="en-US" sz="1300" spc="150" kern="0" dirty="0">
                <a:solidFill>
                  <a:srgbClr val="D9482A"/>
                </a:solidFill>
                <a:latin typeface="Arial" pitchFamily="34" charset="0"/>
                <a:ea typeface="Arial" pitchFamily="34" charset="-122"/>
                <a:cs typeface="Arial" pitchFamily="34" charset="-120"/>
              </a:rPr>
              <a:t>02</a:t>
            </a:r>
            <a:endParaRPr lang="en-US" sz="1300" dirty="0"/>
          </a:p>
        </p:txBody>
      </p:sp>
      <p:sp>
        <p:nvSpPr>
          <p:cNvPr id="21" name="Text 18"/>
          <p:cNvSpPr/>
          <p:nvPr/>
        </p:nvSpPr>
        <p:spPr>
          <a:xfrm>
            <a:off x="5431536" y="2688336"/>
            <a:ext cx="3639312" cy="438912"/>
          </a:xfrm>
          <a:prstGeom prst="rect">
            <a:avLst/>
          </a:prstGeom>
          <a:noFill/>
          <a:ln/>
        </p:spPr>
        <p:txBody>
          <a:bodyPr wrap="square" lIns="0" tIns="0" rIns="0" bIns="0" rtlCol="0" anchor="ctr"/>
          <a:lstStyle/>
          <a:p>
            <a:pPr indent="0" marL="0">
              <a:buNone/>
            </a:pPr>
            <a:r>
              <a:rPr lang="en-US" sz="2600" b="1" dirty="0">
                <a:solidFill>
                  <a:srgbClr val="F2E3D5"/>
                </a:solidFill>
                <a:latin typeface="Arial" pitchFamily="34" charset="0"/>
                <a:ea typeface="Arial" pitchFamily="34" charset="-122"/>
                <a:cs typeface="Arial" pitchFamily="34" charset="-120"/>
              </a:rPr>
              <a:t>SPAN</a:t>
            </a:r>
            <a:endParaRPr lang="en-US" sz="2600" dirty="0"/>
          </a:p>
        </p:txBody>
      </p:sp>
      <p:sp>
        <p:nvSpPr>
          <p:cNvPr id="22" name="Text 19"/>
          <p:cNvSpPr/>
          <p:nvPr/>
        </p:nvSpPr>
        <p:spPr>
          <a:xfrm>
            <a:off x="5431536" y="3182112"/>
            <a:ext cx="3639312" cy="109728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Chunk, tool row, DB record — source, ACL, hash, offsets.</a:t>
            </a:r>
            <a:endParaRPr lang="en-US" sz="1500" dirty="0"/>
          </a:p>
        </p:txBody>
      </p:sp>
      <p:sp>
        <p:nvSpPr>
          <p:cNvPr id="23" name="Text 20"/>
          <p:cNvSpPr/>
          <p:nvPr/>
        </p:nvSpPr>
        <p:spPr>
          <a:xfrm>
            <a:off x="9144000" y="3063240"/>
            <a:ext cx="347472" cy="365760"/>
          </a:xfrm>
          <a:prstGeom prst="rect">
            <a:avLst/>
          </a:prstGeom>
          <a:noFill/>
          <a:ln/>
        </p:spPr>
        <p:txBody>
          <a:bodyPr wrap="square" lIns="0" tIns="0" rIns="0" bIns="0" rtlCol="0" anchor="ctr"/>
          <a:lstStyle/>
          <a:p>
            <a:pPr indent="0" marL="0">
              <a:buNone/>
            </a:pPr>
            <a:r>
              <a:rPr lang="en-US" sz="1600" b="1" dirty="0">
                <a:solidFill>
                  <a:srgbClr val="D9482A"/>
                </a:solidFill>
                <a:latin typeface="Arial" pitchFamily="34" charset="0"/>
                <a:ea typeface="Arial" pitchFamily="34" charset="-122"/>
                <a:cs typeface="Arial" pitchFamily="34" charset="-120"/>
              </a:rPr>
              <a:t>▶</a:t>
            </a:r>
            <a:endParaRPr lang="en-US" sz="1600" dirty="0"/>
          </a:p>
        </p:txBody>
      </p:sp>
      <p:sp>
        <p:nvSpPr>
          <p:cNvPr id="24" name="Shape 21"/>
          <p:cNvSpPr/>
          <p:nvPr/>
        </p:nvSpPr>
        <p:spPr>
          <a:xfrm>
            <a:off x="9509760" y="2267712"/>
            <a:ext cx="4041648" cy="2331720"/>
          </a:xfrm>
          <a:prstGeom prst="rect">
            <a:avLst/>
          </a:prstGeom>
          <a:solidFill>
            <a:srgbClr val="1A0D0A"/>
          </a:solidFill>
          <a:ln w="8636">
            <a:solidFill>
              <a:srgbClr val="5A2E20"/>
            </a:solidFill>
            <a:prstDash val="solid"/>
          </a:ln>
        </p:spPr>
      </p:sp>
      <p:sp>
        <p:nvSpPr>
          <p:cNvPr id="25" name="Text 22"/>
          <p:cNvSpPr/>
          <p:nvPr/>
        </p:nvSpPr>
        <p:spPr>
          <a:xfrm>
            <a:off x="9710928" y="2395728"/>
            <a:ext cx="1097280" cy="274320"/>
          </a:xfrm>
          <a:prstGeom prst="rect">
            <a:avLst/>
          </a:prstGeom>
          <a:noFill/>
          <a:ln/>
        </p:spPr>
        <p:txBody>
          <a:bodyPr wrap="square" lIns="0" tIns="0" rIns="0" bIns="0" rtlCol="0" anchor="ctr"/>
          <a:lstStyle/>
          <a:p>
            <a:pPr indent="0" marL="0">
              <a:buNone/>
            </a:pPr>
            <a:r>
              <a:rPr lang="en-US" sz="1300" spc="150" kern="0" dirty="0">
                <a:solidFill>
                  <a:srgbClr val="D9482A"/>
                </a:solidFill>
                <a:latin typeface="Arial" pitchFamily="34" charset="0"/>
                <a:ea typeface="Arial" pitchFamily="34" charset="-122"/>
                <a:cs typeface="Arial" pitchFamily="34" charset="-120"/>
              </a:rPr>
              <a:t>03</a:t>
            </a:r>
            <a:endParaRPr lang="en-US" sz="1300" dirty="0"/>
          </a:p>
        </p:txBody>
      </p:sp>
      <p:sp>
        <p:nvSpPr>
          <p:cNvPr id="26" name="Text 23"/>
          <p:cNvSpPr/>
          <p:nvPr/>
        </p:nvSpPr>
        <p:spPr>
          <a:xfrm>
            <a:off x="9710928" y="2688336"/>
            <a:ext cx="3639312" cy="438912"/>
          </a:xfrm>
          <a:prstGeom prst="rect">
            <a:avLst/>
          </a:prstGeom>
          <a:noFill/>
          <a:ln/>
        </p:spPr>
        <p:txBody>
          <a:bodyPr wrap="square" lIns="0" tIns="0" rIns="0" bIns="0" rtlCol="0" anchor="ctr"/>
          <a:lstStyle/>
          <a:p>
            <a:pPr indent="0" marL="0">
              <a:buNone/>
            </a:pPr>
            <a:r>
              <a:rPr lang="en-US" sz="2600" b="1" dirty="0">
                <a:solidFill>
                  <a:srgbClr val="F2E3D5"/>
                </a:solidFill>
                <a:latin typeface="Arial" pitchFamily="34" charset="0"/>
                <a:ea typeface="Arial" pitchFamily="34" charset="-122"/>
                <a:cs typeface="Arial" pitchFamily="34" charset="-120"/>
              </a:rPr>
              <a:t>CLAIM</a:t>
            </a:r>
            <a:endParaRPr lang="en-US" sz="2600" dirty="0"/>
          </a:p>
        </p:txBody>
      </p:sp>
      <p:sp>
        <p:nvSpPr>
          <p:cNvPr id="27" name="Text 24"/>
          <p:cNvSpPr/>
          <p:nvPr/>
        </p:nvSpPr>
        <p:spPr>
          <a:xfrm>
            <a:off x="9710928" y="3182112"/>
            <a:ext cx="3639312" cy="109728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Typed atomic proposition from the output stream.</a:t>
            </a:r>
            <a:endParaRPr lang="en-US" sz="1500" dirty="0"/>
          </a:p>
        </p:txBody>
      </p:sp>
      <p:sp>
        <p:nvSpPr>
          <p:cNvPr id="28" name="Text 25"/>
          <p:cNvSpPr/>
          <p:nvPr/>
        </p:nvSpPr>
        <p:spPr>
          <a:xfrm>
            <a:off x="13423392" y="3063240"/>
            <a:ext cx="347472" cy="365760"/>
          </a:xfrm>
          <a:prstGeom prst="rect">
            <a:avLst/>
          </a:prstGeom>
          <a:noFill/>
          <a:ln/>
        </p:spPr>
        <p:txBody>
          <a:bodyPr wrap="square" lIns="0" tIns="0" rIns="0" bIns="0" rtlCol="0" anchor="ctr"/>
          <a:lstStyle/>
          <a:p>
            <a:pPr indent="0" marL="0">
              <a:buNone/>
            </a:pPr>
            <a:r>
              <a:rPr lang="en-US" sz="1600" b="1" dirty="0">
                <a:solidFill>
                  <a:srgbClr val="D9482A"/>
                </a:solidFill>
                <a:latin typeface="Arial" pitchFamily="34" charset="0"/>
                <a:ea typeface="Arial" pitchFamily="34" charset="-122"/>
                <a:cs typeface="Arial" pitchFamily="34" charset="-120"/>
              </a:rPr>
              <a:t>▶</a:t>
            </a:r>
            <a:endParaRPr lang="en-US" sz="1600" dirty="0"/>
          </a:p>
        </p:txBody>
      </p:sp>
      <p:sp>
        <p:nvSpPr>
          <p:cNvPr id="29" name="Shape 26"/>
          <p:cNvSpPr/>
          <p:nvPr/>
        </p:nvSpPr>
        <p:spPr>
          <a:xfrm>
            <a:off x="13789152" y="2267712"/>
            <a:ext cx="4041648" cy="2331720"/>
          </a:xfrm>
          <a:prstGeom prst="rect">
            <a:avLst/>
          </a:prstGeom>
          <a:solidFill>
            <a:srgbClr val="1A0D0A"/>
          </a:solidFill>
          <a:ln w="13970">
            <a:solidFill>
              <a:srgbClr val="D9482A"/>
            </a:solidFill>
            <a:prstDash val="solid"/>
          </a:ln>
        </p:spPr>
      </p:sp>
      <p:sp>
        <p:nvSpPr>
          <p:cNvPr id="30" name="Text 27"/>
          <p:cNvSpPr/>
          <p:nvPr/>
        </p:nvSpPr>
        <p:spPr>
          <a:xfrm>
            <a:off x="13990320" y="2395728"/>
            <a:ext cx="1097280" cy="274320"/>
          </a:xfrm>
          <a:prstGeom prst="rect">
            <a:avLst/>
          </a:prstGeom>
          <a:noFill/>
          <a:ln/>
        </p:spPr>
        <p:txBody>
          <a:bodyPr wrap="square" lIns="0" tIns="0" rIns="0" bIns="0" rtlCol="0" anchor="ctr"/>
          <a:lstStyle/>
          <a:p>
            <a:pPr indent="0" marL="0">
              <a:buNone/>
            </a:pPr>
            <a:r>
              <a:rPr lang="en-US" sz="1300" spc="150" kern="0" dirty="0">
                <a:solidFill>
                  <a:srgbClr val="D9482A"/>
                </a:solidFill>
                <a:latin typeface="Arial" pitchFamily="34" charset="0"/>
                <a:ea typeface="Arial" pitchFamily="34" charset="-122"/>
                <a:cs typeface="Arial" pitchFamily="34" charset="-120"/>
              </a:rPr>
              <a:t>04</a:t>
            </a:r>
            <a:endParaRPr lang="en-US" sz="1300" dirty="0"/>
          </a:p>
        </p:txBody>
      </p:sp>
      <p:sp>
        <p:nvSpPr>
          <p:cNvPr id="31" name="Text 28"/>
          <p:cNvSpPr/>
          <p:nvPr/>
        </p:nvSpPr>
        <p:spPr>
          <a:xfrm>
            <a:off x="13990320" y="2688336"/>
            <a:ext cx="3639312" cy="438912"/>
          </a:xfrm>
          <a:prstGeom prst="rect">
            <a:avLst/>
          </a:prstGeom>
          <a:noFill/>
          <a:ln/>
        </p:spPr>
        <p:txBody>
          <a:bodyPr wrap="square" lIns="0" tIns="0" rIns="0" bIns="0" rtlCol="0" anchor="ctr"/>
          <a:lstStyle/>
          <a:p>
            <a:pPr indent="0" marL="0">
              <a:buNone/>
            </a:pPr>
            <a:r>
              <a:rPr lang="en-US" sz="2600" b="1" dirty="0">
                <a:solidFill>
                  <a:srgbClr val="F2E3D5"/>
                </a:solidFill>
                <a:latin typeface="Arial" pitchFamily="34" charset="0"/>
                <a:ea typeface="Arial" pitchFamily="34" charset="-122"/>
                <a:cs typeface="Arial" pitchFamily="34" charset="-120"/>
              </a:rPr>
              <a:t>ACTION</a:t>
            </a:r>
            <a:endParaRPr lang="en-US" sz="2600" dirty="0"/>
          </a:p>
        </p:txBody>
      </p:sp>
      <p:sp>
        <p:nvSpPr>
          <p:cNvPr id="32" name="Text 29"/>
          <p:cNvSpPr/>
          <p:nvPr/>
        </p:nvSpPr>
        <p:spPr>
          <a:xfrm>
            <a:off x="13990320" y="3182112"/>
            <a:ext cx="3639312" cy="109728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Pending side effect: tool + args + irreversibility.</a:t>
            </a:r>
            <a:endParaRPr lang="en-US" sz="1500" dirty="0"/>
          </a:p>
        </p:txBody>
      </p:sp>
      <p:sp>
        <p:nvSpPr>
          <p:cNvPr id="33" name="Shape 30"/>
          <p:cNvSpPr/>
          <p:nvPr/>
        </p:nvSpPr>
        <p:spPr>
          <a:xfrm>
            <a:off x="950976" y="4791456"/>
            <a:ext cx="5394960" cy="2148840"/>
          </a:xfrm>
          <a:prstGeom prst="rect">
            <a:avLst/>
          </a:prstGeom>
          <a:solidFill>
            <a:srgbClr val="1A0D0A"/>
          </a:solidFill>
          <a:ln w="8636">
            <a:solidFill>
              <a:srgbClr val="3A1E16"/>
            </a:solidFill>
            <a:prstDash val="solid"/>
          </a:ln>
        </p:spPr>
      </p:sp>
      <p:sp>
        <p:nvSpPr>
          <p:cNvPr id="34" name="Text 31"/>
          <p:cNvSpPr/>
          <p:nvPr/>
        </p:nvSpPr>
        <p:spPr>
          <a:xfrm>
            <a:off x="1207008" y="4956048"/>
            <a:ext cx="4882896" cy="329184"/>
          </a:xfrm>
          <a:prstGeom prst="rect">
            <a:avLst/>
          </a:prstGeom>
          <a:noFill/>
          <a:ln/>
        </p:spPr>
        <p:txBody>
          <a:bodyPr wrap="square" lIns="0" tIns="0" rIns="0" bIns="0" rtlCol="0" anchor="ctr"/>
          <a:lstStyle/>
          <a:p>
            <a:pPr indent="0" marL="0">
              <a:buNone/>
            </a:pPr>
            <a:r>
              <a:rPr lang="en-US" sz="1500" b="1" spc="140" kern="0" dirty="0">
                <a:solidFill>
                  <a:srgbClr val="D9482A"/>
                </a:solidFill>
                <a:latin typeface="Arial" pitchFamily="34" charset="0"/>
                <a:ea typeface="Arial" pitchFamily="34" charset="-122"/>
                <a:cs typeface="Arial" pitchFamily="34" charset="-120"/>
              </a:rPr>
              <a:t>→  PERFORMANCE</a:t>
            </a:r>
            <a:endParaRPr lang="en-US" sz="1500" dirty="0"/>
          </a:p>
        </p:txBody>
      </p:sp>
      <p:sp>
        <p:nvSpPr>
          <p:cNvPr id="35" name="Text 32"/>
          <p:cNvSpPr/>
          <p:nvPr/>
        </p:nvSpPr>
        <p:spPr>
          <a:xfrm>
            <a:off x="1207008" y="5376672"/>
            <a:ext cx="4882896" cy="1188720"/>
          </a:xfrm>
          <a:prstGeom prst="rect">
            <a:avLst/>
          </a:prstGeom>
          <a:noFill/>
          <a:ln/>
        </p:spPr>
        <p:txBody>
          <a:bodyPr wrap="square" lIns="0" tIns="0" rIns="0" bIns="0" rtlCol="0" anchor="t"/>
          <a:lstStyle/>
          <a:p>
            <a:pPr indent="0" marL="0">
              <a:buNone/>
            </a:pPr>
            <a:r>
              <a:rPr lang="en-US" sz="1800" dirty="0">
                <a:solidFill>
                  <a:srgbClr val="F2E3D5"/>
                </a:solidFill>
                <a:latin typeface="Arial" pitchFamily="34" charset="0"/>
                <a:ea typeface="Arial" pitchFamily="34" charset="-122"/>
                <a:cs typeface="Arial" pitchFamily="34" charset="-120"/>
              </a:rPr>
              <a:t>Does each claim bind to a span?</a:t>
            </a:r>
            <a:endParaRPr lang="en-US" sz="1800" dirty="0"/>
          </a:p>
        </p:txBody>
      </p:sp>
      <p:sp>
        <p:nvSpPr>
          <p:cNvPr id="36" name="Shape 33"/>
          <p:cNvSpPr/>
          <p:nvPr/>
        </p:nvSpPr>
        <p:spPr>
          <a:xfrm>
            <a:off x="6528816" y="4791456"/>
            <a:ext cx="5394960" cy="2148840"/>
          </a:xfrm>
          <a:prstGeom prst="rect">
            <a:avLst/>
          </a:prstGeom>
          <a:solidFill>
            <a:srgbClr val="1A0D0A"/>
          </a:solidFill>
          <a:ln w="8636">
            <a:solidFill>
              <a:srgbClr val="3A1E16"/>
            </a:solidFill>
            <a:prstDash val="solid"/>
          </a:ln>
        </p:spPr>
      </p:sp>
      <p:sp>
        <p:nvSpPr>
          <p:cNvPr id="37" name="Text 34"/>
          <p:cNvSpPr/>
          <p:nvPr/>
        </p:nvSpPr>
        <p:spPr>
          <a:xfrm>
            <a:off x="6784848" y="4956048"/>
            <a:ext cx="4882896" cy="329184"/>
          </a:xfrm>
          <a:prstGeom prst="rect">
            <a:avLst/>
          </a:prstGeom>
          <a:noFill/>
          <a:ln/>
        </p:spPr>
        <p:txBody>
          <a:bodyPr wrap="square" lIns="0" tIns="0" rIns="0" bIns="0" rtlCol="0" anchor="ctr"/>
          <a:lstStyle/>
          <a:p>
            <a:pPr indent="0" marL="0">
              <a:buNone/>
            </a:pPr>
            <a:r>
              <a:rPr lang="en-US" sz="1500" b="1" spc="140" kern="0" dirty="0">
                <a:solidFill>
                  <a:srgbClr val="D9482A"/>
                </a:solidFill>
                <a:latin typeface="Arial" pitchFamily="34" charset="0"/>
                <a:ea typeface="Arial" pitchFamily="34" charset="-122"/>
                <a:cs typeface="Arial" pitchFamily="34" charset="-120"/>
              </a:rPr>
              <a:t>←  COST</a:t>
            </a:r>
            <a:endParaRPr lang="en-US" sz="1500" dirty="0"/>
          </a:p>
        </p:txBody>
      </p:sp>
      <p:sp>
        <p:nvSpPr>
          <p:cNvPr id="38" name="Text 35"/>
          <p:cNvSpPr/>
          <p:nvPr/>
        </p:nvSpPr>
        <p:spPr>
          <a:xfrm>
            <a:off x="6784848" y="5376672"/>
            <a:ext cx="4882896" cy="1188720"/>
          </a:xfrm>
          <a:prstGeom prst="rect">
            <a:avLst/>
          </a:prstGeom>
          <a:noFill/>
          <a:ln/>
        </p:spPr>
        <p:txBody>
          <a:bodyPr wrap="square" lIns="0" tIns="0" rIns="0" bIns="0" rtlCol="0" anchor="t"/>
          <a:lstStyle/>
          <a:p>
            <a:pPr indent="0" marL="0">
              <a:buNone/>
            </a:pPr>
            <a:r>
              <a:rPr lang="en-US" sz="1800" dirty="0">
                <a:solidFill>
                  <a:srgbClr val="F2E3D5"/>
                </a:solidFill>
                <a:latin typeface="Arial" pitchFamily="34" charset="0"/>
                <a:ea typeface="Arial" pitchFamily="34" charset="-122"/>
                <a:cs typeface="Arial" pitchFamily="34" charset="-120"/>
              </a:rPr>
              <a:t>Did each step ground any accepted claim?</a:t>
            </a:r>
            <a:endParaRPr lang="en-US" sz="1800" dirty="0"/>
          </a:p>
        </p:txBody>
      </p:sp>
      <p:sp>
        <p:nvSpPr>
          <p:cNvPr id="39" name="Shape 36"/>
          <p:cNvSpPr/>
          <p:nvPr/>
        </p:nvSpPr>
        <p:spPr>
          <a:xfrm>
            <a:off x="12106656" y="4791456"/>
            <a:ext cx="5394960" cy="2148840"/>
          </a:xfrm>
          <a:prstGeom prst="rect">
            <a:avLst/>
          </a:prstGeom>
          <a:solidFill>
            <a:srgbClr val="1A0D0A"/>
          </a:solidFill>
          <a:ln w="8636">
            <a:solidFill>
              <a:srgbClr val="3A1E16"/>
            </a:solidFill>
            <a:prstDash val="solid"/>
          </a:ln>
        </p:spPr>
      </p:sp>
      <p:sp>
        <p:nvSpPr>
          <p:cNvPr id="40" name="Text 37"/>
          <p:cNvSpPr/>
          <p:nvPr/>
        </p:nvSpPr>
        <p:spPr>
          <a:xfrm>
            <a:off x="12362688" y="4956048"/>
            <a:ext cx="4882896" cy="329184"/>
          </a:xfrm>
          <a:prstGeom prst="rect">
            <a:avLst/>
          </a:prstGeom>
          <a:noFill/>
          <a:ln/>
        </p:spPr>
        <p:txBody>
          <a:bodyPr wrap="square" lIns="0" tIns="0" rIns="0" bIns="0" rtlCol="0" anchor="ctr"/>
          <a:lstStyle/>
          <a:p>
            <a:pPr indent="0" marL="0">
              <a:buNone/>
            </a:pPr>
            <a:r>
              <a:rPr lang="en-US" sz="1500" b="1" spc="140" kern="0" dirty="0">
                <a:solidFill>
                  <a:srgbClr val="D9482A"/>
                </a:solidFill>
                <a:latin typeface="Arial" pitchFamily="34" charset="0"/>
                <a:ea typeface="Arial" pitchFamily="34" charset="-122"/>
                <a:cs typeface="Arial" pitchFamily="34" charset="-120"/>
              </a:rPr>
              <a:t>≡  RESPONSIBILITY</a:t>
            </a:r>
            <a:endParaRPr lang="en-US" sz="1500" dirty="0"/>
          </a:p>
        </p:txBody>
      </p:sp>
      <p:sp>
        <p:nvSpPr>
          <p:cNvPr id="41" name="Text 38"/>
          <p:cNvSpPr/>
          <p:nvPr/>
        </p:nvSpPr>
        <p:spPr>
          <a:xfrm>
            <a:off x="12362688" y="5376672"/>
            <a:ext cx="4882896" cy="1188720"/>
          </a:xfrm>
          <a:prstGeom prst="rect">
            <a:avLst/>
          </a:prstGeom>
          <a:noFill/>
          <a:ln/>
        </p:spPr>
        <p:txBody>
          <a:bodyPr wrap="square" lIns="0" tIns="0" rIns="0" bIns="0" rtlCol="0" anchor="t"/>
          <a:lstStyle/>
          <a:p>
            <a:pPr indent="0" marL="0">
              <a:buNone/>
            </a:pPr>
            <a:r>
              <a:rPr lang="en-US" sz="1800" dirty="0">
                <a:solidFill>
                  <a:srgbClr val="F2E3D5"/>
                </a:solidFill>
                <a:latin typeface="Arial" pitchFamily="34" charset="0"/>
                <a:ea typeface="Arial" pitchFamily="34" charset="-122"/>
                <a:cs typeface="Arial" pitchFamily="34" charset="-120"/>
              </a:rPr>
              <a:t>Is the caller entitled to every span a claim binds to?</a:t>
            </a:r>
            <a:endParaRPr lang="en-US" sz="1800" dirty="0"/>
          </a:p>
        </p:txBody>
      </p:sp>
      <p:sp>
        <p:nvSpPr>
          <p:cNvPr id="42" name="Shape 39"/>
          <p:cNvSpPr/>
          <p:nvPr/>
        </p:nvSpPr>
        <p:spPr>
          <a:xfrm>
            <a:off x="950976" y="7114032"/>
            <a:ext cx="16386048" cy="2212848"/>
          </a:xfrm>
          <a:prstGeom prst="rect">
            <a:avLst/>
          </a:prstGeom>
          <a:solidFill>
            <a:srgbClr val="1A0D0A"/>
          </a:solidFill>
          <a:ln w="12700">
            <a:solidFill>
              <a:srgbClr val="D9482A"/>
            </a:solidFill>
            <a:prstDash val="solid"/>
          </a:ln>
        </p:spPr>
      </p:sp>
      <p:sp>
        <p:nvSpPr>
          <p:cNvPr id="43" name="Text 40"/>
          <p:cNvSpPr/>
          <p:nvPr/>
        </p:nvSpPr>
        <p:spPr>
          <a:xfrm>
            <a:off x="1243584" y="7278624"/>
            <a:ext cx="15819120" cy="292608"/>
          </a:xfrm>
          <a:prstGeom prst="rect">
            <a:avLst/>
          </a:prstGeom>
          <a:noFill/>
          <a:ln/>
        </p:spPr>
        <p:txBody>
          <a:bodyPr wrap="square" lIns="0" tIns="0" rIns="0" bIns="0" rtlCol="0" anchor="ctr"/>
          <a:lstStyle/>
          <a:p>
            <a:pPr indent="0" marL="0">
              <a:buNone/>
            </a:pPr>
            <a:r>
              <a:rPr lang="en-US" sz="1400" spc="180" kern="0" dirty="0">
                <a:solidFill>
                  <a:srgbClr val="D9482A"/>
                </a:solidFill>
                <a:latin typeface="Arial" pitchFamily="34" charset="0"/>
                <a:ea typeface="Arial" pitchFamily="34" charset="-122"/>
                <a:cs typeface="Arial" pitchFamily="34" charset="-120"/>
              </a:rPr>
              <a:t>KEYSTONE  ·  PROVENANCE RECORDER</a:t>
            </a:r>
            <a:endParaRPr lang="en-US" sz="1400" dirty="0"/>
          </a:p>
        </p:txBody>
      </p:sp>
      <p:sp>
        <p:nvSpPr>
          <p:cNvPr id="44" name="Text 41"/>
          <p:cNvSpPr/>
          <p:nvPr/>
        </p:nvSpPr>
        <p:spPr>
          <a:xfrm>
            <a:off x="1243584" y="7626096"/>
            <a:ext cx="15819120" cy="438912"/>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Everywhere else that's three products. Here it's three questions on one graph.</a:t>
            </a:r>
            <a:endParaRPr lang="en-US" sz="2200" dirty="0"/>
          </a:p>
        </p:txBody>
      </p:sp>
      <p:sp>
        <p:nvSpPr>
          <p:cNvPr id="45" name="Text 42"/>
          <p:cNvSpPr/>
          <p:nvPr/>
        </p:nvSpPr>
        <p:spPr>
          <a:xfrm>
            <a:off x="1243584" y="8138160"/>
            <a:ext cx="15819120" cy="86868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Hooks context assembly, not the model. Spans freeze before generation. The model has no channel to declare a binding. Actuators: Block · Edit · Escalate · Pass.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04 // DEMO 01</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636776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04 · DEMO 01 / 03  ·  python3 examples/refund_trace_demo.py</a:t>
            </a:r>
            <a:endParaRPr lang="en-US" sz="1500" dirty="0"/>
          </a:p>
        </p:txBody>
      </p:sp>
      <p:sp>
        <p:nvSpPr>
          <p:cNvPr id="12" name="Text 9"/>
          <p:cNvSpPr/>
          <p:nvPr/>
        </p:nvSpPr>
        <p:spPr>
          <a:xfrm>
            <a:off x="950976" y="1225296"/>
            <a:ext cx="16367760" cy="566928"/>
          </a:xfrm>
          <a:prstGeom prst="rect">
            <a:avLst/>
          </a:prstGeom>
          <a:noFill/>
          <a:ln/>
        </p:spPr>
        <p:txBody>
          <a:bodyPr wrap="square" lIns="0" tIns="0" rIns="0" bIns="0" rtlCol="0" anchor="t"/>
          <a:lstStyle/>
          <a:p>
            <a:pPr algn="l" indent="0" marL="0">
              <a:buNone/>
            </a:pPr>
            <a:r>
              <a:rPr lang="en-US" sz="3200" b="1" spc="-75" kern="0" dirty="0">
                <a:solidFill>
                  <a:srgbClr val="F2E3D5"/>
                </a:solidFill>
                <a:latin typeface="Arial" pitchFamily="34" charset="0"/>
                <a:ea typeface="Arial" pitchFamily="34" charset="-122"/>
                <a:cs typeface="Arial" pitchFamily="34" charset="-120"/>
              </a:rPr>
              <a:t>NOT LOW CONFIDENCE. </a:t>
            </a:r>
            <a:pPr algn="l" indent="0" marL="0">
              <a:buNone/>
            </a:pPr>
            <a:r>
              <a:rPr lang="en-US" sz="3200" b="1" spc="-75" kern="0" dirty="0">
                <a:solidFill>
                  <a:srgbClr val="D9482A"/>
                </a:solidFill>
                <a:latin typeface="Arial" pitchFamily="34" charset="0"/>
                <a:ea typeface="Arial" pitchFamily="34" charset="-122"/>
                <a:cs typeface="Arial" pitchFamily="34" charset="-120"/>
              </a:rPr>
              <a:t>UNPROVEN</a:t>
            </a:r>
            <a:pPr algn="l" indent="0" marL="0">
              <a:buNone/>
            </a:pPr>
            <a:r>
              <a:rPr lang="en-US" sz="3200" b="1" spc="-75" kern="0" dirty="0">
                <a:solidFill>
                  <a:srgbClr val="F2E3D5"/>
                </a:solidFill>
                <a:latin typeface="Arial" pitchFamily="34" charset="0"/>
                <a:ea typeface="Arial" pitchFamily="34" charset="-122"/>
                <a:cs typeface="Arial" pitchFamily="34" charset="-120"/>
              </a:rPr>
              <a:t>.</a:t>
            </a:r>
            <a:endParaRPr lang="en-US" sz="3200" dirty="0"/>
          </a:p>
        </p:txBody>
      </p:sp>
      <p:sp>
        <p:nvSpPr>
          <p:cNvPr id="13" name="Shape 10"/>
          <p:cNvSpPr/>
          <p:nvPr/>
        </p:nvSpPr>
        <p:spPr>
          <a:xfrm>
            <a:off x="950976" y="1920240"/>
            <a:ext cx="7818120" cy="3246120"/>
          </a:xfrm>
          <a:prstGeom prst="rect">
            <a:avLst/>
          </a:prstGeom>
          <a:solidFill>
            <a:srgbClr val="1A0D0A"/>
          </a:solidFill>
          <a:ln w="8636">
            <a:solidFill>
              <a:srgbClr val="5A2E20"/>
            </a:solidFill>
            <a:prstDash val="solid"/>
          </a:ln>
        </p:spPr>
      </p:sp>
      <p:sp>
        <p:nvSpPr>
          <p:cNvPr id="14" name="Shape 11"/>
          <p:cNvSpPr/>
          <p:nvPr/>
        </p:nvSpPr>
        <p:spPr>
          <a:xfrm>
            <a:off x="960120" y="2359152"/>
            <a:ext cx="7799832" cy="9144"/>
          </a:xfrm>
          <a:prstGeom prst="rect">
            <a:avLst/>
          </a:prstGeom>
          <a:solidFill>
            <a:srgbClr val="3A1E16"/>
          </a:solidFill>
          <a:ln/>
        </p:spPr>
      </p:sp>
      <p:sp>
        <p:nvSpPr>
          <p:cNvPr id="15" name="Text 12"/>
          <p:cNvSpPr/>
          <p:nvPr/>
        </p:nvSpPr>
        <p:spPr>
          <a:xfrm>
            <a:off x="1115568" y="1993392"/>
            <a:ext cx="4020617"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CLAIM  clause_72</a:t>
            </a:r>
            <a:endParaRPr lang="en-US" sz="1300" dirty="0"/>
          </a:p>
        </p:txBody>
      </p:sp>
      <p:sp>
        <p:nvSpPr>
          <p:cNvPr id="16" name="Text 13"/>
          <p:cNvSpPr/>
          <p:nvPr/>
        </p:nvSpPr>
        <p:spPr>
          <a:xfrm>
            <a:off x="5485486" y="1993392"/>
            <a:ext cx="3100730"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kind=structural · categorical</a:t>
            </a:r>
            <a:endParaRPr lang="en-US" sz="1300" dirty="0"/>
          </a:p>
        </p:txBody>
      </p:sp>
      <p:sp>
        <p:nvSpPr>
          <p:cNvPr id="17" name="Text 14"/>
          <p:cNvSpPr/>
          <p:nvPr/>
        </p:nvSpPr>
        <p:spPr>
          <a:xfrm>
            <a:off x="1207008" y="2542032"/>
            <a:ext cx="7360920" cy="640080"/>
          </a:xfrm>
          <a:prstGeom prst="rect">
            <a:avLst/>
          </a:prstGeom>
          <a:noFill/>
          <a:ln/>
        </p:spPr>
        <p:txBody>
          <a:bodyPr wrap="square" lIns="0" tIns="0" rIns="0" bIns="0" rtlCol="0" anchor="ctr"/>
          <a:lstStyle/>
          <a:p>
            <a:pPr indent="0" marL="0">
              <a:buNone/>
            </a:pPr>
            <a:r>
              <a:rPr lang="en-US" sz="2200" i="1" dirty="0">
                <a:solidFill>
                  <a:srgbClr val="F2E3D5"/>
                </a:solidFill>
                <a:latin typeface="Arial" pitchFamily="34" charset="0"/>
                <a:ea typeface="Arial" pitchFamily="34" charset="-122"/>
                <a:cs typeface="Arial" pitchFamily="34" charset="-120"/>
              </a:rPr>
              <a:t>“Clause 7.2 permits this refund”</a:t>
            </a:r>
            <a:endParaRPr lang="en-US" sz="2200" dirty="0"/>
          </a:p>
        </p:txBody>
      </p:sp>
      <p:sp>
        <p:nvSpPr>
          <p:cNvPr id="18" name="Text 15"/>
          <p:cNvSpPr/>
          <p:nvPr/>
        </p:nvSpPr>
        <p:spPr>
          <a:xfrm>
            <a:off x="1207008" y="3218688"/>
            <a:ext cx="7360920" cy="292608"/>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Roles:  issue_refund,  show_text</a:t>
            </a:r>
            <a:endParaRPr lang="en-US" sz="1500" dirty="0"/>
          </a:p>
        </p:txBody>
      </p:sp>
      <p:sp>
        <p:nvSpPr>
          <p:cNvPr id="19" name="Text 16"/>
          <p:cNvSpPr/>
          <p:nvPr/>
        </p:nvSpPr>
        <p:spPr>
          <a:xfrm>
            <a:off x="1207008" y="3584448"/>
            <a:ext cx="7360920" cy="50292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Five spans at context assembly. No span for clause 7.2.</a:t>
            </a:r>
            <a:endParaRPr lang="en-US" sz="1600" dirty="0"/>
          </a:p>
        </p:txBody>
      </p:sp>
      <p:sp>
        <p:nvSpPr>
          <p:cNvPr id="20" name="Text 17"/>
          <p:cNvSpPr/>
          <p:nvPr/>
        </p:nvSpPr>
        <p:spPr>
          <a:xfrm>
            <a:off x="1207008" y="4160520"/>
            <a:ext cx="7360920" cy="640080"/>
          </a:xfrm>
          <a:prstGeom prst="rect">
            <a:avLst/>
          </a:prstGeom>
          <a:noFill/>
          <a:ln/>
        </p:spPr>
        <p:txBody>
          <a:bodyPr wrap="square" lIns="0" tIns="0" rIns="0" bIns="0" rtlCol="0" anchor="ctr"/>
          <a:lstStyle/>
          <a:p>
            <a:pPr indent="0" marL="0">
              <a:buNone/>
            </a:pPr>
            <a:r>
              <a:rPr lang="en-US" sz="1600" b="1" dirty="0">
                <a:solidFill>
                  <a:srgbClr val="D9482A"/>
                </a:solidFill>
                <a:latin typeface="Courier New" pitchFamily="34" charset="0"/>
                <a:ea typeface="Courier New" pitchFamily="34" charset="-122"/>
                <a:cs typeface="Courier New" pitchFamily="34" charset="-120"/>
              </a:rPr>
              <a:t>VERDICT   UNSUPPORTED    spans=(none)</a:t>
            </a:r>
            <a:endParaRPr lang="en-US" sz="1600" dirty="0"/>
          </a:p>
        </p:txBody>
      </p:sp>
      <p:sp>
        <p:nvSpPr>
          <p:cNvPr id="21" name="Shape 18"/>
          <p:cNvSpPr/>
          <p:nvPr/>
        </p:nvSpPr>
        <p:spPr>
          <a:xfrm>
            <a:off x="8961120" y="1920240"/>
            <a:ext cx="8375904" cy="3246120"/>
          </a:xfrm>
          <a:prstGeom prst="rect">
            <a:avLst/>
          </a:prstGeom>
          <a:solidFill>
            <a:srgbClr val="1A0D0A"/>
          </a:solidFill>
          <a:ln w="8636">
            <a:solidFill>
              <a:srgbClr val="5A2E20"/>
            </a:solidFill>
            <a:prstDash val="solid"/>
          </a:ln>
        </p:spPr>
      </p:sp>
      <p:sp>
        <p:nvSpPr>
          <p:cNvPr id="22" name="Shape 19"/>
          <p:cNvSpPr/>
          <p:nvPr/>
        </p:nvSpPr>
        <p:spPr>
          <a:xfrm>
            <a:off x="8970264" y="2359152"/>
            <a:ext cx="8357616" cy="9144"/>
          </a:xfrm>
          <a:prstGeom prst="rect">
            <a:avLst/>
          </a:prstGeom>
          <a:solidFill>
            <a:srgbClr val="3A1E16"/>
          </a:solidFill>
          <a:ln/>
        </p:spPr>
      </p:sp>
      <p:sp>
        <p:nvSpPr>
          <p:cNvPr id="23" name="Text 20"/>
          <p:cNvSpPr/>
          <p:nvPr/>
        </p:nvSpPr>
        <p:spPr>
          <a:xfrm>
            <a:off x="9125712" y="1993392"/>
            <a:ext cx="4321820"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SPANS AT ASSEMBLY</a:t>
            </a:r>
            <a:endParaRPr lang="en-US" sz="1300" dirty="0"/>
          </a:p>
        </p:txBody>
      </p:sp>
      <p:sp>
        <p:nvSpPr>
          <p:cNvPr id="24" name="Text 21"/>
          <p:cNvSpPr/>
          <p:nvPr/>
        </p:nvSpPr>
        <p:spPr>
          <a:xfrm>
            <a:off x="13819144" y="1993392"/>
            <a:ext cx="3335000"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n=5</a:t>
            </a:r>
            <a:endParaRPr lang="en-US" sz="1300" dirty="0"/>
          </a:p>
        </p:txBody>
      </p:sp>
      <p:sp>
        <p:nvSpPr>
          <p:cNvPr id="25" name="Text 22"/>
          <p:cNvSpPr/>
          <p:nvPr/>
        </p:nvSpPr>
        <p:spPr>
          <a:xfrm>
            <a:off x="9189720" y="2487168"/>
            <a:ext cx="1234440" cy="384048"/>
          </a:xfrm>
          <a:prstGeom prst="rect">
            <a:avLst/>
          </a:prstGeom>
          <a:noFill/>
          <a:ln/>
        </p:spPr>
        <p:txBody>
          <a:bodyPr wrap="square" lIns="0" tIns="0" rIns="0" bIns="0" rtlCol="0" anchor="ctr"/>
          <a:lstStyle/>
          <a:p>
            <a:pPr indent="0" marL="0">
              <a:buNone/>
            </a:pPr>
            <a:r>
              <a:rPr lang="en-US" sz="1300" dirty="0">
                <a:solidFill>
                  <a:srgbClr val="F2C572"/>
                </a:solidFill>
                <a:latin typeface="Courier New" pitchFamily="34" charset="0"/>
                <a:ea typeface="Courier New" pitchFamily="34" charset="-122"/>
                <a:cs typeface="Courier New" pitchFamily="34" charset="-120"/>
              </a:rPr>
              <a:t>span-1</a:t>
            </a:r>
            <a:endParaRPr lang="en-US" sz="1300" dirty="0"/>
          </a:p>
        </p:txBody>
      </p:sp>
      <p:sp>
        <p:nvSpPr>
          <p:cNvPr id="26" name="Text 23"/>
          <p:cNvSpPr/>
          <p:nvPr/>
        </p:nvSpPr>
        <p:spPr>
          <a:xfrm>
            <a:off x="10469880" y="2487168"/>
            <a:ext cx="416052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doc:vendor-agreement-v3</a:t>
            </a:r>
            <a:endParaRPr lang="en-US" sz="1400" dirty="0"/>
          </a:p>
        </p:txBody>
      </p:sp>
      <p:sp>
        <p:nvSpPr>
          <p:cNvPr id="27" name="Text 24"/>
          <p:cNvSpPr/>
          <p:nvPr/>
        </p:nvSpPr>
        <p:spPr>
          <a:xfrm>
            <a:off x="14676120" y="2487168"/>
            <a:ext cx="2423160" cy="38404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vendor-public</a:t>
            </a:r>
            <a:endParaRPr lang="en-US" sz="1300" dirty="0"/>
          </a:p>
        </p:txBody>
      </p:sp>
      <p:sp>
        <p:nvSpPr>
          <p:cNvPr id="28" name="Text 25"/>
          <p:cNvSpPr/>
          <p:nvPr/>
        </p:nvSpPr>
        <p:spPr>
          <a:xfrm>
            <a:off x="9189720" y="2962656"/>
            <a:ext cx="1234440" cy="384048"/>
          </a:xfrm>
          <a:prstGeom prst="rect">
            <a:avLst/>
          </a:prstGeom>
          <a:noFill/>
          <a:ln/>
        </p:spPr>
        <p:txBody>
          <a:bodyPr wrap="square" lIns="0" tIns="0" rIns="0" bIns="0" rtlCol="0" anchor="ctr"/>
          <a:lstStyle/>
          <a:p>
            <a:pPr indent="0" marL="0">
              <a:buNone/>
            </a:pPr>
            <a:r>
              <a:rPr lang="en-US" sz="1300" dirty="0">
                <a:solidFill>
                  <a:srgbClr val="F2C572"/>
                </a:solidFill>
                <a:latin typeface="Courier New" pitchFamily="34" charset="0"/>
                <a:ea typeface="Courier New" pitchFamily="34" charset="-122"/>
                <a:cs typeface="Courier New" pitchFamily="34" charset="-120"/>
              </a:rPr>
              <a:t>span-2</a:t>
            </a:r>
            <a:endParaRPr lang="en-US" sz="1300" dirty="0"/>
          </a:p>
        </p:txBody>
      </p:sp>
      <p:sp>
        <p:nvSpPr>
          <p:cNvPr id="29" name="Text 26"/>
          <p:cNvSpPr/>
          <p:nvPr/>
        </p:nvSpPr>
        <p:spPr>
          <a:xfrm>
            <a:off x="10469880" y="2962656"/>
            <a:ext cx="416052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db:orders  ·  ORD-9</a:t>
            </a:r>
            <a:endParaRPr lang="en-US" sz="1400" dirty="0"/>
          </a:p>
        </p:txBody>
      </p:sp>
      <p:sp>
        <p:nvSpPr>
          <p:cNvPr id="30" name="Text 27"/>
          <p:cNvSpPr/>
          <p:nvPr/>
        </p:nvSpPr>
        <p:spPr>
          <a:xfrm>
            <a:off x="14676120" y="2962656"/>
            <a:ext cx="2423160" cy="38404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vendor-public</a:t>
            </a:r>
            <a:endParaRPr lang="en-US" sz="1300" dirty="0"/>
          </a:p>
        </p:txBody>
      </p:sp>
      <p:sp>
        <p:nvSpPr>
          <p:cNvPr id="31" name="Text 28"/>
          <p:cNvSpPr/>
          <p:nvPr/>
        </p:nvSpPr>
        <p:spPr>
          <a:xfrm>
            <a:off x="9189720" y="3438144"/>
            <a:ext cx="1234440" cy="384048"/>
          </a:xfrm>
          <a:prstGeom prst="rect">
            <a:avLst/>
          </a:prstGeom>
          <a:noFill/>
          <a:ln/>
        </p:spPr>
        <p:txBody>
          <a:bodyPr wrap="square" lIns="0" tIns="0" rIns="0" bIns="0" rtlCol="0" anchor="ctr"/>
          <a:lstStyle/>
          <a:p>
            <a:pPr indent="0" marL="0">
              <a:buNone/>
            </a:pPr>
            <a:r>
              <a:rPr lang="en-US" sz="1300" dirty="0">
                <a:solidFill>
                  <a:srgbClr val="F2C572"/>
                </a:solidFill>
                <a:latin typeface="Courier New" pitchFamily="34" charset="0"/>
                <a:ea typeface="Courier New" pitchFamily="34" charset="-122"/>
                <a:cs typeface="Courier New" pitchFamily="34" charset="-120"/>
              </a:rPr>
              <a:t>span-3</a:t>
            </a:r>
            <a:endParaRPr lang="en-US" sz="1300" dirty="0"/>
          </a:p>
        </p:txBody>
      </p:sp>
      <p:sp>
        <p:nvSpPr>
          <p:cNvPr id="32" name="Text 29"/>
          <p:cNvSpPr/>
          <p:nvPr/>
        </p:nvSpPr>
        <p:spPr>
          <a:xfrm>
            <a:off x="10469880" y="3438144"/>
            <a:ext cx="416052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doc:hr-exception-desk</a:t>
            </a:r>
            <a:endParaRPr lang="en-US" sz="1400" dirty="0"/>
          </a:p>
        </p:txBody>
      </p:sp>
      <p:sp>
        <p:nvSpPr>
          <p:cNvPr id="33" name="Text 30"/>
          <p:cNvSpPr/>
          <p:nvPr/>
        </p:nvSpPr>
        <p:spPr>
          <a:xfrm>
            <a:off x="14676120" y="3438144"/>
            <a:ext cx="2423160" cy="38404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hr-confidential</a:t>
            </a:r>
            <a:endParaRPr lang="en-US" sz="1300" dirty="0"/>
          </a:p>
        </p:txBody>
      </p:sp>
      <p:sp>
        <p:nvSpPr>
          <p:cNvPr id="34" name="Text 31"/>
          <p:cNvSpPr/>
          <p:nvPr/>
        </p:nvSpPr>
        <p:spPr>
          <a:xfrm>
            <a:off x="9189720" y="3913632"/>
            <a:ext cx="1234440" cy="384048"/>
          </a:xfrm>
          <a:prstGeom prst="rect">
            <a:avLst/>
          </a:prstGeom>
          <a:noFill/>
          <a:ln/>
        </p:spPr>
        <p:txBody>
          <a:bodyPr wrap="square" lIns="0" tIns="0" rIns="0" bIns="0" rtlCol="0" anchor="ctr"/>
          <a:lstStyle/>
          <a:p>
            <a:pPr indent="0" marL="0">
              <a:buNone/>
            </a:pPr>
            <a:r>
              <a:rPr lang="en-US" sz="1300" dirty="0">
                <a:solidFill>
                  <a:srgbClr val="F2C572"/>
                </a:solidFill>
                <a:latin typeface="Courier New" pitchFamily="34" charset="0"/>
                <a:ea typeface="Courier New" pitchFamily="34" charset="-122"/>
                <a:cs typeface="Courier New" pitchFamily="34" charset="-120"/>
              </a:rPr>
              <a:t>span-4</a:t>
            </a:r>
            <a:endParaRPr lang="en-US" sz="1300" dirty="0"/>
          </a:p>
        </p:txBody>
      </p:sp>
      <p:sp>
        <p:nvSpPr>
          <p:cNvPr id="35" name="Text 32"/>
          <p:cNvSpPr/>
          <p:nvPr/>
        </p:nvSpPr>
        <p:spPr>
          <a:xfrm>
            <a:off x="10469880" y="3913632"/>
            <a:ext cx="416052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doc:faq</a:t>
            </a:r>
            <a:endParaRPr lang="en-US" sz="1400" dirty="0"/>
          </a:p>
        </p:txBody>
      </p:sp>
      <p:sp>
        <p:nvSpPr>
          <p:cNvPr id="36" name="Text 33"/>
          <p:cNvSpPr/>
          <p:nvPr/>
        </p:nvSpPr>
        <p:spPr>
          <a:xfrm>
            <a:off x="14676120" y="3913632"/>
            <a:ext cx="2423160" cy="38404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vendor-public</a:t>
            </a:r>
            <a:endParaRPr lang="en-US" sz="1300" dirty="0"/>
          </a:p>
        </p:txBody>
      </p:sp>
      <p:sp>
        <p:nvSpPr>
          <p:cNvPr id="37" name="Text 34"/>
          <p:cNvSpPr/>
          <p:nvPr/>
        </p:nvSpPr>
        <p:spPr>
          <a:xfrm>
            <a:off x="9189720" y="4389120"/>
            <a:ext cx="1234440" cy="384048"/>
          </a:xfrm>
          <a:prstGeom prst="rect">
            <a:avLst/>
          </a:prstGeom>
          <a:noFill/>
          <a:ln/>
        </p:spPr>
        <p:txBody>
          <a:bodyPr wrap="square" lIns="0" tIns="0" rIns="0" bIns="0" rtlCol="0" anchor="ctr"/>
          <a:lstStyle/>
          <a:p>
            <a:pPr indent="0" marL="0">
              <a:buNone/>
            </a:pPr>
            <a:r>
              <a:rPr lang="en-US" sz="1300" dirty="0">
                <a:solidFill>
                  <a:srgbClr val="F2C572"/>
                </a:solidFill>
                <a:latin typeface="Courier New" pitchFamily="34" charset="0"/>
                <a:ea typeface="Courier New" pitchFamily="34" charset="-122"/>
                <a:cs typeface="Courier New" pitchFamily="34" charset="-120"/>
              </a:rPr>
              <a:t>span-5</a:t>
            </a:r>
            <a:endParaRPr lang="en-US" sz="1300" dirty="0"/>
          </a:p>
        </p:txBody>
      </p:sp>
      <p:sp>
        <p:nvSpPr>
          <p:cNvPr id="38" name="Text 35"/>
          <p:cNvSpPr/>
          <p:nvPr/>
        </p:nvSpPr>
        <p:spPr>
          <a:xfrm>
            <a:off x="10469880" y="4389120"/>
            <a:ext cx="416052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db:crm  ·  T-441</a:t>
            </a:r>
            <a:endParaRPr lang="en-US" sz="1400" dirty="0"/>
          </a:p>
        </p:txBody>
      </p:sp>
      <p:sp>
        <p:nvSpPr>
          <p:cNvPr id="39" name="Text 36"/>
          <p:cNvSpPr/>
          <p:nvPr/>
        </p:nvSpPr>
        <p:spPr>
          <a:xfrm>
            <a:off x="14676120" y="4389120"/>
            <a:ext cx="2423160" cy="38404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vendor-public</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950976" y="5349240"/>
          <a:ext cx="16386048" cy="1965960"/>
        </p:xfrm>
        <a:graphic>
          <a:graphicData uri="http://schemas.openxmlformats.org/drawingml/2006/table">
            <a:tbl>
              <a:tblPr/>
              <a:tblGrid>
                <a:gridCol w="7498080"/>
                <a:gridCol w="4023360"/>
                <a:gridCol w="4864608"/>
              </a:tblGrid>
              <a:tr h="655320">
                <a:tc>
                  <a:txBody>
                    <a:bodyPr/>
                    <a:lstStyle/>
                    <a:p>
                      <a:pPr algn="l" indent="0" marL="0">
                        <a:buNone/>
                      </a:pPr>
                      <a:r>
                        <a:rPr lang="en-US" sz="1300" b="1" dirty="0">
                          <a:solidFill>
                            <a:srgbClr val="7A5D4E"/>
                          </a:solidFill>
                          <a:latin typeface="Arial" pitchFamily="34" charset="0"/>
                          <a:ea typeface="Arial" pitchFamily="34" charset="-122"/>
                          <a:cs typeface="Arial" pitchFamily="34" charset="-120"/>
                        </a:rPr>
                        <a:t>claim_id</a:t>
                      </a:r>
                      <a:endParaRPr lang="en-US" sz="1300" dirty="0">
                        <a:latin typeface="Arial" charset="0"/>
                        <a:ea typeface="Arial" charset="0"/>
                        <a:cs typeface="Arial" charset="0"/>
                      </a:endParaRPr>
                    </a:p>
                  </a:txBody>
                  <a:tcPr marL="101600" marR="101600" marT="88900" marB="889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2A140F"/>
                    </a:solidFill>
                  </a:tcPr>
                </a:tc>
                <a:tc>
                  <a:txBody>
                    <a:bodyPr/>
                    <a:lstStyle/>
                    <a:p>
                      <a:pPr algn="l" indent="0" marL="0">
                        <a:buNone/>
                      </a:pPr>
                      <a:r>
                        <a:rPr lang="en-US" sz="1300" b="1" dirty="0">
                          <a:solidFill>
                            <a:srgbClr val="7A5D4E"/>
                          </a:solidFill>
                          <a:latin typeface="Arial" pitchFamily="34" charset="0"/>
                          <a:ea typeface="Arial" pitchFamily="34" charset="-122"/>
                          <a:cs typeface="Arial" pitchFamily="34" charset="-120"/>
                        </a:rPr>
                        <a:t>verdict</a:t>
                      </a:r>
                      <a:endParaRPr lang="en-US" sz="1300" dirty="0">
                        <a:latin typeface="Arial" charset="0"/>
                        <a:ea typeface="Arial" charset="0"/>
                        <a:cs typeface="Arial" charset="0"/>
                      </a:endParaRPr>
                    </a:p>
                  </a:txBody>
                  <a:tcPr marL="101600" marR="101600" marT="88900" marB="889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2A140F"/>
                    </a:solidFill>
                  </a:tcPr>
                </a:tc>
                <a:tc>
                  <a:txBody>
                    <a:bodyPr/>
                    <a:lstStyle/>
                    <a:p>
                      <a:pPr algn="l" indent="0" marL="0">
                        <a:buNone/>
                      </a:pPr>
                      <a:r>
                        <a:rPr lang="en-US" sz="1300" b="1" dirty="0">
                          <a:solidFill>
                            <a:srgbClr val="7A5D4E"/>
                          </a:solidFill>
                          <a:latin typeface="Arial" pitchFamily="34" charset="0"/>
                          <a:ea typeface="Arial" pitchFamily="34" charset="-122"/>
                          <a:cs typeface="Arial" pitchFamily="34" charset="-120"/>
                        </a:rPr>
                        <a:t>spans</a:t>
                      </a:r>
                      <a:endParaRPr lang="en-US" sz="1300" dirty="0">
                        <a:latin typeface="Arial" charset="0"/>
                        <a:ea typeface="Arial" charset="0"/>
                        <a:cs typeface="Arial" charset="0"/>
                      </a:endParaRPr>
                    </a:p>
                  </a:txBody>
                  <a:tcPr marL="101600" marR="101600" marT="88900" marB="889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2A140F"/>
                    </a:solidFill>
                  </a:tcPr>
                </a:tc>
              </a:tr>
              <a:tr h="655320">
                <a:tc>
                  <a:txBody>
                    <a:bodyPr/>
                    <a:lstStyle/>
                    <a:p>
                      <a:pPr indent="0" marL="0">
                        <a:buNone/>
                      </a:pPr>
                      <a:r>
                        <a:rPr lang="en-US" sz="1400" dirty="0">
                          <a:solidFill>
                            <a:srgbClr val="F2E3D5"/>
                          </a:solidFill>
                          <a:latin typeface="Arial" pitchFamily="34" charset="0"/>
                          <a:ea typeface="Arial" pitchFamily="34" charset="-122"/>
                          <a:cs typeface="Arial" pitchFamily="34" charset="-120"/>
                        </a:rPr>
                        <a:t>approval · amount · order · vendor_41 · hr_side</a:t>
                      </a:r>
                      <a:endParaRPr lang="en-US" sz="1400" dirty="0">
                        <a:latin typeface="Arial" charset="0"/>
                        <a:ea typeface="Arial" charset="0"/>
                        <a:cs typeface="Arial" charset="0"/>
                      </a:endParaRPr>
                    </a:p>
                  </a:txBody>
                  <a:tcPr marL="101600" marR="101600" marT="101600" marB="1016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1A0D0A"/>
                    </a:solidFill>
                  </a:tcPr>
                </a:tc>
                <a:tc>
                  <a:txBody>
                    <a:bodyPr/>
                    <a:lstStyle/>
                    <a:p>
                      <a:pPr indent="0" marL="0">
                        <a:buNone/>
                      </a:pPr>
                      <a:r>
                        <a:rPr lang="en-US" sz="1400" b="1" dirty="0">
                          <a:solidFill>
                            <a:srgbClr val="F2E3D5"/>
                          </a:solidFill>
                          <a:latin typeface="Arial" pitchFamily="34" charset="0"/>
                          <a:ea typeface="Arial" pitchFamily="34" charset="-122"/>
                          <a:cs typeface="Arial" pitchFamily="34" charset="-120"/>
                        </a:rPr>
                        <a:t>SUPPORTED</a:t>
                      </a:r>
                      <a:endParaRPr lang="en-US" sz="1400" dirty="0">
                        <a:latin typeface="Arial" charset="0"/>
                        <a:ea typeface="Arial" charset="0"/>
                        <a:cs typeface="Arial" charset="0"/>
                      </a:endParaRPr>
                    </a:p>
                  </a:txBody>
                  <a:tcPr marL="101600" marR="101600" marT="101600" marB="1016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1A0D0A"/>
                    </a:solidFill>
                  </a:tcPr>
                </a:tc>
                <a:tc>
                  <a:txBody>
                    <a:bodyPr/>
                    <a:lstStyle/>
                    <a:p>
                      <a:pPr indent="0" marL="0">
                        <a:buNone/>
                      </a:pPr>
                      <a:r>
                        <a:rPr lang="en-US" sz="1300" dirty="0">
                          <a:solidFill>
                            <a:srgbClr val="C9B5A3"/>
                          </a:solidFill>
                          <a:latin typeface="Courier New" pitchFamily="34" charset="0"/>
                          <a:ea typeface="Courier New" pitchFamily="34" charset="-122"/>
                          <a:cs typeface="Courier New" pitchFamily="34" charset="-120"/>
                        </a:rPr>
                        <a:t>span-1 / span-2 / span-3</a:t>
                      </a:r>
                      <a:endParaRPr lang="en-US" sz="1300" dirty="0">
                        <a:latin typeface="Courier New" charset="0"/>
                        <a:ea typeface="Courier New" charset="0"/>
                        <a:cs typeface="Courier New" charset="0"/>
                      </a:endParaRPr>
                    </a:p>
                  </a:txBody>
                  <a:tcPr marL="101600" marR="101600" marT="101600" marB="1016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1A0D0A"/>
                    </a:solidFill>
                  </a:tcPr>
                </a:tc>
              </a:tr>
              <a:tr h="655320">
                <a:tc>
                  <a:txBody>
                    <a:bodyPr/>
                    <a:lstStyle/>
                    <a:p>
                      <a:pPr indent="0" marL="0">
                        <a:buNone/>
                      </a:pPr>
                      <a:r>
                        <a:rPr lang="en-US" sz="1500" b="1" dirty="0">
                          <a:solidFill>
                            <a:srgbClr val="F2E3D5"/>
                          </a:solidFill>
                          <a:latin typeface="Arial" pitchFamily="34" charset="0"/>
                          <a:ea typeface="Arial" pitchFamily="34" charset="-122"/>
                          <a:cs typeface="Arial" pitchFamily="34" charset="-120"/>
                        </a:rPr>
                        <a:t>clause_72</a:t>
                      </a:r>
                      <a:endParaRPr lang="en-US" sz="1500" dirty="0">
                        <a:latin typeface="Arial" charset="0"/>
                        <a:ea typeface="Arial" charset="0"/>
                        <a:cs typeface="Arial" charset="0"/>
                      </a:endParaRPr>
                    </a:p>
                  </a:txBody>
                  <a:tcPr marL="101600" marR="101600" marT="101600" marB="1016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2A0C08"/>
                    </a:solidFill>
                  </a:tcPr>
                </a:tc>
                <a:tc>
                  <a:txBody>
                    <a:bodyPr/>
                    <a:lstStyle/>
                    <a:p>
                      <a:pPr indent="0" marL="0">
                        <a:buNone/>
                      </a:pPr>
                      <a:r>
                        <a:rPr lang="en-US" sz="1500" b="1" dirty="0">
                          <a:solidFill>
                            <a:srgbClr val="D9482A"/>
                          </a:solidFill>
                          <a:latin typeface="Arial" pitchFamily="34" charset="0"/>
                          <a:ea typeface="Arial" pitchFamily="34" charset="-122"/>
                          <a:cs typeface="Arial" pitchFamily="34" charset="-120"/>
                        </a:rPr>
                        <a:t>UNSUPPORTED</a:t>
                      </a:r>
                      <a:endParaRPr lang="en-US" sz="1500" dirty="0">
                        <a:latin typeface="Arial" charset="0"/>
                        <a:ea typeface="Arial" charset="0"/>
                        <a:cs typeface="Arial" charset="0"/>
                      </a:endParaRPr>
                    </a:p>
                  </a:txBody>
                  <a:tcPr marL="101600" marR="101600" marT="101600" marB="1016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2A0C08"/>
                    </a:solidFill>
                  </a:tcPr>
                </a:tc>
                <a:tc>
                  <a:txBody>
                    <a:bodyPr/>
                    <a:lstStyle/>
                    <a:p>
                      <a:pPr indent="0" marL="0">
                        <a:buNone/>
                      </a:pPr>
                      <a:r>
                        <a:rPr lang="en-US" sz="1500" b="1" dirty="0">
                          <a:solidFill>
                            <a:srgbClr val="D9482A"/>
                          </a:solidFill>
                          <a:latin typeface="Courier New" pitchFamily="34" charset="0"/>
                          <a:ea typeface="Courier New" pitchFamily="34" charset="-122"/>
                          <a:cs typeface="Courier New" pitchFamily="34" charset="-120"/>
                        </a:rPr>
                        <a:t>(none)</a:t>
                      </a:r>
                      <a:endParaRPr lang="en-US" sz="1500" dirty="0">
                        <a:latin typeface="Courier New" charset="0"/>
                        <a:ea typeface="Courier New" charset="0"/>
                        <a:cs typeface="Courier New" charset="0"/>
                      </a:endParaRPr>
                    </a:p>
                  </a:txBody>
                  <a:tcPr marL="101600" marR="101600" marT="101600" marB="1016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2A0C08"/>
                    </a:solidFill>
                  </a:tcPr>
                </a:tc>
              </a:tr>
            </a:tbl>
          </a:graphicData>
        </a:graphic>
      </p:graphicFrame>
      <p:sp>
        <p:nvSpPr>
          <p:cNvPr id="41" name="Text 37"/>
          <p:cNvSpPr/>
          <p:nvPr/>
        </p:nvSpPr>
        <p:spPr>
          <a:xfrm>
            <a:off x="950976" y="7498080"/>
            <a:ext cx="16386048" cy="36576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Absence of evidence, not conflicting evidence — the claim stays UNSUPPORTED. Clause 7.2 does not exist.</a:t>
            </a:r>
            <a:endParaRPr lang="en-US" sz="1600" dirty="0"/>
          </a:p>
        </p:txBody>
      </p:sp>
      <p:sp>
        <p:nvSpPr>
          <p:cNvPr id="42" name="Text 38"/>
          <p:cNvSpPr/>
          <p:nvPr/>
        </p:nvSpPr>
        <p:spPr>
          <a:xfrm>
            <a:off x="950976" y="7882128"/>
            <a:ext cx="16386048" cy="329184"/>
          </a:xfrm>
          <a:prstGeom prst="rect">
            <a:avLst/>
          </a:prstGeom>
          <a:noFill/>
          <a:ln/>
        </p:spPr>
        <p:txBody>
          <a:bodyPr wrap="square" lIns="0" tIns="0" rIns="0" bIns="0" rtlCol="0" anchor="ctr"/>
          <a:lstStyle/>
          <a:p>
            <a:pPr indent="0" marL="0">
              <a:buNone/>
            </a:pPr>
            <a:r>
              <a:rPr lang="en-US" sz="1600" dirty="0">
                <a:solidFill>
                  <a:srgbClr val="7A5D4E"/>
                </a:solidFill>
                <a:latin typeface="Arial" pitchFamily="34" charset="0"/>
                <a:ea typeface="Arial" pitchFamily="34" charset="-122"/>
                <a:cs typeface="Arial" pitchFamily="34" charset="-120"/>
              </a:rPr>
              <a:t>The claim carries the burden of proof. Nothing passes because nobody objected.</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05 // DEMO 02</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636776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05 · DEMO 02 / 03  ·  ENTITLEMENT</a:t>
            </a:r>
            <a:endParaRPr lang="en-US" sz="1500" dirty="0"/>
          </a:p>
        </p:txBody>
      </p:sp>
      <p:sp>
        <p:nvSpPr>
          <p:cNvPr id="12" name="Text 9"/>
          <p:cNvSpPr/>
          <p:nvPr/>
        </p:nvSpPr>
        <p:spPr>
          <a:xfrm>
            <a:off x="950976" y="1225296"/>
            <a:ext cx="16367760" cy="566928"/>
          </a:xfrm>
          <a:prstGeom prst="rect">
            <a:avLst/>
          </a:prstGeom>
          <a:noFill/>
          <a:ln/>
        </p:spPr>
        <p:txBody>
          <a:bodyPr wrap="square" lIns="0" tIns="0" rIns="0" bIns="0" rtlCol="0" anchor="t"/>
          <a:lstStyle/>
          <a:p>
            <a:pPr algn="l" indent="0" marL="0">
              <a:buNone/>
            </a:pPr>
            <a:r>
              <a:rPr lang="en-US" sz="3200" b="1" spc="-75" kern="0" dirty="0">
                <a:solidFill>
                  <a:srgbClr val="F2E3D5"/>
                </a:solidFill>
                <a:latin typeface="Arial" pitchFamily="34" charset="0"/>
                <a:ea typeface="Arial" pitchFamily="34" charset="-122"/>
                <a:cs typeface="Arial" pitchFamily="34" charset="-120"/>
              </a:rPr>
              <a:t>RETRIEVAL IS NOT </a:t>
            </a:r>
            <a:pPr algn="l" indent="0" marL="0">
              <a:buNone/>
            </a:pPr>
            <a:r>
              <a:rPr lang="en-US" sz="3200" b="1" spc="-75" kern="0" dirty="0">
                <a:solidFill>
                  <a:srgbClr val="D9482A"/>
                </a:solidFill>
                <a:latin typeface="Arial" pitchFamily="34" charset="0"/>
                <a:ea typeface="Arial" pitchFamily="34" charset="-122"/>
                <a:cs typeface="Arial" pitchFamily="34" charset="-120"/>
              </a:rPr>
              <a:t>PERMISSION</a:t>
            </a:r>
            <a:pPr algn="l" indent="0" marL="0">
              <a:buNone/>
            </a:pPr>
            <a:r>
              <a:rPr lang="en-US" sz="3200" b="1" spc="-75" kern="0" dirty="0">
                <a:solidFill>
                  <a:srgbClr val="F2E3D5"/>
                </a:solidFill>
                <a:latin typeface="Arial" pitchFamily="34" charset="0"/>
                <a:ea typeface="Arial" pitchFamily="34" charset="-122"/>
                <a:cs typeface="Arial" pitchFamily="34" charset="-120"/>
              </a:rPr>
              <a:t>.</a:t>
            </a:r>
            <a:endParaRPr lang="en-US" sz="3200" dirty="0"/>
          </a:p>
        </p:txBody>
      </p:sp>
      <p:sp>
        <p:nvSpPr>
          <p:cNvPr id="13" name="Shape 10"/>
          <p:cNvSpPr/>
          <p:nvPr/>
        </p:nvSpPr>
        <p:spPr>
          <a:xfrm>
            <a:off x="950976" y="1938528"/>
            <a:ext cx="8275320" cy="4160520"/>
          </a:xfrm>
          <a:prstGeom prst="rect">
            <a:avLst/>
          </a:prstGeom>
          <a:solidFill>
            <a:srgbClr val="1A0D0A"/>
          </a:solidFill>
          <a:ln w="8636">
            <a:solidFill>
              <a:srgbClr val="5A2E20"/>
            </a:solidFill>
            <a:prstDash val="solid"/>
          </a:ln>
        </p:spPr>
      </p:sp>
      <p:sp>
        <p:nvSpPr>
          <p:cNvPr id="14" name="Shape 11"/>
          <p:cNvSpPr/>
          <p:nvPr/>
        </p:nvSpPr>
        <p:spPr>
          <a:xfrm>
            <a:off x="960120" y="2377440"/>
            <a:ext cx="8257032" cy="9144"/>
          </a:xfrm>
          <a:prstGeom prst="rect">
            <a:avLst/>
          </a:prstGeom>
          <a:solidFill>
            <a:srgbClr val="3A1E16"/>
          </a:solidFill>
          <a:ln/>
        </p:spPr>
      </p:sp>
      <p:sp>
        <p:nvSpPr>
          <p:cNvPr id="15" name="Text 12"/>
          <p:cNvSpPr/>
          <p:nvPr/>
        </p:nvSpPr>
        <p:spPr>
          <a:xfrm>
            <a:off x="1115568" y="2011680"/>
            <a:ext cx="4267505"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PENDING ACTION  show_text</a:t>
            </a:r>
            <a:endParaRPr lang="en-US" sz="1300" dirty="0"/>
          </a:p>
        </p:txBody>
      </p:sp>
      <p:sp>
        <p:nvSpPr>
          <p:cNvPr id="16" name="Text 13"/>
          <p:cNvSpPr/>
          <p:nvPr/>
        </p:nvSpPr>
        <p:spPr>
          <a:xfrm>
            <a:off x="5750662" y="2011680"/>
            <a:ext cx="3292754"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R1  ·  user-visible</a:t>
            </a:r>
            <a:endParaRPr lang="en-US" sz="1300" dirty="0"/>
          </a:p>
        </p:txBody>
      </p:sp>
      <p:sp>
        <p:nvSpPr>
          <p:cNvPr id="17" name="Text 14"/>
          <p:cNvSpPr/>
          <p:nvPr/>
        </p:nvSpPr>
        <p:spPr>
          <a:xfrm>
            <a:off x="1243584" y="2542032"/>
            <a:ext cx="7726680" cy="329184"/>
          </a:xfrm>
          <a:prstGeom prst="rect">
            <a:avLst/>
          </a:prstGeom>
          <a:noFill/>
          <a:ln/>
        </p:spPr>
        <p:txBody>
          <a:bodyPr wrap="square" lIns="0" tIns="0" rIns="0" bIns="0" rtlCol="0" anchor="ctr"/>
          <a:lstStyle/>
          <a:p>
            <a:pPr indent="0" marL="0">
              <a:buNone/>
            </a:pPr>
            <a:r>
              <a:rPr lang="en-US" sz="1800" dirty="0">
                <a:solidFill>
                  <a:srgbClr val="F2E3D5"/>
                </a:solidFill>
                <a:latin typeface="Arial" pitchFamily="34" charset="0"/>
                <a:ea typeface="Arial" pitchFamily="34" charset="-122"/>
                <a:cs typeface="Arial" pitchFamily="34" charset="-120"/>
              </a:rPr>
              <a:t>Show text to the customer</a:t>
            </a:r>
            <a:endParaRPr lang="en-US" sz="1800" dirty="0"/>
          </a:p>
        </p:txBody>
      </p:sp>
      <p:sp>
        <p:nvSpPr>
          <p:cNvPr id="18" name="Text 15"/>
          <p:cNvSpPr/>
          <p:nvPr/>
        </p:nvSpPr>
        <p:spPr>
          <a:xfrm>
            <a:off x="1243584" y="2944368"/>
            <a:ext cx="7726680" cy="77724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Claim hr_side is SUPPORTED via span-3. The fact is in the evidence. The caller is not entitled to it.</a:t>
            </a:r>
            <a:endParaRPr lang="en-US" sz="1600" dirty="0"/>
          </a:p>
        </p:txBody>
      </p:sp>
      <p:sp>
        <p:nvSpPr>
          <p:cNvPr id="19" name="Text 16"/>
          <p:cNvSpPr/>
          <p:nvPr/>
        </p:nvSpPr>
        <p:spPr>
          <a:xfrm>
            <a:off x="1243584" y="3794760"/>
            <a:ext cx="1554480" cy="384048"/>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CLAIM</a:t>
            </a:r>
            <a:endParaRPr lang="en-US" sz="1300" dirty="0"/>
          </a:p>
        </p:txBody>
      </p:sp>
      <p:sp>
        <p:nvSpPr>
          <p:cNvPr id="20" name="Text 17"/>
          <p:cNvSpPr/>
          <p:nvPr/>
        </p:nvSpPr>
        <p:spPr>
          <a:xfrm>
            <a:off x="2834640" y="3794760"/>
            <a:ext cx="612648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hr_side  ·  “customer account flagged for goodwill override”</a:t>
            </a:r>
            <a:endParaRPr lang="en-US" sz="1400" dirty="0"/>
          </a:p>
        </p:txBody>
      </p:sp>
      <p:sp>
        <p:nvSpPr>
          <p:cNvPr id="21" name="Text 18"/>
          <p:cNvSpPr/>
          <p:nvPr/>
        </p:nvSpPr>
        <p:spPr>
          <a:xfrm>
            <a:off x="1243584" y="4270248"/>
            <a:ext cx="1554480" cy="384048"/>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SOURCE</a:t>
            </a:r>
            <a:endParaRPr lang="en-US" sz="1300" dirty="0"/>
          </a:p>
        </p:txBody>
      </p:sp>
      <p:sp>
        <p:nvSpPr>
          <p:cNvPr id="22" name="Text 19"/>
          <p:cNvSpPr/>
          <p:nvPr/>
        </p:nvSpPr>
        <p:spPr>
          <a:xfrm>
            <a:off x="2834640" y="4270248"/>
            <a:ext cx="612648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doc:hr-exception-desk  ·  ACL {hr-confidential}</a:t>
            </a:r>
            <a:endParaRPr lang="en-US" sz="1400" dirty="0"/>
          </a:p>
        </p:txBody>
      </p:sp>
      <p:sp>
        <p:nvSpPr>
          <p:cNvPr id="23" name="Text 20"/>
          <p:cNvSpPr/>
          <p:nvPr/>
        </p:nvSpPr>
        <p:spPr>
          <a:xfrm>
            <a:off x="1243584" y="4745736"/>
            <a:ext cx="1554480" cy="384048"/>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PRINCIPAL</a:t>
            </a:r>
            <a:endParaRPr lang="en-US" sz="1300" dirty="0"/>
          </a:p>
        </p:txBody>
      </p:sp>
      <p:sp>
        <p:nvSpPr>
          <p:cNvPr id="24" name="Text 21"/>
          <p:cNvSpPr/>
          <p:nvPr/>
        </p:nvSpPr>
        <p:spPr>
          <a:xfrm>
            <a:off x="2834640" y="4745736"/>
            <a:ext cx="612648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cs-agent-17  ·  clearance {vendor-public}</a:t>
            </a:r>
            <a:endParaRPr lang="en-US" sz="1400" dirty="0"/>
          </a:p>
        </p:txBody>
      </p:sp>
      <p:sp>
        <p:nvSpPr>
          <p:cNvPr id="25" name="Text 22"/>
          <p:cNvSpPr/>
          <p:nvPr/>
        </p:nvSpPr>
        <p:spPr>
          <a:xfrm>
            <a:off x="1243584" y="5221224"/>
            <a:ext cx="1554480" cy="384048"/>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CHECK</a:t>
            </a:r>
            <a:endParaRPr lang="en-US" sz="1300" dirty="0"/>
          </a:p>
        </p:txBody>
      </p:sp>
      <p:sp>
        <p:nvSpPr>
          <p:cNvPr id="26" name="Text 23"/>
          <p:cNvSpPr/>
          <p:nvPr/>
        </p:nvSpPr>
        <p:spPr>
          <a:xfrm>
            <a:off x="2834640" y="5221224"/>
            <a:ext cx="612648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span ACL is not a subset of caller clearance</a:t>
            </a:r>
            <a:endParaRPr lang="en-US" sz="1400" dirty="0"/>
          </a:p>
        </p:txBody>
      </p:sp>
      <p:sp>
        <p:nvSpPr>
          <p:cNvPr id="27" name="Shape 24"/>
          <p:cNvSpPr/>
          <p:nvPr/>
        </p:nvSpPr>
        <p:spPr>
          <a:xfrm>
            <a:off x="9436608" y="1938528"/>
            <a:ext cx="7900416" cy="4160520"/>
          </a:xfrm>
          <a:prstGeom prst="rect">
            <a:avLst/>
          </a:prstGeom>
          <a:solidFill>
            <a:srgbClr val="1A0D0A"/>
          </a:solidFill>
          <a:ln w="13970">
            <a:solidFill>
              <a:srgbClr val="D9482A"/>
            </a:solidFill>
            <a:prstDash val="solid"/>
          </a:ln>
        </p:spPr>
      </p:sp>
      <p:sp>
        <p:nvSpPr>
          <p:cNvPr id="28" name="Shape 25"/>
          <p:cNvSpPr/>
          <p:nvPr/>
        </p:nvSpPr>
        <p:spPr>
          <a:xfrm>
            <a:off x="9436608" y="1938528"/>
            <a:ext cx="7900416" cy="41148"/>
          </a:xfrm>
          <a:prstGeom prst="rect">
            <a:avLst/>
          </a:prstGeom>
          <a:solidFill>
            <a:srgbClr val="D9482A"/>
          </a:solidFill>
          <a:ln/>
        </p:spPr>
      </p:sp>
      <p:sp>
        <p:nvSpPr>
          <p:cNvPr id="29" name="Text 26"/>
          <p:cNvSpPr/>
          <p:nvPr/>
        </p:nvSpPr>
        <p:spPr>
          <a:xfrm>
            <a:off x="9729216" y="2121408"/>
            <a:ext cx="7360920" cy="274320"/>
          </a:xfrm>
          <a:prstGeom prst="rect">
            <a:avLst/>
          </a:prstGeom>
          <a:noFill/>
          <a:ln/>
        </p:spPr>
        <p:txBody>
          <a:bodyPr wrap="square" lIns="0" tIns="0" rIns="0" bIns="0" rtlCol="0" anchor="ctr"/>
          <a:lstStyle/>
          <a:p>
            <a:pPr indent="0" marL="0">
              <a:buNone/>
            </a:pPr>
            <a:r>
              <a:rPr lang="en-US" sz="1300" spc="200" kern="0" dirty="0">
                <a:solidFill>
                  <a:srgbClr val="7A5D4E"/>
                </a:solidFill>
                <a:latin typeface="Arial" pitchFamily="34" charset="0"/>
                <a:ea typeface="Arial" pitchFamily="34" charset="-122"/>
                <a:cs typeface="Arial" pitchFamily="34" charset="-120"/>
              </a:rPr>
              <a:t>ENTITLEMENT</a:t>
            </a:r>
            <a:endParaRPr lang="en-US" sz="1300" dirty="0"/>
          </a:p>
        </p:txBody>
      </p:sp>
      <p:sp>
        <p:nvSpPr>
          <p:cNvPr id="30" name="Text 27"/>
          <p:cNvSpPr/>
          <p:nvPr/>
        </p:nvSpPr>
        <p:spPr>
          <a:xfrm>
            <a:off x="9729216" y="2450592"/>
            <a:ext cx="7360920" cy="640080"/>
          </a:xfrm>
          <a:prstGeom prst="rect">
            <a:avLst/>
          </a:prstGeom>
          <a:noFill/>
          <a:ln/>
        </p:spPr>
        <p:txBody>
          <a:bodyPr wrap="square" lIns="0" tIns="0" rIns="0" bIns="0" rtlCol="0" anchor="ctr"/>
          <a:lstStyle/>
          <a:p>
            <a:pPr indent="0" marL="0">
              <a:buNone/>
            </a:pPr>
            <a:r>
              <a:rPr lang="en-US" sz="3600" b="1" dirty="0">
                <a:solidFill>
                  <a:srgbClr val="D9482A"/>
                </a:solidFill>
                <a:latin typeface="Arial" pitchFamily="34" charset="0"/>
                <a:ea typeface="Arial" pitchFamily="34" charset="-122"/>
                <a:cs typeface="Arial" pitchFamily="34" charset="-120"/>
              </a:rPr>
              <a:t>VIOLATION</a:t>
            </a:r>
            <a:endParaRPr lang="en-US" sz="3600" dirty="0"/>
          </a:p>
        </p:txBody>
      </p:sp>
      <p:sp>
        <p:nvSpPr>
          <p:cNvPr id="31" name="Text 28"/>
          <p:cNvSpPr/>
          <p:nvPr/>
        </p:nvSpPr>
        <p:spPr>
          <a:xfrm>
            <a:off x="9729216" y="3182112"/>
            <a:ext cx="7360920" cy="365760"/>
          </a:xfrm>
          <a:prstGeom prst="rect">
            <a:avLst/>
          </a:prstGeom>
          <a:noFill/>
          <a:ln/>
        </p:spPr>
        <p:txBody>
          <a:bodyPr wrap="square" lIns="0" tIns="0" rIns="0" bIns="0" rtlCol="0" anchor="ctr"/>
          <a:lstStyle/>
          <a:p>
            <a:pPr indent="0" marL="0">
              <a:buNone/>
            </a:pPr>
            <a:r>
              <a:rPr lang="en-US" sz="1600" dirty="0">
                <a:solidFill>
                  <a:srgbClr val="F2C572"/>
                </a:solidFill>
                <a:latin typeface="Arial" pitchFamily="34" charset="0"/>
                <a:ea typeface="Arial" pitchFamily="34" charset="-122"/>
                <a:cs typeface="Arial" pitchFamily="34" charset="-120"/>
              </a:rPr>
              <a:t>R1  ×  Contradicted / entitlement violation</a:t>
            </a:r>
            <a:endParaRPr lang="en-US" sz="1600" dirty="0"/>
          </a:p>
        </p:txBody>
      </p:sp>
      <p:sp>
        <p:nvSpPr>
          <p:cNvPr id="32" name="Text 29"/>
          <p:cNvSpPr/>
          <p:nvPr/>
        </p:nvSpPr>
        <p:spPr>
          <a:xfrm>
            <a:off x="9729216" y="3749040"/>
            <a:ext cx="7360920" cy="256032"/>
          </a:xfrm>
          <a:prstGeom prst="rect">
            <a:avLst/>
          </a:prstGeom>
          <a:noFill/>
          <a:ln/>
        </p:spPr>
        <p:txBody>
          <a:bodyPr wrap="square" lIns="0" tIns="0" rIns="0" bIns="0" rtlCol="0" anchor="ctr"/>
          <a:lstStyle/>
          <a:p>
            <a:pPr indent="0" marL="0">
              <a:buNone/>
            </a:pPr>
            <a:r>
              <a:rPr lang="en-US" sz="1300" spc="200" kern="0" dirty="0">
                <a:solidFill>
                  <a:srgbClr val="7A5D4E"/>
                </a:solidFill>
                <a:latin typeface="Arial" pitchFamily="34" charset="0"/>
                <a:ea typeface="Arial" pitchFamily="34" charset="-122"/>
                <a:cs typeface="Arial" pitchFamily="34" charset="-120"/>
              </a:rPr>
              <a:t>ACTUATOR</a:t>
            </a:r>
            <a:endParaRPr lang="en-US" sz="1300" dirty="0"/>
          </a:p>
        </p:txBody>
      </p:sp>
      <p:sp>
        <p:nvSpPr>
          <p:cNvPr id="33" name="Text 30"/>
          <p:cNvSpPr/>
          <p:nvPr/>
        </p:nvSpPr>
        <p:spPr>
          <a:xfrm>
            <a:off x="9729216" y="4041648"/>
            <a:ext cx="7360920" cy="530352"/>
          </a:xfrm>
          <a:prstGeom prst="rect">
            <a:avLst/>
          </a:prstGeom>
          <a:noFill/>
          <a:ln/>
        </p:spPr>
        <p:txBody>
          <a:bodyPr wrap="square" lIns="0" tIns="0" rIns="0" bIns="0" rtlCol="0" anchor="ctr"/>
          <a:lstStyle/>
          <a:p>
            <a:pPr indent="0" marL="0">
              <a:buNone/>
            </a:pPr>
            <a:r>
              <a:rPr lang="en-US" sz="3200" b="1" dirty="0">
                <a:solidFill>
                  <a:srgbClr val="F2E3D5"/>
                </a:solidFill>
                <a:latin typeface="Arial" pitchFamily="34" charset="0"/>
                <a:ea typeface="Arial" pitchFamily="34" charset="-122"/>
                <a:cs typeface="Arial" pitchFamily="34" charset="-120"/>
              </a:rPr>
              <a:t>Edit</a:t>
            </a:r>
            <a:endParaRPr lang="en-US" sz="3200" dirty="0"/>
          </a:p>
        </p:txBody>
      </p:sp>
      <p:sp>
        <p:nvSpPr>
          <p:cNvPr id="34" name="Text 31"/>
          <p:cNvSpPr/>
          <p:nvPr/>
        </p:nvSpPr>
        <p:spPr>
          <a:xfrm>
            <a:off x="9729216" y="4681728"/>
            <a:ext cx="7360920" cy="105156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Unentitled span stripped. Surgical, never generative. Driving claims: hr_side, clause_72.</a:t>
            </a:r>
            <a:endParaRPr lang="en-US" sz="1600" dirty="0"/>
          </a:p>
        </p:txBody>
      </p:sp>
      <p:sp>
        <p:nvSpPr>
          <p:cNvPr id="35" name="Shape 32"/>
          <p:cNvSpPr/>
          <p:nvPr/>
        </p:nvSpPr>
        <p:spPr>
          <a:xfrm>
            <a:off x="950976" y="6309360"/>
            <a:ext cx="16386048" cy="3017520"/>
          </a:xfrm>
          <a:prstGeom prst="rect">
            <a:avLst/>
          </a:prstGeom>
          <a:solidFill>
            <a:srgbClr val="1A0D0A"/>
          </a:solidFill>
          <a:ln w="8636">
            <a:solidFill>
              <a:srgbClr val="3A1E16"/>
            </a:solidFill>
            <a:prstDash val="solid"/>
          </a:ln>
        </p:spPr>
      </p:sp>
      <p:sp>
        <p:nvSpPr>
          <p:cNvPr id="36" name="Text 33"/>
          <p:cNvSpPr/>
          <p:nvPr/>
        </p:nvSpPr>
        <p:spPr>
          <a:xfrm>
            <a:off x="1280160" y="6510528"/>
            <a:ext cx="15727680" cy="365760"/>
          </a:xfrm>
          <a:prstGeom prst="rect">
            <a:avLst/>
          </a:prstGeom>
          <a:noFill/>
          <a:ln/>
        </p:spPr>
        <p:txBody>
          <a:bodyPr wrap="square" lIns="0" tIns="0" rIns="0" bIns="0" rtlCol="0" anchor="ctr"/>
          <a:lstStyle/>
          <a:p>
            <a:pPr indent="0" marL="0">
              <a:buNone/>
            </a:pPr>
            <a:r>
              <a:rPr lang="en-US" sz="1800" b="1" dirty="0">
                <a:solidFill>
                  <a:srgbClr val="F2E3D5"/>
                </a:solidFill>
                <a:latin typeface="Arial" pitchFamily="34" charset="0"/>
                <a:ea typeface="Arial" pitchFamily="34" charset="-122"/>
                <a:cs typeface="Arial" pitchFamily="34" charset="-120"/>
              </a:rPr>
              <a:t>OUTPUT-ONLY CHECKERS NEVER CARRY WHO IS ASKING.</a:t>
            </a:r>
            <a:endParaRPr lang="en-US" sz="1800" dirty="0"/>
          </a:p>
        </p:txBody>
      </p:sp>
      <p:sp>
        <p:nvSpPr>
          <p:cNvPr id="37" name="Text 34"/>
          <p:cNvSpPr/>
          <p:nvPr/>
        </p:nvSpPr>
        <p:spPr>
          <a:xfrm>
            <a:off x="1280160" y="6967728"/>
            <a:ext cx="15727680" cy="77724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Deterministic entitlement check — set-membership on ACL ⊆ clearance. We do not fix their IAM. We stop the model silently bypassing the rights the source already carries.</a:t>
            </a:r>
            <a:endParaRPr lang="en-US" sz="1600" dirty="0"/>
          </a:p>
        </p:txBody>
      </p:sp>
      <p:sp>
        <p:nvSpPr>
          <p:cNvPr id="38" name="Text 35"/>
          <p:cNvSpPr/>
          <p:nvPr/>
        </p:nvSpPr>
        <p:spPr>
          <a:xfrm>
            <a:off x="1280160" y="7818120"/>
            <a:ext cx="15727680" cy="1051560"/>
          </a:xfrm>
          <a:prstGeom prst="rect">
            <a:avLst/>
          </a:prstGeom>
          <a:noFill/>
          <a:ln/>
        </p:spPr>
        <p:txBody>
          <a:bodyPr wrap="square" lIns="0" tIns="0" rIns="0" bIns="0" rtlCol="0" anchor="t"/>
          <a:lstStyle/>
          <a:p>
            <a:pPr indent="0" marL="0">
              <a:buNone/>
            </a:pPr>
            <a:r>
              <a:rPr lang="en-US" sz="1600" dirty="0">
                <a:solidFill>
                  <a:srgbClr val="7A5D4E"/>
                </a:solidFill>
                <a:latin typeface="Arial" pitchFamily="34" charset="0"/>
                <a:ea typeface="Arial" pitchFamily="34" charset="-122"/>
                <a:cs typeface="Arial" pitchFamily="34" charset="-120"/>
              </a:rPr>
              <a:t>Same string. Fine for one caller. A breach for another. Identity-blind tools cannot see this incident.</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06 // DEMO 03</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636776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06 · DEMO 03 / 03  ·  INTERLOCK  ·  RESOLUTION OF SLIDE 02</a:t>
            </a:r>
            <a:endParaRPr lang="en-US" sz="1500" dirty="0"/>
          </a:p>
        </p:txBody>
      </p:sp>
      <p:sp>
        <p:nvSpPr>
          <p:cNvPr id="12" name="Text 9"/>
          <p:cNvSpPr/>
          <p:nvPr/>
        </p:nvSpPr>
        <p:spPr>
          <a:xfrm>
            <a:off x="950976" y="1225296"/>
            <a:ext cx="16367760" cy="566928"/>
          </a:xfrm>
          <a:prstGeom prst="rect">
            <a:avLst/>
          </a:prstGeom>
          <a:noFill/>
          <a:ln/>
        </p:spPr>
        <p:txBody>
          <a:bodyPr wrap="square" lIns="0" tIns="0" rIns="0" bIns="0" rtlCol="0" anchor="t"/>
          <a:lstStyle/>
          <a:p>
            <a:pPr algn="l" indent="0" marL="0">
              <a:buNone/>
            </a:pPr>
            <a:r>
              <a:rPr lang="en-US" sz="3200" b="1" spc="-75" kern="0" dirty="0">
                <a:solidFill>
                  <a:srgbClr val="F2E3D5"/>
                </a:solidFill>
                <a:latin typeface="Arial" pitchFamily="34" charset="0"/>
                <a:ea typeface="Arial" pitchFamily="34" charset="-122"/>
                <a:cs typeface="Arial" pitchFamily="34" charset="-120"/>
              </a:rPr>
              <a:t>PROOF SCALES WITH </a:t>
            </a:r>
            <a:pPr algn="l" indent="0" marL="0">
              <a:buNone/>
            </a:pPr>
            <a:r>
              <a:rPr lang="en-US" sz="3200" b="1" spc="-75" kern="0" dirty="0">
                <a:solidFill>
                  <a:srgbClr val="D9482A"/>
                </a:solidFill>
                <a:latin typeface="Arial" pitchFamily="34" charset="0"/>
                <a:ea typeface="Arial" pitchFamily="34" charset="-122"/>
                <a:cs typeface="Arial" pitchFamily="34" charset="-120"/>
              </a:rPr>
              <a:t>CONSEQUENCE</a:t>
            </a:r>
            <a:pPr algn="l" indent="0" marL="0">
              <a:buNone/>
            </a:pPr>
            <a:r>
              <a:rPr lang="en-US" sz="3200" b="1" spc="-75" kern="0" dirty="0">
                <a:solidFill>
                  <a:srgbClr val="F2E3D5"/>
                </a:solidFill>
                <a:latin typeface="Arial" pitchFamily="34" charset="0"/>
                <a:ea typeface="Arial" pitchFamily="34" charset="-122"/>
                <a:cs typeface="Arial" pitchFamily="34" charset="-120"/>
              </a:rPr>
              <a:t>.</a:t>
            </a:r>
            <a:endParaRPr lang="en-US" sz="3200" dirty="0"/>
          </a:p>
        </p:txBody>
      </p:sp>
      <p:sp>
        <p:nvSpPr>
          <p:cNvPr id="13" name="Shape 10"/>
          <p:cNvSpPr/>
          <p:nvPr/>
        </p:nvSpPr>
        <p:spPr>
          <a:xfrm>
            <a:off x="950976" y="1938528"/>
            <a:ext cx="8275320" cy="5074920"/>
          </a:xfrm>
          <a:prstGeom prst="rect">
            <a:avLst/>
          </a:prstGeom>
          <a:solidFill>
            <a:srgbClr val="1A0D0A"/>
          </a:solidFill>
          <a:ln w="8636">
            <a:solidFill>
              <a:srgbClr val="5A2E20"/>
            </a:solidFill>
            <a:prstDash val="solid"/>
          </a:ln>
        </p:spPr>
      </p:sp>
      <p:sp>
        <p:nvSpPr>
          <p:cNvPr id="14" name="Shape 11"/>
          <p:cNvSpPr/>
          <p:nvPr/>
        </p:nvSpPr>
        <p:spPr>
          <a:xfrm>
            <a:off x="960120" y="2377440"/>
            <a:ext cx="8257032" cy="9144"/>
          </a:xfrm>
          <a:prstGeom prst="rect">
            <a:avLst/>
          </a:prstGeom>
          <a:solidFill>
            <a:srgbClr val="3A1E16"/>
          </a:solidFill>
          <a:ln/>
        </p:spPr>
      </p:sp>
      <p:sp>
        <p:nvSpPr>
          <p:cNvPr id="15" name="Text 12"/>
          <p:cNvSpPr/>
          <p:nvPr/>
        </p:nvSpPr>
        <p:spPr>
          <a:xfrm>
            <a:off x="1115568" y="2011680"/>
            <a:ext cx="4267505"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PENDING ACTION  issue_refund</a:t>
            </a:r>
            <a:endParaRPr lang="en-US" sz="1300" dirty="0"/>
          </a:p>
        </p:txBody>
      </p:sp>
      <p:sp>
        <p:nvSpPr>
          <p:cNvPr id="16" name="Text 13"/>
          <p:cNvSpPr/>
          <p:nvPr/>
        </p:nvSpPr>
        <p:spPr>
          <a:xfrm>
            <a:off x="5750662" y="2011680"/>
            <a:ext cx="3292754"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R3  ·  irreversible</a:t>
            </a:r>
            <a:endParaRPr lang="en-US" sz="1300" dirty="0"/>
          </a:p>
        </p:txBody>
      </p:sp>
      <p:sp>
        <p:nvSpPr>
          <p:cNvPr id="17" name="Text 14"/>
          <p:cNvSpPr/>
          <p:nvPr/>
        </p:nvSpPr>
        <p:spPr>
          <a:xfrm>
            <a:off x="1243584" y="2542032"/>
            <a:ext cx="7726680" cy="365760"/>
          </a:xfrm>
          <a:prstGeom prst="rect">
            <a:avLst/>
          </a:prstGeom>
          <a:noFill/>
          <a:ln/>
        </p:spPr>
        <p:txBody>
          <a:bodyPr wrap="square" lIns="0" tIns="0" rIns="0" bIns="0" rtlCol="0" anchor="ctr"/>
          <a:lstStyle/>
          <a:p>
            <a:pPr indent="0" marL="0">
              <a:buNone/>
            </a:pPr>
            <a:r>
              <a:rPr lang="en-US" sz="1800" dirty="0">
                <a:solidFill>
                  <a:srgbClr val="F2E3D5"/>
                </a:solidFill>
                <a:latin typeface="Arial" pitchFamily="34" charset="0"/>
                <a:ea typeface="Arial" pitchFamily="34" charset="-122"/>
                <a:cs typeface="Arial" pitchFamily="34" charset="-120"/>
              </a:rPr>
              <a:t>Issue the refund  ·  ₹1,84,000  ·  ORD-9</a:t>
            </a:r>
            <a:endParaRPr lang="en-US" sz="1800" dirty="0"/>
          </a:p>
        </p:txBody>
      </p:sp>
      <p:sp>
        <p:nvSpPr>
          <p:cNvPr id="18" name="Text 15"/>
          <p:cNvSpPr/>
          <p:nvPr/>
        </p:nvSpPr>
        <p:spPr>
          <a:xfrm>
            <a:off x="1243584" y="3035808"/>
            <a:ext cx="1691640" cy="502920"/>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DRIVING</a:t>
            </a:r>
            <a:endParaRPr lang="en-US" sz="1300" dirty="0"/>
          </a:p>
        </p:txBody>
      </p:sp>
      <p:sp>
        <p:nvSpPr>
          <p:cNvPr id="19" name="Text 16"/>
          <p:cNvSpPr/>
          <p:nvPr/>
        </p:nvSpPr>
        <p:spPr>
          <a:xfrm>
            <a:off x="2999232" y="3035808"/>
            <a:ext cx="5943600" cy="502920"/>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clause_72  ·  UNSUPPORTED  ·  categorical</a:t>
            </a:r>
            <a:endParaRPr lang="en-US" sz="1500" dirty="0"/>
          </a:p>
        </p:txBody>
      </p:sp>
      <p:sp>
        <p:nvSpPr>
          <p:cNvPr id="20" name="Text 17"/>
          <p:cNvSpPr/>
          <p:nvPr/>
        </p:nvSpPr>
        <p:spPr>
          <a:xfrm>
            <a:off x="1243584" y="3694176"/>
            <a:ext cx="1691640" cy="502920"/>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CELL</a:t>
            </a:r>
            <a:endParaRPr lang="en-US" sz="1300" dirty="0"/>
          </a:p>
        </p:txBody>
      </p:sp>
      <p:sp>
        <p:nvSpPr>
          <p:cNvPr id="21" name="Text 18"/>
          <p:cNvSpPr/>
          <p:nvPr/>
        </p:nvSpPr>
        <p:spPr>
          <a:xfrm>
            <a:off x="2999232" y="3694176"/>
            <a:ext cx="5943600" cy="502920"/>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R3 × Unsupported + categorical</a:t>
            </a:r>
            <a:endParaRPr lang="en-US" sz="1500" dirty="0"/>
          </a:p>
        </p:txBody>
      </p:sp>
      <p:sp>
        <p:nvSpPr>
          <p:cNvPr id="22" name="Text 19"/>
          <p:cNvSpPr/>
          <p:nvPr/>
        </p:nvSpPr>
        <p:spPr>
          <a:xfrm>
            <a:off x="1243584" y="4352544"/>
            <a:ext cx="1691640" cy="502920"/>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ACTUATOR</a:t>
            </a:r>
            <a:endParaRPr lang="en-US" sz="1300" dirty="0"/>
          </a:p>
        </p:txBody>
      </p:sp>
      <p:sp>
        <p:nvSpPr>
          <p:cNvPr id="23" name="Text 20"/>
          <p:cNvSpPr/>
          <p:nvPr/>
        </p:nvSpPr>
        <p:spPr>
          <a:xfrm>
            <a:off x="2999232" y="4352544"/>
            <a:ext cx="5943600" cy="502920"/>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Escalate  ·  held with the evidence packet</a:t>
            </a:r>
            <a:endParaRPr lang="en-US" sz="1500" dirty="0"/>
          </a:p>
        </p:txBody>
      </p:sp>
      <p:sp>
        <p:nvSpPr>
          <p:cNvPr id="24" name="Text 21"/>
          <p:cNvSpPr/>
          <p:nvPr/>
        </p:nvSpPr>
        <p:spPr>
          <a:xfrm>
            <a:off x="1243584" y="5010912"/>
            <a:ext cx="1691640" cy="502920"/>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PACKET</a:t>
            </a:r>
            <a:endParaRPr lang="en-US" sz="1300" dirty="0"/>
          </a:p>
        </p:txBody>
      </p:sp>
      <p:sp>
        <p:nvSpPr>
          <p:cNvPr id="25" name="Text 22"/>
          <p:cNvSpPr/>
          <p:nvPr/>
        </p:nvSpPr>
        <p:spPr>
          <a:xfrm>
            <a:off x="2999232" y="5010912"/>
            <a:ext cx="5943600" cy="502920"/>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unproven clause + empty span list + verdict</a:t>
            </a:r>
            <a:endParaRPr lang="en-US" sz="1500" dirty="0"/>
          </a:p>
        </p:txBody>
      </p:sp>
      <p:sp>
        <p:nvSpPr>
          <p:cNvPr id="26" name="Text 23"/>
          <p:cNvSpPr/>
          <p:nvPr/>
        </p:nvSpPr>
        <p:spPr>
          <a:xfrm>
            <a:off x="1243584" y="5669280"/>
            <a:ext cx="1691640" cy="502920"/>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LEDGER</a:t>
            </a:r>
            <a:endParaRPr lang="en-US" sz="1300" dirty="0"/>
          </a:p>
        </p:txBody>
      </p:sp>
      <p:sp>
        <p:nvSpPr>
          <p:cNvPr id="27" name="Text 24"/>
          <p:cNvSpPr/>
          <p:nvPr/>
        </p:nvSpPr>
        <p:spPr>
          <a:xfrm>
            <a:off x="2999232" y="5669280"/>
            <a:ext cx="5943600" cy="502920"/>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verify_chain() = True</a:t>
            </a:r>
            <a:endParaRPr lang="en-US" sz="1500" dirty="0"/>
          </a:p>
        </p:txBody>
      </p:sp>
      <p:sp>
        <p:nvSpPr>
          <p:cNvPr id="28" name="Shape 25"/>
          <p:cNvSpPr/>
          <p:nvPr/>
        </p:nvSpPr>
        <p:spPr>
          <a:xfrm>
            <a:off x="9436608" y="1938528"/>
            <a:ext cx="7900416" cy="5074920"/>
          </a:xfrm>
          <a:prstGeom prst="rect">
            <a:avLst/>
          </a:prstGeom>
          <a:solidFill>
            <a:srgbClr val="1A0D0A"/>
          </a:solidFill>
          <a:ln w="13970">
            <a:solidFill>
              <a:srgbClr val="F2C572"/>
            </a:solidFill>
            <a:prstDash val="solid"/>
          </a:ln>
        </p:spPr>
      </p:sp>
      <p:sp>
        <p:nvSpPr>
          <p:cNvPr id="29" name="Shape 26"/>
          <p:cNvSpPr/>
          <p:nvPr/>
        </p:nvSpPr>
        <p:spPr>
          <a:xfrm>
            <a:off x="9436608" y="1938528"/>
            <a:ext cx="7900416" cy="41148"/>
          </a:xfrm>
          <a:prstGeom prst="rect">
            <a:avLst/>
          </a:prstGeom>
          <a:solidFill>
            <a:srgbClr val="D9482A"/>
          </a:solidFill>
          <a:ln/>
        </p:spPr>
      </p:sp>
      <p:sp>
        <p:nvSpPr>
          <p:cNvPr id="30" name="Text 27"/>
          <p:cNvSpPr/>
          <p:nvPr/>
        </p:nvSpPr>
        <p:spPr>
          <a:xfrm>
            <a:off x="9729216" y="2157984"/>
            <a:ext cx="7360920" cy="274320"/>
          </a:xfrm>
          <a:prstGeom prst="rect">
            <a:avLst/>
          </a:prstGeom>
          <a:noFill/>
          <a:ln/>
        </p:spPr>
        <p:txBody>
          <a:bodyPr wrap="square" lIns="0" tIns="0" rIns="0" bIns="0" rtlCol="0" anchor="ctr"/>
          <a:lstStyle/>
          <a:p>
            <a:pPr indent="0" marL="0">
              <a:buNone/>
            </a:pPr>
            <a:r>
              <a:rPr lang="en-US" sz="1300" spc="200" kern="0" dirty="0">
                <a:solidFill>
                  <a:srgbClr val="7A5D4E"/>
                </a:solidFill>
                <a:latin typeface="Arial" pitchFamily="34" charset="0"/>
                <a:ea typeface="Arial" pitchFamily="34" charset="-122"/>
                <a:cs typeface="Arial" pitchFamily="34" charset="-120"/>
              </a:rPr>
              <a:t>HELD AND ESCALATED</a:t>
            </a:r>
            <a:endParaRPr lang="en-US" sz="1300" dirty="0"/>
          </a:p>
        </p:txBody>
      </p:sp>
      <p:sp>
        <p:nvSpPr>
          <p:cNvPr id="31" name="Text 28"/>
          <p:cNvSpPr/>
          <p:nvPr/>
        </p:nvSpPr>
        <p:spPr>
          <a:xfrm>
            <a:off x="9729216" y="2487168"/>
            <a:ext cx="7360920" cy="658368"/>
          </a:xfrm>
          <a:prstGeom prst="rect">
            <a:avLst/>
          </a:prstGeom>
          <a:noFill/>
          <a:ln/>
        </p:spPr>
        <p:txBody>
          <a:bodyPr wrap="square" lIns="0" tIns="0" rIns="0" bIns="0" rtlCol="0" anchor="ctr"/>
          <a:lstStyle/>
          <a:p>
            <a:pPr indent="0" marL="0">
              <a:buNone/>
            </a:pPr>
            <a:r>
              <a:rPr lang="en-US" sz="4000" b="1" dirty="0">
                <a:solidFill>
                  <a:srgbClr val="F2C572"/>
                </a:solidFill>
                <a:latin typeface="Arial" pitchFamily="34" charset="0"/>
                <a:ea typeface="Arial" pitchFamily="34" charset="-122"/>
                <a:cs typeface="Arial" pitchFamily="34" charset="-120"/>
              </a:rPr>
              <a:t>Escalate</a:t>
            </a:r>
            <a:endParaRPr lang="en-US" sz="4000" dirty="0"/>
          </a:p>
        </p:txBody>
      </p:sp>
      <p:sp>
        <p:nvSpPr>
          <p:cNvPr id="32" name="Text 29"/>
          <p:cNvSpPr/>
          <p:nvPr/>
        </p:nvSpPr>
        <p:spPr>
          <a:xfrm>
            <a:off x="9729216" y="3200400"/>
            <a:ext cx="7360920" cy="868680"/>
          </a:xfrm>
          <a:prstGeom prst="rect">
            <a:avLst/>
          </a:prstGeom>
          <a:noFill/>
          <a:ln/>
        </p:spPr>
        <p:txBody>
          <a:bodyPr wrap="square" lIns="0" tIns="0" rIns="0" bIns="0" rtlCol="0" anchor="ctr"/>
          <a:lstStyle/>
          <a:p>
            <a:pPr indent="0" marL="0">
              <a:buNone/>
            </a:pPr>
            <a:r>
              <a:rPr lang="en-US" sz="1800" dirty="0">
                <a:solidFill>
                  <a:srgbClr val="F2E3D5"/>
                </a:solidFill>
                <a:latin typeface="Arial" pitchFamily="34" charset="0"/>
                <a:ea typeface="Arial" pitchFamily="34" charset="-122"/>
                <a:cs typeface="Arial" pitchFamily="34" charset="-120"/>
              </a:rPr>
              <a:t>with the evidence packet.</a:t>
            </a:r>
            <a:endParaRPr lang="en-US" sz="1800" dirty="0"/>
          </a:p>
          <a:p>
            <a:pPr indent="0" marL="0">
              <a:buNone/>
            </a:pPr>
            <a:r>
              <a:rPr lang="en-US" sz="1800" dirty="0">
                <a:solidFill>
                  <a:srgbClr val="F2E3D5"/>
                </a:solidFill>
                <a:latin typeface="Arial" pitchFamily="34" charset="0"/>
                <a:ea typeface="Arial" pitchFamily="34" charset="-122"/>
                <a:cs typeface="Arial" pitchFamily="34" charset="-120"/>
              </a:rPr>
              <a:t>Not an alert.</a:t>
            </a:r>
            <a:endParaRPr lang="en-US" sz="1800" dirty="0"/>
          </a:p>
        </p:txBody>
      </p:sp>
      <p:sp>
        <p:nvSpPr>
          <p:cNvPr id="33" name="Text 30"/>
          <p:cNvSpPr/>
          <p:nvPr/>
        </p:nvSpPr>
        <p:spPr>
          <a:xfrm>
            <a:off x="9729216" y="4224528"/>
            <a:ext cx="7360920" cy="292608"/>
          </a:xfrm>
          <a:prstGeom prst="rect">
            <a:avLst/>
          </a:prstGeom>
          <a:noFill/>
          <a:ln/>
        </p:spPr>
        <p:txBody>
          <a:bodyPr wrap="square" lIns="0" tIns="0" rIns="0" bIns="0" rtlCol="0" anchor="ctr"/>
          <a:lstStyle/>
          <a:p>
            <a:pPr indent="0" marL="0">
              <a:buNone/>
            </a:pPr>
            <a:r>
              <a:rPr lang="en-US" sz="1300" spc="160" kern="0" dirty="0">
                <a:solidFill>
                  <a:srgbClr val="7A5D4E"/>
                </a:solidFill>
                <a:latin typeface="Arial" pitchFamily="34" charset="0"/>
                <a:ea typeface="Arial" pitchFamily="34" charset="-122"/>
                <a:cs typeface="Arial" pitchFamily="34" charset="-120"/>
              </a:rPr>
              <a:t>SAME RESPONSE. TWO ACTUATORS.</a:t>
            </a:r>
            <a:endParaRPr lang="en-US" sz="1300" dirty="0"/>
          </a:p>
        </p:txBody>
      </p:sp>
      <p:sp>
        <p:nvSpPr>
          <p:cNvPr id="34" name="Text 31"/>
          <p:cNvSpPr/>
          <p:nvPr/>
        </p:nvSpPr>
        <p:spPr>
          <a:xfrm>
            <a:off x="9729216" y="4590288"/>
            <a:ext cx="7360920" cy="365760"/>
          </a:xfrm>
          <a:prstGeom prst="rect">
            <a:avLst/>
          </a:prstGeom>
          <a:noFill/>
          <a:ln/>
        </p:spPr>
        <p:txBody>
          <a:bodyPr wrap="square" lIns="0" tIns="0" rIns="0" bIns="0" rtlCol="0" anchor="ctr"/>
          <a:lstStyle/>
          <a:p>
            <a:pPr indent="0" marL="0">
              <a:buNone/>
            </a:pPr>
            <a:r>
              <a:rPr lang="en-US" sz="2000" b="1" dirty="0">
                <a:solidFill>
                  <a:srgbClr val="F2E3D5"/>
                </a:solidFill>
                <a:latin typeface="Arial" pitchFamily="34" charset="0"/>
                <a:ea typeface="Arial" pitchFamily="34" charset="-122"/>
                <a:cs typeface="Arial" pitchFamily="34" charset="-120"/>
              </a:rPr>
              <a:t>show_text  →  Edit</a:t>
            </a:r>
            <a:endParaRPr lang="en-US" sz="2000" dirty="0"/>
          </a:p>
        </p:txBody>
      </p:sp>
      <p:sp>
        <p:nvSpPr>
          <p:cNvPr id="35" name="Text 32"/>
          <p:cNvSpPr/>
          <p:nvPr/>
        </p:nvSpPr>
        <p:spPr>
          <a:xfrm>
            <a:off x="9729216" y="4992624"/>
            <a:ext cx="7360920" cy="365760"/>
          </a:xfrm>
          <a:prstGeom prst="rect">
            <a:avLst/>
          </a:prstGeom>
          <a:noFill/>
          <a:ln/>
        </p:spPr>
        <p:txBody>
          <a:bodyPr wrap="square" lIns="0" tIns="0" rIns="0" bIns="0" rtlCol="0" anchor="ctr"/>
          <a:lstStyle/>
          <a:p>
            <a:pPr indent="0" marL="0">
              <a:buNone/>
            </a:pPr>
            <a:r>
              <a:rPr lang="en-US" sz="2000" b="1" dirty="0">
                <a:solidFill>
                  <a:srgbClr val="F2C572"/>
                </a:solidFill>
                <a:latin typeface="Arial" pitchFamily="34" charset="0"/>
                <a:ea typeface="Arial" pitchFamily="34" charset="-122"/>
                <a:cs typeface="Arial" pitchFamily="34" charset="-120"/>
              </a:rPr>
              <a:t>issue_refund  →  Escalate</a:t>
            </a:r>
            <a:endParaRPr lang="en-US" sz="2000" dirty="0"/>
          </a:p>
        </p:txBody>
      </p:sp>
      <p:sp>
        <p:nvSpPr>
          <p:cNvPr id="36" name="Text 33"/>
          <p:cNvSpPr/>
          <p:nvPr/>
        </p:nvSpPr>
        <p:spPr>
          <a:xfrm>
            <a:off x="9729216" y="5486400"/>
            <a:ext cx="7360920" cy="105156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Text edited. Money held. Both correct at the same time.</a:t>
            </a:r>
            <a:endParaRPr lang="en-US" sz="1600" dirty="0"/>
          </a:p>
        </p:txBody>
      </p:sp>
      <p:sp>
        <p:nvSpPr>
          <p:cNvPr id="37" name="Shape 34"/>
          <p:cNvSpPr/>
          <p:nvPr/>
        </p:nvSpPr>
        <p:spPr>
          <a:xfrm>
            <a:off x="950976" y="7223760"/>
            <a:ext cx="16386048" cy="2011680"/>
          </a:xfrm>
          <a:prstGeom prst="rect">
            <a:avLst/>
          </a:prstGeom>
          <a:solidFill>
            <a:srgbClr val="1A0D0A"/>
          </a:solidFill>
          <a:ln w="8636">
            <a:solidFill>
              <a:srgbClr val="3A1E16"/>
            </a:solidFill>
            <a:prstDash val="solid"/>
          </a:ln>
        </p:spPr>
      </p:sp>
      <p:sp>
        <p:nvSpPr>
          <p:cNvPr id="38" name="Text 35"/>
          <p:cNvSpPr/>
          <p:nvPr/>
        </p:nvSpPr>
        <p:spPr>
          <a:xfrm>
            <a:off x="1280160" y="7424928"/>
            <a:ext cx="15727680" cy="384048"/>
          </a:xfrm>
          <a:prstGeom prst="rect">
            <a:avLst/>
          </a:prstGeom>
          <a:noFill/>
          <a:ln/>
        </p:spPr>
        <p:txBody>
          <a:bodyPr wrap="square" lIns="0" tIns="0" rIns="0" bIns="0" rtlCol="0" anchor="ctr"/>
          <a:lstStyle/>
          <a:p>
            <a:pPr indent="0" marL="0">
              <a:buNone/>
            </a:pPr>
            <a:r>
              <a:rPr lang="en-US" sz="1800" dirty="0">
                <a:solidFill>
                  <a:srgbClr val="F2E3D5"/>
                </a:solidFill>
                <a:latin typeface="Arial" pitchFamily="34" charset="0"/>
                <a:ea typeface="Arial" pitchFamily="34" charset="-122"/>
                <a:cs typeface="Arial" pitchFamily="34" charset="-120"/>
              </a:rPr>
              <a:t>The customer-visible line is edited. The payout is held. Hash chain verifies.</a:t>
            </a:r>
            <a:endParaRPr lang="en-US" sz="1800" dirty="0"/>
          </a:p>
        </p:txBody>
      </p:sp>
      <p:sp>
        <p:nvSpPr>
          <p:cNvPr id="39" name="Text 36"/>
          <p:cNvSpPr/>
          <p:nvPr/>
        </p:nvSpPr>
        <p:spPr>
          <a:xfrm>
            <a:off x="1280160" y="7882128"/>
            <a:ext cx="15727680" cy="96012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R3 × unsupported-categorical routes to Escalate. Spoken word and grid agree: held and escalated with the evidence packet.</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07 // DEMO 04</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636776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07 · DEMO 04 / 04  ·  ENTITLEMENT FLIP  ·  python3 examples/knowledge_flip_demo.py</a:t>
            </a:r>
            <a:endParaRPr lang="en-US" sz="1500" dirty="0"/>
          </a:p>
        </p:txBody>
      </p:sp>
      <p:sp>
        <p:nvSpPr>
          <p:cNvPr id="12" name="Text 9"/>
          <p:cNvSpPr/>
          <p:nvPr/>
        </p:nvSpPr>
        <p:spPr>
          <a:xfrm>
            <a:off x="950976" y="1225296"/>
            <a:ext cx="16367760" cy="566928"/>
          </a:xfrm>
          <a:prstGeom prst="rect">
            <a:avLst/>
          </a:prstGeom>
          <a:noFill/>
          <a:ln/>
        </p:spPr>
        <p:txBody>
          <a:bodyPr wrap="square" lIns="0" tIns="0" rIns="0" bIns="0" rtlCol="0" anchor="t"/>
          <a:lstStyle/>
          <a:p>
            <a:pPr algn="l" indent="0" marL="0">
              <a:buNone/>
            </a:pPr>
            <a:r>
              <a:rPr lang="en-US" sz="2600" b="1" spc="-75" kern="0" dirty="0">
                <a:solidFill>
                  <a:srgbClr val="F2E3D5"/>
                </a:solidFill>
                <a:latin typeface="Arial" pitchFamily="34" charset="0"/>
                <a:ea typeface="Arial" pitchFamily="34" charset="-122"/>
                <a:cs typeface="Arial" pitchFamily="34" charset="-120"/>
              </a:rPr>
              <a:t>SAME SPAN. SAME CLAIM. SAME HASH.</a:t>
            </a:r>
            <a:pPr algn="l" indent="0" marL="0">
              <a:buNone/>
            </a:pPr>
            <a:r>
              <a:rPr lang="en-US" sz="2600" b="1" spc="-75" kern="0" dirty="0">
                <a:solidFill>
                  <a:srgbClr val="D9482A"/>
                </a:solidFill>
                <a:latin typeface="Arial" pitchFamily="34" charset="0"/>
                <a:ea typeface="Arial" pitchFamily="34" charset="-122"/>
                <a:cs typeface="Arial" pitchFamily="34" charset="-120"/>
              </a:rPr>
              <a:t> ONLY THE CALLER CHANGED.</a:t>
            </a:r>
            <a:endParaRPr lang="en-US" sz="2600" dirty="0"/>
          </a:p>
        </p:txBody>
      </p:sp>
      <p:sp>
        <p:nvSpPr>
          <p:cNvPr id="13" name="Shape 10"/>
          <p:cNvSpPr/>
          <p:nvPr/>
        </p:nvSpPr>
        <p:spPr>
          <a:xfrm>
            <a:off x="950976" y="2103120"/>
            <a:ext cx="8092440" cy="6126480"/>
          </a:xfrm>
          <a:prstGeom prst="rect">
            <a:avLst/>
          </a:prstGeom>
          <a:solidFill>
            <a:srgbClr val="1A0D0A"/>
          </a:solidFill>
          <a:ln w="13970">
            <a:solidFill>
              <a:srgbClr val="D9482A"/>
            </a:solidFill>
            <a:prstDash val="solid"/>
          </a:ln>
        </p:spPr>
      </p:sp>
      <p:sp>
        <p:nvSpPr>
          <p:cNvPr id="14" name="Shape 11"/>
          <p:cNvSpPr/>
          <p:nvPr/>
        </p:nvSpPr>
        <p:spPr>
          <a:xfrm>
            <a:off x="950976" y="2103120"/>
            <a:ext cx="8092440" cy="41148"/>
          </a:xfrm>
          <a:prstGeom prst="rect">
            <a:avLst/>
          </a:prstGeom>
          <a:solidFill>
            <a:srgbClr val="D9482A"/>
          </a:solidFill>
          <a:ln/>
        </p:spPr>
      </p:sp>
      <p:sp>
        <p:nvSpPr>
          <p:cNvPr id="15" name="Text 12"/>
          <p:cNvSpPr/>
          <p:nvPr/>
        </p:nvSpPr>
        <p:spPr>
          <a:xfrm>
            <a:off x="1243584" y="2304288"/>
            <a:ext cx="7498080" cy="365760"/>
          </a:xfrm>
          <a:prstGeom prst="rect">
            <a:avLst/>
          </a:prstGeom>
          <a:noFill/>
          <a:ln/>
        </p:spPr>
        <p:txBody>
          <a:bodyPr wrap="square" lIns="0" tIns="0" rIns="0" bIns="0" rtlCol="0" anchor="ctr"/>
          <a:lstStyle/>
          <a:p>
            <a:pPr indent="0" marL="0">
              <a:buNone/>
            </a:pPr>
            <a:r>
              <a:rPr lang="en-US" sz="2000" b="1" dirty="0">
                <a:solidFill>
                  <a:srgbClr val="F2E3D5"/>
                </a:solidFill>
                <a:latin typeface="Arial" pitchFamily="34" charset="0"/>
                <a:ea typeface="Arial" pitchFamily="34" charset="-122"/>
                <a:cs typeface="Arial" pitchFamily="34" charset="-120"/>
              </a:rPr>
              <a:t>analyst_01</a:t>
            </a:r>
            <a:endParaRPr lang="en-US" sz="2000" dirty="0"/>
          </a:p>
        </p:txBody>
      </p:sp>
      <p:sp>
        <p:nvSpPr>
          <p:cNvPr id="16" name="Text 13"/>
          <p:cNvSpPr/>
          <p:nvPr/>
        </p:nvSpPr>
        <p:spPr>
          <a:xfrm>
            <a:off x="1243584" y="2706624"/>
            <a:ext cx="7498080" cy="310896"/>
          </a:xfrm>
          <a:prstGeom prst="rect">
            <a:avLst/>
          </a:prstGeom>
          <a:noFill/>
          <a:ln/>
        </p:spPr>
        <p:txBody>
          <a:bodyPr wrap="square" lIns="0" tIns="0" rIns="0" bIns="0" rtlCol="0" anchor="ctr"/>
          <a:lstStyle/>
          <a:p>
            <a:pPr indent="0" marL="0">
              <a:buNone/>
            </a:pPr>
            <a:r>
              <a:rPr lang="en-US" sz="1400" dirty="0">
                <a:solidFill>
                  <a:srgbClr val="7A5D4E"/>
                </a:solidFill>
                <a:latin typeface="Arial" pitchFamily="34" charset="0"/>
                <a:ea typeface="Arial" pitchFamily="34" charset="-122"/>
                <a:cs typeface="Arial" pitchFamily="34" charset="-120"/>
              </a:rPr>
              <a:t>clearance {analyst}  ·  span ACL {hr-comp-l6}</a:t>
            </a:r>
            <a:endParaRPr lang="en-US" sz="1400" dirty="0"/>
          </a:p>
        </p:txBody>
      </p:sp>
      <p:sp>
        <p:nvSpPr>
          <p:cNvPr id="17" name="Text 14"/>
          <p:cNvSpPr/>
          <p:nvPr/>
        </p:nvSpPr>
        <p:spPr>
          <a:xfrm>
            <a:off x="1243584" y="3163824"/>
            <a:ext cx="7498080" cy="310896"/>
          </a:xfrm>
          <a:prstGeom prst="rect">
            <a:avLst/>
          </a:prstGeom>
          <a:noFill/>
          <a:ln/>
        </p:spPr>
        <p:txBody>
          <a:bodyPr wrap="square" lIns="0" tIns="0" rIns="0" bIns="0" rtlCol="0" anchor="ctr"/>
          <a:lstStyle/>
          <a:p>
            <a:pPr indent="0" marL="0">
              <a:buNone/>
            </a:pPr>
            <a:r>
              <a:rPr lang="en-US" sz="1400" dirty="0">
                <a:solidFill>
                  <a:srgbClr val="F2C572"/>
                </a:solidFill>
                <a:latin typeface="Courier New" pitchFamily="34" charset="0"/>
                <a:ea typeface="Courier New" pitchFamily="34" charset="-122"/>
                <a:cs typeface="Courier New" pitchFamily="34" charset="-120"/>
              </a:rPr>
              <a:t>content_hash  60d00e…f8603d</a:t>
            </a:r>
            <a:endParaRPr lang="en-US" sz="1400" dirty="0"/>
          </a:p>
        </p:txBody>
      </p:sp>
      <p:sp>
        <p:nvSpPr>
          <p:cNvPr id="18" name="Text 15"/>
          <p:cNvSpPr/>
          <p:nvPr/>
        </p:nvSpPr>
        <p:spPr>
          <a:xfrm>
            <a:off x="1243584" y="3621024"/>
            <a:ext cx="7498080" cy="640080"/>
          </a:xfrm>
          <a:prstGeom prst="rect">
            <a:avLst/>
          </a:prstGeom>
          <a:noFill/>
          <a:ln/>
        </p:spPr>
        <p:txBody>
          <a:bodyPr wrap="square" lIns="0" tIns="0" rIns="0" bIns="0" rtlCol="0" anchor="t"/>
          <a:lstStyle/>
          <a:p>
            <a:pPr indent="0" marL="0">
              <a:buNone/>
            </a:pPr>
            <a:r>
              <a:rPr lang="en-US" sz="1600" i="1" dirty="0">
                <a:solidFill>
                  <a:srgbClr val="F2E3D5"/>
                </a:solidFill>
                <a:latin typeface="Arial" pitchFamily="34" charset="0"/>
                <a:ea typeface="Arial" pitchFamily="34" charset="-122"/>
                <a:cs typeface="Arial" pitchFamily="34" charset="-120"/>
              </a:rPr>
              <a:t>“L6 base range is confidential HR-partner material.”</a:t>
            </a:r>
            <a:endParaRPr lang="en-US" sz="1600" dirty="0"/>
          </a:p>
        </p:txBody>
      </p:sp>
      <p:sp>
        <p:nvSpPr>
          <p:cNvPr id="19" name="Text 16"/>
          <p:cNvSpPr/>
          <p:nvPr/>
        </p:nvSpPr>
        <p:spPr>
          <a:xfrm>
            <a:off x="1243584" y="4425696"/>
            <a:ext cx="7498080" cy="365760"/>
          </a:xfrm>
          <a:prstGeom prst="rect">
            <a:avLst/>
          </a:prstGeom>
          <a:noFill/>
          <a:ln/>
        </p:spPr>
        <p:txBody>
          <a:bodyPr wrap="square" lIns="0" tIns="0" rIns="0" bIns="0" rtlCol="0" anchor="ctr"/>
          <a:lstStyle/>
          <a:p>
            <a:pPr indent="0" marL="0">
              <a:buNone/>
            </a:pPr>
            <a:r>
              <a:rPr lang="en-US" sz="1500" b="1" dirty="0">
                <a:solidFill>
                  <a:srgbClr val="D9482A"/>
                </a:solidFill>
                <a:latin typeface="Arial" pitchFamily="34" charset="0"/>
                <a:ea typeface="Arial" pitchFamily="34" charset="-122"/>
                <a:cs typeface="Arial" pitchFamily="34" charset="-120"/>
              </a:rPr>
              <a:t>span ACL ⊄ principal clearance  →  VIOLATION</a:t>
            </a:r>
            <a:endParaRPr lang="en-US" sz="1500" dirty="0"/>
          </a:p>
        </p:txBody>
      </p:sp>
      <p:sp>
        <p:nvSpPr>
          <p:cNvPr id="20" name="Text 17"/>
          <p:cNvSpPr/>
          <p:nvPr/>
        </p:nvSpPr>
        <p:spPr>
          <a:xfrm>
            <a:off x="1243584" y="4882896"/>
            <a:ext cx="7498080" cy="292608"/>
          </a:xfrm>
          <a:prstGeom prst="rect">
            <a:avLst/>
          </a:prstGeom>
          <a:noFill/>
          <a:ln/>
        </p:spPr>
        <p:txBody>
          <a:bodyPr wrap="square" lIns="0" tIns="0" rIns="0" bIns="0" rtlCol="0" anchor="ctr"/>
          <a:lstStyle/>
          <a:p>
            <a:pPr indent="0" marL="0">
              <a:buNone/>
            </a:pPr>
            <a:r>
              <a:rPr lang="en-US" sz="1400" dirty="0">
                <a:solidFill>
                  <a:srgbClr val="C9B5A3"/>
                </a:solidFill>
                <a:latin typeface="Arial" pitchFamily="34" charset="0"/>
                <a:ea typeface="Arial" pitchFamily="34" charset="-122"/>
                <a:cs typeface="Arial" pitchFamily="34" charset="-120"/>
              </a:rPr>
              <a:t>CELL   R1 × Contradicted / entitlement violation</a:t>
            </a:r>
            <a:endParaRPr lang="en-US" sz="1400" dirty="0"/>
          </a:p>
        </p:txBody>
      </p:sp>
      <p:sp>
        <p:nvSpPr>
          <p:cNvPr id="21" name="Text 18"/>
          <p:cNvSpPr/>
          <p:nvPr/>
        </p:nvSpPr>
        <p:spPr>
          <a:xfrm>
            <a:off x="1243584" y="5340096"/>
            <a:ext cx="7498080" cy="256032"/>
          </a:xfrm>
          <a:prstGeom prst="rect">
            <a:avLst/>
          </a:prstGeom>
          <a:noFill/>
          <a:ln/>
        </p:spPr>
        <p:txBody>
          <a:bodyPr wrap="square" lIns="0" tIns="0" rIns="0" bIns="0" rtlCol="0" anchor="ctr"/>
          <a:lstStyle/>
          <a:p>
            <a:pPr indent="0" marL="0">
              <a:buNone/>
            </a:pPr>
            <a:r>
              <a:rPr lang="en-US" sz="1300" spc="200" kern="0" dirty="0">
                <a:solidFill>
                  <a:srgbClr val="7A5D4E"/>
                </a:solidFill>
                <a:latin typeface="Arial" pitchFamily="34" charset="0"/>
                <a:ea typeface="Arial" pitchFamily="34" charset="-122"/>
                <a:cs typeface="Arial" pitchFamily="34" charset="-120"/>
              </a:rPr>
              <a:t>ACTUATOR</a:t>
            </a:r>
            <a:endParaRPr lang="en-US" sz="1300" dirty="0"/>
          </a:p>
        </p:txBody>
      </p:sp>
      <p:sp>
        <p:nvSpPr>
          <p:cNvPr id="22" name="Text 19"/>
          <p:cNvSpPr/>
          <p:nvPr/>
        </p:nvSpPr>
        <p:spPr>
          <a:xfrm>
            <a:off x="1243584" y="5632704"/>
            <a:ext cx="7498080" cy="822960"/>
          </a:xfrm>
          <a:prstGeom prst="rect">
            <a:avLst/>
          </a:prstGeom>
          <a:noFill/>
          <a:ln/>
        </p:spPr>
        <p:txBody>
          <a:bodyPr wrap="square" lIns="0" tIns="0" rIns="0" bIns="0" rtlCol="0" anchor="ctr"/>
          <a:lstStyle/>
          <a:p>
            <a:pPr indent="0" marL="0">
              <a:buNone/>
            </a:pPr>
            <a:r>
              <a:rPr lang="en-US" sz="4000" b="1" dirty="0">
                <a:solidFill>
                  <a:srgbClr val="F2E3D5"/>
                </a:solidFill>
                <a:latin typeface="Arial" pitchFamily="34" charset="0"/>
                <a:ea typeface="Arial" pitchFamily="34" charset="-122"/>
                <a:cs typeface="Arial" pitchFamily="34" charset="-120"/>
              </a:rPr>
              <a:t>Edit</a:t>
            </a:r>
            <a:endParaRPr lang="en-US" sz="4000" dirty="0"/>
          </a:p>
        </p:txBody>
      </p:sp>
      <p:sp>
        <p:nvSpPr>
          <p:cNvPr id="23" name="Shape 20"/>
          <p:cNvSpPr/>
          <p:nvPr/>
        </p:nvSpPr>
        <p:spPr>
          <a:xfrm>
            <a:off x="9244584" y="2103120"/>
            <a:ext cx="8092440" cy="6126480"/>
          </a:xfrm>
          <a:prstGeom prst="rect">
            <a:avLst/>
          </a:prstGeom>
          <a:solidFill>
            <a:srgbClr val="1A0D0A"/>
          </a:solidFill>
          <a:ln w="13970">
            <a:solidFill>
              <a:srgbClr val="F2C572"/>
            </a:solidFill>
            <a:prstDash val="solid"/>
          </a:ln>
        </p:spPr>
      </p:sp>
      <p:sp>
        <p:nvSpPr>
          <p:cNvPr id="24" name="Shape 21"/>
          <p:cNvSpPr/>
          <p:nvPr/>
        </p:nvSpPr>
        <p:spPr>
          <a:xfrm>
            <a:off x="9244584" y="2103120"/>
            <a:ext cx="8092440" cy="41148"/>
          </a:xfrm>
          <a:prstGeom prst="rect">
            <a:avLst/>
          </a:prstGeom>
          <a:solidFill>
            <a:srgbClr val="D9482A"/>
          </a:solidFill>
          <a:ln/>
        </p:spPr>
      </p:sp>
      <p:sp>
        <p:nvSpPr>
          <p:cNvPr id="25" name="Text 22"/>
          <p:cNvSpPr/>
          <p:nvPr/>
        </p:nvSpPr>
        <p:spPr>
          <a:xfrm>
            <a:off x="9537192" y="2304288"/>
            <a:ext cx="7498080" cy="365760"/>
          </a:xfrm>
          <a:prstGeom prst="rect">
            <a:avLst/>
          </a:prstGeom>
          <a:noFill/>
          <a:ln/>
        </p:spPr>
        <p:txBody>
          <a:bodyPr wrap="square" lIns="0" tIns="0" rIns="0" bIns="0" rtlCol="0" anchor="ctr"/>
          <a:lstStyle/>
          <a:p>
            <a:pPr indent="0" marL="0">
              <a:buNone/>
            </a:pPr>
            <a:r>
              <a:rPr lang="en-US" sz="2000" b="1" dirty="0">
                <a:solidFill>
                  <a:srgbClr val="F2E3D5"/>
                </a:solidFill>
                <a:latin typeface="Arial" pitchFamily="34" charset="0"/>
                <a:ea typeface="Arial" pitchFamily="34" charset="-122"/>
                <a:cs typeface="Arial" pitchFamily="34" charset="-120"/>
              </a:rPr>
              <a:t>hr_partner_01</a:t>
            </a:r>
            <a:endParaRPr lang="en-US" sz="2000" dirty="0"/>
          </a:p>
        </p:txBody>
      </p:sp>
      <p:sp>
        <p:nvSpPr>
          <p:cNvPr id="26" name="Text 23"/>
          <p:cNvSpPr/>
          <p:nvPr/>
        </p:nvSpPr>
        <p:spPr>
          <a:xfrm>
            <a:off x="9537192" y="2706624"/>
            <a:ext cx="7498080" cy="310896"/>
          </a:xfrm>
          <a:prstGeom prst="rect">
            <a:avLst/>
          </a:prstGeom>
          <a:noFill/>
          <a:ln/>
        </p:spPr>
        <p:txBody>
          <a:bodyPr wrap="square" lIns="0" tIns="0" rIns="0" bIns="0" rtlCol="0" anchor="ctr"/>
          <a:lstStyle/>
          <a:p>
            <a:pPr indent="0" marL="0">
              <a:buNone/>
            </a:pPr>
            <a:r>
              <a:rPr lang="en-US" sz="1400" dirty="0">
                <a:solidFill>
                  <a:srgbClr val="7A5D4E"/>
                </a:solidFill>
                <a:latin typeface="Arial" pitchFamily="34" charset="0"/>
                <a:ea typeface="Arial" pitchFamily="34" charset="-122"/>
                <a:cs typeface="Arial" pitchFamily="34" charset="-120"/>
              </a:rPr>
              <a:t>clearance {hr-partner, hr-comp-l6}  ·  span ACL {hr-comp-l6}</a:t>
            </a:r>
            <a:endParaRPr lang="en-US" sz="1400" dirty="0"/>
          </a:p>
        </p:txBody>
      </p:sp>
      <p:sp>
        <p:nvSpPr>
          <p:cNvPr id="27" name="Text 24"/>
          <p:cNvSpPr/>
          <p:nvPr/>
        </p:nvSpPr>
        <p:spPr>
          <a:xfrm>
            <a:off x="9537192" y="3163824"/>
            <a:ext cx="7498080" cy="310896"/>
          </a:xfrm>
          <a:prstGeom prst="rect">
            <a:avLst/>
          </a:prstGeom>
          <a:noFill/>
          <a:ln/>
        </p:spPr>
        <p:txBody>
          <a:bodyPr wrap="square" lIns="0" tIns="0" rIns="0" bIns="0" rtlCol="0" anchor="ctr"/>
          <a:lstStyle/>
          <a:p>
            <a:pPr indent="0" marL="0">
              <a:buNone/>
            </a:pPr>
            <a:r>
              <a:rPr lang="en-US" sz="1400" dirty="0">
                <a:solidFill>
                  <a:srgbClr val="F2C572"/>
                </a:solidFill>
                <a:latin typeface="Courier New" pitchFamily="34" charset="0"/>
                <a:ea typeface="Courier New" pitchFamily="34" charset="-122"/>
                <a:cs typeface="Courier New" pitchFamily="34" charset="-120"/>
              </a:rPr>
              <a:t>content_hash  60d00e…f8603d</a:t>
            </a:r>
            <a:endParaRPr lang="en-US" sz="1400" dirty="0"/>
          </a:p>
        </p:txBody>
      </p:sp>
      <p:sp>
        <p:nvSpPr>
          <p:cNvPr id="28" name="Text 25"/>
          <p:cNvSpPr/>
          <p:nvPr/>
        </p:nvSpPr>
        <p:spPr>
          <a:xfrm>
            <a:off x="9537192" y="3621024"/>
            <a:ext cx="7498080" cy="640080"/>
          </a:xfrm>
          <a:prstGeom prst="rect">
            <a:avLst/>
          </a:prstGeom>
          <a:noFill/>
          <a:ln/>
        </p:spPr>
        <p:txBody>
          <a:bodyPr wrap="square" lIns="0" tIns="0" rIns="0" bIns="0" rtlCol="0" anchor="t"/>
          <a:lstStyle/>
          <a:p>
            <a:pPr indent="0" marL="0">
              <a:buNone/>
            </a:pPr>
            <a:r>
              <a:rPr lang="en-US" sz="1600" i="1" dirty="0">
                <a:solidFill>
                  <a:srgbClr val="F2E3D5"/>
                </a:solidFill>
                <a:latin typeface="Arial" pitchFamily="34" charset="0"/>
                <a:ea typeface="Arial" pitchFamily="34" charset="-122"/>
                <a:cs typeface="Arial" pitchFamily="34" charset="-120"/>
              </a:rPr>
              <a:t>“L6 base range is confidential HR-partner material.”</a:t>
            </a:r>
            <a:endParaRPr lang="en-US" sz="1600" dirty="0"/>
          </a:p>
        </p:txBody>
      </p:sp>
      <p:sp>
        <p:nvSpPr>
          <p:cNvPr id="29" name="Text 26"/>
          <p:cNvSpPr/>
          <p:nvPr/>
        </p:nvSpPr>
        <p:spPr>
          <a:xfrm>
            <a:off x="9537192" y="4425696"/>
            <a:ext cx="7498080" cy="365760"/>
          </a:xfrm>
          <a:prstGeom prst="rect">
            <a:avLst/>
          </a:prstGeom>
          <a:noFill/>
          <a:ln/>
        </p:spPr>
        <p:txBody>
          <a:bodyPr wrap="square" lIns="0" tIns="0" rIns="0" bIns="0" rtlCol="0" anchor="ctr"/>
          <a:lstStyle/>
          <a:p>
            <a:pPr indent="0" marL="0">
              <a:buNone/>
            </a:pPr>
            <a:r>
              <a:rPr lang="en-US" sz="1500" b="1" dirty="0">
                <a:solidFill>
                  <a:srgbClr val="F2C572"/>
                </a:solidFill>
                <a:latin typeface="Arial" pitchFamily="34" charset="0"/>
                <a:ea typeface="Arial" pitchFamily="34" charset="-122"/>
                <a:cs typeface="Arial" pitchFamily="34" charset="-120"/>
              </a:rPr>
              <a:t>span ACL ⊆ principal clearance  →  OK</a:t>
            </a:r>
            <a:endParaRPr lang="en-US" sz="1500" dirty="0"/>
          </a:p>
        </p:txBody>
      </p:sp>
      <p:sp>
        <p:nvSpPr>
          <p:cNvPr id="30" name="Text 27"/>
          <p:cNvSpPr/>
          <p:nvPr/>
        </p:nvSpPr>
        <p:spPr>
          <a:xfrm>
            <a:off x="9537192" y="4882896"/>
            <a:ext cx="7498080" cy="292608"/>
          </a:xfrm>
          <a:prstGeom prst="rect">
            <a:avLst/>
          </a:prstGeom>
          <a:noFill/>
          <a:ln/>
        </p:spPr>
        <p:txBody>
          <a:bodyPr wrap="square" lIns="0" tIns="0" rIns="0" bIns="0" rtlCol="0" anchor="ctr"/>
          <a:lstStyle/>
          <a:p>
            <a:pPr indent="0" marL="0">
              <a:buNone/>
            </a:pPr>
            <a:r>
              <a:rPr lang="en-US" sz="1400" dirty="0">
                <a:solidFill>
                  <a:srgbClr val="C9B5A3"/>
                </a:solidFill>
                <a:latin typeface="Arial" pitchFamily="34" charset="0"/>
                <a:ea typeface="Arial" pitchFamily="34" charset="-122"/>
                <a:cs typeface="Arial" pitchFamily="34" charset="-120"/>
              </a:rPr>
              <a:t>CELL   R1 × clean / supported</a:t>
            </a:r>
            <a:endParaRPr lang="en-US" sz="1400" dirty="0"/>
          </a:p>
        </p:txBody>
      </p:sp>
      <p:sp>
        <p:nvSpPr>
          <p:cNvPr id="31" name="Text 28"/>
          <p:cNvSpPr/>
          <p:nvPr/>
        </p:nvSpPr>
        <p:spPr>
          <a:xfrm>
            <a:off x="9537192" y="5340096"/>
            <a:ext cx="7498080" cy="256032"/>
          </a:xfrm>
          <a:prstGeom prst="rect">
            <a:avLst/>
          </a:prstGeom>
          <a:noFill/>
          <a:ln/>
        </p:spPr>
        <p:txBody>
          <a:bodyPr wrap="square" lIns="0" tIns="0" rIns="0" bIns="0" rtlCol="0" anchor="ctr"/>
          <a:lstStyle/>
          <a:p>
            <a:pPr indent="0" marL="0">
              <a:buNone/>
            </a:pPr>
            <a:r>
              <a:rPr lang="en-US" sz="1300" spc="200" kern="0" dirty="0">
                <a:solidFill>
                  <a:srgbClr val="7A5D4E"/>
                </a:solidFill>
                <a:latin typeface="Arial" pitchFamily="34" charset="0"/>
                <a:ea typeface="Arial" pitchFamily="34" charset="-122"/>
                <a:cs typeface="Arial" pitchFamily="34" charset="-120"/>
              </a:rPr>
              <a:t>ACTUATOR</a:t>
            </a:r>
            <a:endParaRPr lang="en-US" sz="1300" dirty="0"/>
          </a:p>
        </p:txBody>
      </p:sp>
      <p:sp>
        <p:nvSpPr>
          <p:cNvPr id="32" name="Text 29"/>
          <p:cNvSpPr/>
          <p:nvPr/>
        </p:nvSpPr>
        <p:spPr>
          <a:xfrm>
            <a:off x="9537192" y="5632704"/>
            <a:ext cx="7498080" cy="822960"/>
          </a:xfrm>
          <a:prstGeom prst="rect">
            <a:avLst/>
          </a:prstGeom>
          <a:noFill/>
          <a:ln/>
        </p:spPr>
        <p:txBody>
          <a:bodyPr wrap="square" lIns="0" tIns="0" rIns="0" bIns="0" rtlCol="0" anchor="ctr"/>
          <a:lstStyle/>
          <a:p>
            <a:pPr indent="0" marL="0">
              <a:buNone/>
            </a:pPr>
            <a:r>
              <a:rPr lang="en-US" sz="4000" b="1" dirty="0">
                <a:solidFill>
                  <a:srgbClr val="F2C572"/>
                </a:solidFill>
                <a:latin typeface="Arial" pitchFamily="34" charset="0"/>
                <a:ea typeface="Arial" pitchFamily="34" charset="-122"/>
                <a:cs typeface="Arial" pitchFamily="34" charset="-120"/>
              </a:rPr>
              <a:t>Pass</a:t>
            </a:r>
            <a:endParaRPr lang="en-US" sz="4000" dirty="0"/>
          </a:p>
        </p:txBody>
      </p:sp>
      <p:sp>
        <p:nvSpPr>
          <p:cNvPr id="33" name="Shape 30"/>
          <p:cNvSpPr/>
          <p:nvPr/>
        </p:nvSpPr>
        <p:spPr>
          <a:xfrm>
            <a:off x="950976" y="8357616"/>
            <a:ext cx="16386048" cy="1572768"/>
          </a:xfrm>
          <a:prstGeom prst="rect">
            <a:avLst/>
          </a:prstGeom>
          <a:solidFill>
            <a:srgbClr val="1A0D0A"/>
          </a:solidFill>
          <a:ln w="8636">
            <a:solidFill>
              <a:srgbClr val="3A1E16"/>
            </a:solidFill>
            <a:prstDash val="solid"/>
          </a:ln>
        </p:spPr>
      </p:sp>
      <p:sp>
        <p:nvSpPr>
          <p:cNvPr id="34" name="Text 31"/>
          <p:cNvSpPr/>
          <p:nvPr/>
        </p:nvSpPr>
        <p:spPr>
          <a:xfrm>
            <a:off x="1243584" y="8503920"/>
            <a:ext cx="15819120" cy="365760"/>
          </a:xfrm>
          <a:prstGeom prst="rect">
            <a:avLst/>
          </a:prstGeom>
          <a:noFill/>
          <a:ln/>
        </p:spPr>
        <p:txBody>
          <a:bodyPr wrap="square" lIns="0" tIns="0" rIns="0" bIns="0" rtlCol="0" anchor="ctr"/>
          <a:lstStyle/>
          <a:p>
            <a:pPr indent="0" marL="0">
              <a:buNone/>
            </a:pPr>
            <a:r>
              <a:rPr lang="en-US" sz="1800" b="1" dirty="0">
                <a:solidFill>
                  <a:srgbClr val="F2E3D5"/>
                </a:solidFill>
                <a:latin typeface="Arial" pitchFamily="34" charset="0"/>
                <a:ea typeface="Arial" pitchFamily="34" charset="-122"/>
                <a:cs typeface="Arial" pitchFamily="34" charset="-120"/>
              </a:rPr>
              <a:t>ZERO LLM IN THIS PATH. Set-membership on ACL ⊆ clearance.</a:t>
            </a:r>
            <a:endParaRPr lang="en-US" sz="1800" dirty="0"/>
          </a:p>
        </p:txBody>
      </p:sp>
      <p:sp>
        <p:nvSpPr>
          <p:cNvPr id="35" name="Text 32"/>
          <p:cNvSpPr/>
          <p:nvPr/>
        </p:nvSpPr>
        <p:spPr>
          <a:xfrm>
            <a:off x="1243584" y="8906256"/>
            <a:ext cx="15819120" cy="82296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The claim is the same. The evidence is the same. Only the caller changed — and the actuator flips. Groundedness sees the retrieval and says supported; it never carries who is asking, so it cannot see this.</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08 // NOT THESE</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91440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07 · WHY NOT</a:t>
            </a:r>
            <a:endParaRPr lang="en-US" sz="1500" dirty="0"/>
          </a:p>
        </p:txBody>
      </p:sp>
      <p:sp>
        <p:nvSpPr>
          <p:cNvPr id="12" name="Text 9"/>
          <p:cNvSpPr/>
          <p:nvPr/>
        </p:nvSpPr>
        <p:spPr>
          <a:xfrm>
            <a:off x="950976" y="1225296"/>
            <a:ext cx="16367760" cy="566928"/>
          </a:xfrm>
          <a:prstGeom prst="rect">
            <a:avLst/>
          </a:prstGeom>
          <a:noFill/>
          <a:ln/>
        </p:spPr>
        <p:txBody>
          <a:bodyPr wrap="square" lIns="0" tIns="0" rIns="0" bIns="0" rtlCol="0" anchor="t"/>
          <a:lstStyle/>
          <a:p>
            <a:pPr algn="l" indent="0" marL="0">
              <a:buNone/>
            </a:pPr>
            <a:r>
              <a:rPr lang="en-US" sz="2800" b="1" spc="-75" kern="0" dirty="0">
                <a:solidFill>
                  <a:srgbClr val="F2E3D5"/>
                </a:solidFill>
                <a:latin typeface="Arial" pitchFamily="34" charset="0"/>
                <a:ea typeface="Arial" pitchFamily="34" charset="-122"/>
                <a:cs typeface="Arial" pitchFamily="34" charset="-120"/>
              </a:rPr>
              <a:t>THEY INSPECT THE OUTPUT. WE QUERY THE </a:t>
            </a:r>
            <a:pPr algn="l" indent="0" marL="0">
              <a:buNone/>
            </a:pPr>
            <a:r>
              <a:rPr lang="en-US" sz="2800" b="1" spc="-75" kern="0" dirty="0">
                <a:solidFill>
                  <a:srgbClr val="D9482A"/>
                </a:solidFill>
                <a:latin typeface="Arial" pitchFamily="34" charset="0"/>
                <a:ea typeface="Arial" pitchFamily="34" charset="-122"/>
                <a:cs typeface="Arial" pitchFamily="34" charset="-120"/>
              </a:rPr>
              <a:t>EVIDENCE</a:t>
            </a:r>
            <a:pPr algn="l" indent="0" marL="0">
              <a:buNone/>
            </a:pPr>
            <a:r>
              <a:rPr lang="en-US" sz="2800" b="1" spc="-75" kern="0" dirty="0">
                <a:solidFill>
                  <a:srgbClr val="F2E3D5"/>
                </a:solidFill>
                <a:latin typeface="Arial" pitchFamily="34" charset="0"/>
                <a:ea typeface="Arial" pitchFamily="34" charset="-122"/>
                <a:cs typeface="Arial" pitchFamily="34" charset="-120"/>
              </a:rPr>
              <a:t>.</a:t>
            </a:r>
            <a:endParaRPr lang="en-US" sz="2800" dirty="0"/>
          </a:p>
        </p:txBody>
      </p:sp>
      <p:sp>
        <p:nvSpPr>
          <p:cNvPr id="13" name="Shape 10"/>
          <p:cNvSpPr/>
          <p:nvPr/>
        </p:nvSpPr>
        <p:spPr>
          <a:xfrm>
            <a:off x="950976" y="1938528"/>
            <a:ext cx="16386048" cy="9144"/>
          </a:xfrm>
          <a:prstGeom prst="rect">
            <a:avLst/>
          </a:prstGeom>
          <a:solidFill>
            <a:srgbClr val="3A1E16"/>
          </a:solidFill>
          <a:ln/>
        </p:spPr>
      </p:sp>
      <p:sp>
        <p:nvSpPr>
          <p:cNvPr id="14" name="Text 11"/>
          <p:cNvSpPr/>
          <p:nvPr/>
        </p:nvSpPr>
        <p:spPr>
          <a:xfrm>
            <a:off x="1060704" y="2011680"/>
            <a:ext cx="4937760" cy="292608"/>
          </a:xfrm>
          <a:prstGeom prst="rect">
            <a:avLst/>
          </a:prstGeom>
          <a:noFill/>
          <a:ln/>
        </p:spPr>
        <p:txBody>
          <a:bodyPr wrap="square" lIns="0" tIns="0" rIns="0" bIns="0" rtlCol="0" anchor="ctr"/>
          <a:lstStyle/>
          <a:p>
            <a:pPr indent="0" marL="0">
              <a:buNone/>
            </a:pPr>
            <a:r>
              <a:rPr lang="en-US" sz="1200" spc="160" kern="0" dirty="0">
                <a:solidFill>
                  <a:srgbClr val="7A5D4E"/>
                </a:solidFill>
                <a:latin typeface="Arial" pitchFamily="34" charset="0"/>
                <a:ea typeface="Arial" pitchFamily="34" charset="-122"/>
                <a:cs typeface="Arial" pitchFamily="34" charset="-120"/>
              </a:rPr>
              <a:t>COMMON APPROACH</a:t>
            </a:r>
            <a:endParaRPr lang="en-US" sz="1200" dirty="0"/>
          </a:p>
        </p:txBody>
      </p:sp>
      <p:sp>
        <p:nvSpPr>
          <p:cNvPr id="15" name="Text 12"/>
          <p:cNvSpPr/>
          <p:nvPr/>
        </p:nvSpPr>
        <p:spPr>
          <a:xfrm>
            <a:off x="6400800" y="2011680"/>
            <a:ext cx="10698480" cy="292608"/>
          </a:xfrm>
          <a:prstGeom prst="rect">
            <a:avLst/>
          </a:prstGeom>
          <a:noFill/>
          <a:ln/>
        </p:spPr>
        <p:txBody>
          <a:bodyPr wrap="square" lIns="0" tIns="0" rIns="0" bIns="0" rtlCol="0" anchor="ctr"/>
          <a:lstStyle/>
          <a:p>
            <a:pPr indent="0" marL="0">
              <a:buNone/>
            </a:pPr>
            <a:r>
              <a:rPr lang="en-US" sz="1200" spc="160" kern="0" dirty="0">
                <a:solidFill>
                  <a:srgbClr val="7A5D4E"/>
                </a:solidFill>
                <a:latin typeface="Arial" pitchFamily="34" charset="0"/>
                <a:ea typeface="Arial" pitchFamily="34" charset="-122"/>
                <a:cs typeface="Arial" pitchFamily="34" charset="-120"/>
              </a:rPr>
              <a:t>WHY IT FAILS THIS REFUND</a:t>
            </a:r>
            <a:endParaRPr lang="en-US" sz="1200" dirty="0"/>
          </a:p>
        </p:txBody>
      </p:sp>
      <p:sp>
        <p:nvSpPr>
          <p:cNvPr id="16" name="Shape 13"/>
          <p:cNvSpPr/>
          <p:nvPr/>
        </p:nvSpPr>
        <p:spPr>
          <a:xfrm>
            <a:off x="950976" y="2340864"/>
            <a:ext cx="16386048" cy="9144"/>
          </a:xfrm>
          <a:prstGeom prst="rect">
            <a:avLst/>
          </a:prstGeom>
          <a:solidFill>
            <a:srgbClr val="3A1E16"/>
          </a:solidFill>
          <a:ln/>
        </p:spPr>
      </p:sp>
      <p:sp>
        <p:nvSpPr>
          <p:cNvPr id="17" name="Text 14"/>
          <p:cNvSpPr/>
          <p:nvPr/>
        </p:nvSpPr>
        <p:spPr>
          <a:xfrm>
            <a:off x="1060704" y="2414016"/>
            <a:ext cx="5074920" cy="347472"/>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STATIC GUARDRAILS</a:t>
            </a:r>
            <a:endParaRPr lang="en-US" sz="1500" dirty="0"/>
          </a:p>
        </p:txBody>
      </p:sp>
      <p:sp>
        <p:nvSpPr>
          <p:cNvPr id="18" name="Text 15"/>
          <p:cNvSpPr/>
          <p:nvPr/>
        </p:nvSpPr>
        <p:spPr>
          <a:xfrm>
            <a:off x="1060704" y="2743200"/>
            <a:ext cx="5074920" cy="29260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LlamaGuard, regex, deny-lists</a:t>
            </a:r>
            <a:endParaRPr lang="en-US" sz="1300" dirty="0"/>
          </a:p>
        </p:txBody>
      </p:sp>
      <p:sp>
        <p:nvSpPr>
          <p:cNvPr id="19" name="Text 16"/>
          <p:cNvSpPr/>
          <p:nvPr/>
        </p:nvSpPr>
        <p:spPr>
          <a:xfrm>
            <a:off x="6400800" y="2414016"/>
            <a:ext cx="10698480" cy="804672"/>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A fabricated clause is lexically clean. Identity-blind: the same string is fine for one caller and a breach for another.</a:t>
            </a:r>
            <a:endParaRPr lang="en-US" sz="1500" dirty="0"/>
          </a:p>
        </p:txBody>
      </p:sp>
      <p:sp>
        <p:nvSpPr>
          <p:cNvPr id="20" name="Shape 17"/>
          <p:cNvSpPr/>
          <p:nvPr/>
        </p:nvSpPr>
        <p:spPr>
          <a:xfrm>
            <a:off x="950976" y="3291840"/>
            <a:ext cx="16386048" cy="9144"/>
          </a:xfrm>
          <a:prstGeom prst="rect">
            <a:avLst/>
          </a:prstGeom>
          <a:solidFill>
            <a:srgbClr val="3A1E16"/>
          </a:solidFill>
          <a:ln/>
        </p:spPr>
      </p:sp>
      <p:sp>
        <p:nvSpPr>
          <p:cNvPr id="21" name="Text 18"/>
          <p:cNvSpPr/>
          <p:nvPr/>
        </p:nvSpPr>
        <p:spPr>
          <a:xfrm>
            <a:off x="1060704" y="3401568"/>
            <a:ext cx="5074920" cy="347472"/>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RAG GROUNDEDNESS</a:t>
            </a:r>
            <a:endParaRPr lang="en-US" sz="1500" dirty="0"/>
          </a:p>
        </p:txBody>
      </p:sp>
      <p:sp>
        <p:nvSpPr>
          <p:cNvPr id="22" name="Text 19"/>
          <p:cNvSpPr/>
          <p:nvPr/>
        </p:nvSpPr>
        <p:spPr>
          <a:xfrm>
            <a:off x="1060704" y="3730752"/>
            <a:ext cx="5074920" cy="29260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retrieval-only checkers</a:t>
            </a:r>
            <a:endParaRPr lang="en-US" sz="1300" dirty="0"/>
          </a:p>
        </p:txBody>
      </p:sp>
      <p:sp>
        <p:nvSpPr>
          <p:cNvPr id="23" name="Text 20"/>
          <p:cNvSpPr/>
          <p:nvPr/>
        </p:nvSpPr>
        <p:spPr>
          <a:xfrm>
            <a:off x="6400800" y="3401568"/>
            <a:ext cx="10698480" cy="804672"/>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Sees retrieval, not tool rows or system context. Averages, so one wrong figure drowns. Action-blind: 0.82 means the same on a draft and a wire.</a:t>
            </a:r>
            <a:endParaRPr lang="en-US" sz="1500" dirty="0"/>
          </a:p>
        </p:txBody>
      </p:sp>
      <p:sp>
        <p:nvSpPr>
          <p:cNvPr id="24" name="Shape 21"/>
          <p:cNvSpPr/>
          <p:nvPr/>
        </p:nvSpPr>
        <p:spPr>
          <a:xfrm>
            <a:off x="950976" y="4279392"/>
            <a:ext cx="16386048" cy="9144"/>
          </a:xfrm>
          <a:prstGeom prst="rect">
            <a:avLst/>
          </a:prstGeom>
          <a:solidFill>
            <a:srgbClr val="3A1E16"/>
          </a:solidFill>
          <a:ln/>
        </p:spPr>
      </p:sp>
      <p:sp>
        <p:nvSpPr>
          <p:cNvPr id="25" name="Text 22"/>
          <p:cNvSpPr/>
          <p:nvPr/>
        </p:nvSpPr>
        <p:spPr>
          <a:xfrm>
            <a:off x="1060704" y="4389120"/>
            <a:ext cx="5074920" cy="347472"/>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CONFIDENCE / LOGPROBS</a:t>
            </a:r>
            <a:endParaRPr lang="en-US" sz="1500" dirty="0"/>
          </a:p>
        </p:txBody>
      </p:sp>
      <p:sp>
        <p:nvSpPr>
          <p:cNvPr id="26" name="Text 23"/>
          <p:cNvSpPr/>
          <p:nvPr/>
        </p:nvSpPr>
        <p:spPr>
          <a:xfrm>
            <a:off x="1060704" y="4718304"/>
            <a:ext cx="5074920" cy="29260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calibration as detector</a:t>
            </a:r>
            <a:endParaRPr lang="en-US" sz="1300" dirty="0"/>
          </a:p>
        </p:txBody>
      </p:sp>
      <p:sp>
        <p:nvSpPr>
          <p:cNvPr id="27" name="Text 24"/>
          <p:cNvSpPr/>
          <p:nvPr/>
        </p:nvSpPr>
        <p:spPr>
          <a:xfrm>
            <a:off x="6400800" y="4389120"/>
            <a:ext cx="10698480" cy="804672"/>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The named failure is confidently wrong. You cannot detect a calibration failure with the calibration.</a:t>
            </a:r>
            <a:endParaRPr lang="en-US" sz="1500" dirty="0"/>
          </a:p>
        </p:txBody>
      </p:sp>
      <p:sp>
        <p:nvSpPr>
          <p:cNvPr id="28" name="Shape 25"/>
          <p:cNvSpPr/>
          <p:nvPr/>
        </p:nvSpPr>
        <p:spPr>
          <a:xfrm>
            <a:off x="950976" y="5266944"/>
            <a:ext cx="16386048" cy="9144"/>
          </a:xfrm>
          <a:prstGeom prst="rect">
            <a:avLst/>
          </a:prstGeom>
          <a:solidFill>
            <a:srgbClr val="3A1E16"/>
          </a:solidFill>
          <a:ln/>
        </p:spPr>
      </p:sp>
      <p:sp>
        <p:nvSpPr>
          <p:cNvPr id="29" name="Text 26"/>
          <p:cNvSpPr/>
          <p:nvPr/>
        </p:nvSpPr>
        <p:spPr>
          <a:xfrm>
            <a:off x="1060704" y="5376672"/>
            <a:ext cx="5074920" cy="347472"/>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LLM-AS-JUDGE</a:t>
            </a:r>
            <a:endParaRPr lang="en-US" sz="1500" dirty="0"/>
          </a:p>
        </p:txBody>
      </p:sp>
      <p:sp>
        <p:nvSpPr>
          <p:cNvPr id="30" name="Text 27"/>
          <p:cNvSpPr/>
          <p:nvPr/>
        </p:nvSpPr>
        <p:spPr>
          <a:xfrm>
            <a:off x="1060704" y="5705856"/>
            <a:ext cx="5074920" cy="29260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NeMo Guardrails and wrappers</a:t>
            </a:r>
            <a:endParaRPr lang="en-US" sz="1300" dirty="0"/>
          </a:p>
        </p:txBody>
      </p:sp>
      <p:sp>
        <p:nvSpPr>
          <p:cNvPr id="31" name="Text 28"/>
          <p:cNvSpPr/>
          <p:nvPr/>
        </p:nvSpPr>
        <p:spPr>
          <a:xfrm>
            <a:off x="6400800" y="5376672"/>
            <a:ext cx="10698480" cy="804672"/>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Asks “does this look right?” — unfalsifiable. We ask “which span proves it?”</a:t>
            </a:r>
            <a:endParaRPr lang="en-US" sz="1500" dirty="0"/>
          </a:p>
        </p:txBody>
      </p:sp>
      <p:sp>
        <p:nvSpPr>
          <p:cNvPr id="32" name="Shape 29"/>
          <p:cNvSpPr/>
          <p:nvPr/>
        </p:nvSpPr>
        <p:spPr>
          <a:xfrm>
            <a:off x="950976" y="6254496"/>
            <a:ext cx="16386048" cy="9144"/>
          </a:xfrm>
          <a:prstGeom prst="rect">
            <a:avLst/>
          </a:prstGeom>
          <a:solidFill>
            <a:srgbClr val="3A1E16"/>
          </a:solidFill>
          <a:ln/>
        </p:spPr>
      </p:sp>
      <p:sp>
        <p:nvSpPr>
          <p:cNvPr id="33" name="Text 30"/>
          <p:cNvSpPr/>
          <p:nvPr/>
        </p:nvSpPr>
        <p:spPr>
          <a:xfrm>
            <a:off x="1060704" y="6364224"/>
            <a:ext cx="5074920" cy="347472"/>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COMPOSITE SCORE</a:t>
            </a:r>
            <a:endParaRPr lang="en-US" sz="1500" dirty="0"/>
          </a:p>
        </p:txBody>
      </p:sp>
      <p:sp>
        <p:nvSpPr>
          <p:cNvPr id="34" name="Text 31"/>
          <p:cNvSpPr/>
          <p:nvPr/>
        </p:nvSpPr>
        <p:spPr>
          <a:xfrm>
            <a:off x="1060704" y="6693408"/>
            <a:ext cx="5074920" cy="29260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Azure / Bedrock “trust”</a:t>
            </a:r>
            <a:endParaRPr lang="en-US" sz="1300" dirty="0"/>
          </a:p>
        </p:txBody>
      </p:sp>
      <p:sp>
        <p:nvSpPr>
          <p:cNvPr id="35" name="Text 32"/>
          <p:cNvSpPr/>
          <p:nvPr/>
        </p:nvSpPr>
        <p:spPr>
          <a:xfrm>
            <a:off x="6400800" y="6364224"/>
            <a:ext cx="10698480" cy="804672"/>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“Trust: 87/100.” You cannot block, edit or escalate on 87.</a:t>
            </a:r>
            <a:endParaRPr lang="en-US" sz="1500" dirty="0"/>
          </a:p>
        </p:txBody>
      </p:sp>
      <p:sp>
        <p:nvSpPr>
          <p:cNvPr id="36" name="Shape 33"/>
          <p:cNvSpPr/>
          <p:nvPr/>
        </p:nvSpPr>
        <p:spPr>
          <a:xfrm>
            <a:off x="950976" y="7242048"/>
            <a:ext cx="16386048" cy="9144"/>
          </a:xfrm>
          <a:prstGeom prst="rect">
            <a:avLst/>
          </a:prstGeom>
          <a:solidFill>
            <a:srgbClr val="3A1E16"/>
          </a:solidFill>
          <a:ln/>
        </p:spPr>
      </p:sp>
      <p:sp>
        <p:nvSpPr>
          <p:cNvPr id="37" name="Shape 34"/>
          <p:cNvSpPr/>
          <p:nvPr/>
        </p:nvSpPr>
        <p:spPr>
          <a:xfrm>
            <a:off x="950976" y="7571232"/>
            <a:ext cx="16386048" cy="841248"/>
          </a:xfrm>
          <a:prstGeom prst="rect">
            <a:avLst/>
          </a:prstGeom>
          <a:solidFill>
            <a:srgbClr val="D9482A">
              <a:alpha val="15000"/>
            </a:srgbClr>
          </a:solidFill>
          <a:ln/>
        </p:spPr>
      </p:sp>
      <p:sp>
        <p:nvSpPr>
          <p:cNvPr id="38" name="Text 35"/>
          <p:cNvSpPr/>
          <p:nvPr/>
        </p:nvSpPr>
        <p:spPr>
          <a:xfrm>
            <a:off x="1060704" y="7699248"/>
            <a:ext cx="5074920" cy="585216"/>
          </a:xfrm>
          <a:prstGeom prst="rect">
            <a:avLst/>
          </a:prstGeom>
          <a:noFill/>
          <a:ln/>
        </p:spPr>
        <p:txBody>
          <a:bodyPr wrap="square" lIns="0" tIns="0" rIns="0" bIns="0" rtlCol="0" anchor="ctr"/>
          <a:lstStyle/>
          <a:p>
            <a:pPr indent="0" marL="0">
              <a:buNone/>
            </a:pPr>
            <a:r>
              <a:rPr lang="en-US" sz="1800" b="1" dirty="0">
                <a:solidFill>
                  <a:srgbClr val="D9482A"/>
                </a:solidFill>
                <a:latin typeface="Arial" pitchFamily="34" charset="0"/>
                <a:ea typeface="Arial" pitchFamily="34" charset="-122"/>
                <a:cs typeface="Arial" pitchFamily="34" charset="-120"/>
              </a:rPr>
              <a:t>CONTROLPLANE</a:t>
            </a:r>
            <a:endParaRPr lang="en-US" sz="1800" dirty="0"/>
          </a:p>
        </p:txBody>
      </p:sp>
      <p:sp>
        <p:nvSpPr>
          <p:cNvPr id="39" name="Text 36"/>
          <p:cNvSpPr/>
          <p:nvPr/>
        </p:nvSpPr>
        <p:spPr>
          <a:xfrm>
            <a:off x="6400800" y="7699248"/>
            <a:ext cx="10698480" cy="585216"/>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Query the evidence.  Set-membership.  Block · Edit · Escalate · Pass on the same graph.  We publish our own miss rate.</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09 // MATRIX</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09728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08 · MULTI-USE-CASE</a:t>
            </a:r>
            <a:endParaRPr lang="en-US" sz="1500" dirty="0"/>
          </a:p>
        </p:txBody>
      </p:sp>
      <p:sp>
        <p:nvSpPr>
          <p:cNvPr id="12" name="Text 9"/>
          <p:cNvSpPr/>
          <p:nvPr/>
        </p:nvSpPr>
        <p:spPr>
          <a:xfrm>
            <a:off x="950976" y="1207008"/>
            <a:ext cx="16367760" cy="475488"/>
          </a:xfrm>
          <a:prstGeom prst="rect">
            <a:avLst/>
          </a:prstGeom>
          <a:noFill/>
          <a:ln/>
        </p:spPr>
        <p:txBody>
          <a:bodyPr wrap="square" lIns="0" tIns="0" rIns="0" bIns="0" rtlCol="0" anchor="t"/>
          <a:lstStyle/>
          <a:p>
            <a:pPr algn="l" indent="0" marL="0">
              <a:buNone/>
            </a:pPr>
            <a:r>
              <a:rPr lang="en-US" sz="2800" b="1" spc="-75" kern="0" dirty="0">
                <a:solidFill>
                  <a:srgbClr val="F2E3D5"/>
                </a:solidFill>
                <a:latin typeface="Arial" pitchFamily="34" charset="0"/>
                <a:ea typeface="Arial" pitchFamily="34" charset="-122"/>
                <a:cs typeface="Arial" pitchFamily="34" charset="-120"/>
              </a:rPr>
              <a:t>TRANSCRIBED. NEVER </a:t>
            </a:r>
            <a:pPr algn="l" indent="0" marL="0">
              <a:buNone/>
            </a:pPr>
            <a:r>
              <a:rPr lang="en-US" sz="2800" b="1" spc="-75" kern="0" dirty="0">
                <a:solidFill>
                  <a:srgbClr val="D9482A"/>
                </a:solidFill>
                <a:latin typeface="Arial" pitchFamily="34" charset="0"/>
                <a:ea typeface="Arial" pitchFamily="34" charset="-122"/>
                <a:cs typeface="Arial" pitchFamily="34" charset="-120"/>
              </a:rPr>
              <a:t>REDRAWN</a:t>
            </a:r>
            <a:pPr algn="l" indent="0" marL="0">
              <a:buNone/>
            </a:pPr>
            <a:r>
              <a:rPr lang="en-US" sz="2800" b="1" spc="-75" kern="0" dirty="0">
                <a:solidFill>
                  <a:srgbClr val="F2E3D5"/>
                </a:solidFill>
                <a:latin typeface="Arial" pitchFamily="34" charset="0"/>
                <a:ea typeface="Arial" pitchFamily="34" charset="-122"/>
                <a:cs typeface="Arial" pitchFamily="34" charset="-120"/>
              </a:rPr>
              <a:t>.</a:t>
            </a:r>
            <a:endParaRPr lang="en-US" sz="2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950976" y="1792224"/>
          <a:ext cx="16386048" cy="3703320"/>
        </p:xfrm>
        <a:graphic>
          <a:graphicData uri="http://schemas.openxmlformats.org/drawingml/2006/table">
            <a:tbl>
              <a:tblPr/>
              <a:tblGrid>
                <a:gridCol w="1417320"/>
                <a:gridCol w="3840480"/>
                <a:gridCol w="3840480"/>
                <a:gridCol w="3840480"/>
                <a:gridCol w="3447288"/>
              </a:tblGrid>
              <a:tr h="640080">
                <a:tc>
                  <a:txBody>
                    <a:bodyPr/>
                    <a:lstStyle/>
                    <a:p>
                      <a:pPr algn="ctr" indent="0" marL="0">
                        <a:buNone/>
                      </a:pPr>
                      <a:endParaRPr lang="en-US" sz="11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140F"/>
                    </a:solidFill>
                  </a:tcPr>
                </a:tc>
                <a:tc>
                  <a:txBody>
                    <a:bodyPr/>
                    <a:lstStyle/>
                    <a:p>
                      <a:pPr algn="ctr" indent="0" marL="0">
                        <a:buNone/>
                      </a:pPr>
                      <a:r>
                        <a:rPr lang="en-US" sz="1100" b="1" dirty="0">
                          <a:solidFill>
                            <a:srgbClr val="7A5D4E"/>
                          </a:solidFill>
                          <a:latin typeface="Arial" pitchFamily="34" charset="0"/>
                          <a:ea typeface="Arial" pitchFamily="34" charset="-122"/>
                          <a:cs typeface="Arial" pitchFamily="34" charset="-120"/>
                        </a:rPr>
                        <a:t>Contradicted /</a:t>
                      </a:r>
                      <a:endParaRPr lang="en-US" sz="1100" dirty="0">
                        <a:latin typeface="Arial" charset="0"/>
                        <a:ea typeface="Arial" charset="0"/>
                        <a:cs typeface="Arial" charset="0"/>
                      </a:endParaRPr>
                    </a:p>
                    <a:p>
                      <a:pPr algn="ctr" indent="0" marL="0">
                        <a:buNone/>
                      </a:pPr>
                      <a:r>
                        <a:rPr lang="en-US" sz="1100" b="1" dirty="0">
                          <a:solidFill>
                            <a:srgbClr val="7A5D4E"/>
                          </a:solidFill>
                          <a:latin typeface="Arial" pitchFamily="34" charset="0"/>
                          <a:ea typeface="Arial" pitchFamily="34" charset="-122"/>
                          <a:cs typeface="Arial" pitchFamily="34" charset="-120"/>
                        </a:rPr>
                        <a:t>entitlement violation</a:t>
                      </a:r>
                      <a:endParaRPr lang="en-US" sz="11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140F"/>
                    </a:solidFill>
                  </a:tcPr>
                </a:tc>
                <a:tc>
                  <a:txBody>
                    <a:bodyPr/>
                    <a:lstStyle/>
                    <a:p>
                      <a:pPr algn="ctr" indent="0" marL="0">
                        <a:buNone/>
                      </a:pPr>
                      <a:r>
                        <a:rPr lang="en-US" sz="1100" b="1" dirty="0">
                          <a:solidFill>
                            <a:srgbClr val="7A5D4E"/>
                          </a:solidFill>
                          <a:latin typeface="Arial" pitchFamily="34" charset="0"/>
                          <a:ea typeface="Arial" pitchFamily="34" charset="-122"/>
                          <a:cs typeface="Arial" pitchFamily="34" charset="-120"/>
                        </a:rPr>
                        <a:t>Unsupported +</a:t>
                      </a:r>
                      <a:endParaRPr lang="en-US" sz="1100" dirty="0">
                        <a:latin typeface="Arial" charset="0"/>
                        <a:ea typeface="Arial" charset="0"/>
                        <a:cs typeface="Arial" charset="0"/>
                      </a:endParaRPr>
                    </a:p>
                    <a:p>
                      <a:pPr algn="ctr" indent="0" marL="0">
                        <a:buNone/>
                      </a:pPr>
                      <a:r>
                        <a:rPr lang="en-US" sz="1100" b="1" dirty="0">
                          <a:solidFill>
                            <a:srgbClr val="7A5D4E"/>
                          </a:solidFill>
                          <a:latin typeface="Arial" pitchFamily="34" charset="0"/>
                          <a:ea typeface="Arial" pitchFamily="34" charset="-122"/>
                          <a:cs typeface="Arial" pitchFamily="34" charset="-120"/>
                        </a:rPr>
                        <a:t>categorical</a:t>
                      </a:r>
                      <a:endParaRPr lang="en-US" sz="11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140F"/>
                    </a:solidFill>
                  </a:tcPr>
                </a:tc>
                <a:tc>
                  <a:txBody>
                    <a:bodyPr/>
                    <a:lstStyle/>
                    <a:p>
                      <a:pPr algn="ctr" indent="0" marL="0">
                        <a:buNone/>
                      </a:pPr>
                      <a:r>
                        <a:rPr lang="en-US" sz="1100" b="1" dirty="0">
                          <a:solidFill>
                            <a:srgbClr val="7A5D4E"/>
                          </a:solidFill>
                          <a:latin typeface="Arial" pitchFamily="34" charset="0"/>
                          <a:ea typeface="Arial" pitchFamily="34" charset="-122"/>
                          <a:cs typeface="Arial" pitchFamily="34" charset="-120"/>
                        </a:rPr>
                        <a:t>Unsupported +</a:t>
                      </a:r>
                      <a:endParaRPr lang="en-US" sz="1100" dirty="0">
                        <a:latin typeface="Arial" charset="0"/>
                        <a:ea typeface="Arial" charset="0"/>
                        <a:cs typeface="Arial" charset="0"/>
                      </a:endParaRPr>
                    </a:p>
                    <a:p>
                      <a:pPr algn="ctr" indent="0" marL="0">
                        <a:buNone/>
                      </a:pPr>
                      <a:r>
                        <a:rPr lang="en-US" sz="1100" b="1" dirty="0">
                          <a:solidFill>
                            <a:srgbClr val="7A5D4E"/>
                          </a:solidFill>
                          <a:latin typeface="Arial" pitchFamily="34" charset="0"/>
                          <a:ea typeface="Arial" pitchFamily="34" charset="-122"/>
                          <a:cs typeface="Arial" pitchFamily="34" charset="-120"/>
                        </a:rPr>
                        <a:t>hedged</a:t>
                      </a:r>
                      <a:endParaRPr lang="en-US" sz="11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140F"/>
                    </a:solidFill>
                  </a:tcPr>
                </a:tc>
                <a:tc>
                  <a:txBody>
                    <a:bodyPr/>
                    <a:lstStyle/>
                    <a:p>
                      <a:pPr algn="ctr" indent="0" marL="0">
                        <a:buNone/>
                      </a:pPr>
                      <a:r>
                        <a:rPr lang="en-US" sz="1100" b="1" dirty="0">
                          <a:solidFill>
                            <a:srgbClr val="7A5D4E"/>
                          </a:solidFill>
                          <a:latin typeface="Arial" pitchFamily="34" charset="0"/>
                          <a:ea typeface="Arial" pitchFamily="34" charset="-122"/>
                          <a:cs typeface="Arial" pitchFamily="34" charset="-120"/>
                        </a:rPr>
                        <a:t>Unknown</a:t>
                      </a:r>
                      <a:endParaRPr lang="en-US" sz="11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140F"/>
                    </a:solidFill>
                  </a:tcPr>
                </a:tc>
              </a:tr>
              <a:tr h="731520">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R3</a:t>
                      </a:r>
                      <a:endParaRPr lang="en-US" sz="13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D9482A"/>
                          </a:solidFill>
                          <a:latin typeface="Arial" pitchFamily="34" charset="0"/>
                          <a:ea typeface="Arial" pitchFamily="34" charset="-122"/>
                          <a:cs typeface="Arial" pitchFamily="34" charset="-120"/>
                        </a:rPr>
                        <a:t>Block</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F2C572"/>
                          </a:solidFill>
                          <a:latin typeface="Arial" pitchFamily="34" charset="0"/>
                          <a:ea typeface="Arial" pitchFamily="34" charset="-122"/>
                          <a:cs typeface="Arial" pitchFamily="34" charset="-120"/>
                        </a:rPr>
                        <a:t>Escalate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0C08"/>
                    </a:solidFill>
                  </a:tcPr>
                </a:tc>
                <a:tc>
                  <a:txBody>
                    <a:bodyPr/>
                    <a:lstStyle/>
                    <a:p>
                      <a:pPr algn="ctr" indent="0" marL="0">
                        <a:buNone/>
                      </a:pPr>
                      <a:r>
                        <a:rPr lang="en-US" sz="1300" b="1" dirty="0">
                          <a:solidFill>
                            <a:srgbClr val="F2C572"/>
                          </a:solidFill>
                          <a:latin typeface="Arial" pitchFamily="34" charset="0"/>
                          <a:ea typeface="Arial" pitchFamily="34" charset="-122"/>
                          <a:cs typeface="Arial" pitchFamily="34" charset="-120"/>
                        </a:rPr>
                        <a:t>Escalate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F2C572"/>
                          </a:solidFill>
                          <a:latin typeface="Arial" pitchFamily="34" charset="0"/>
                          <a:ea typeface="Arial" pitchFamily="34" charset="-122"/>
                          <a:cs typeface="Arial" pitchFamily="34" charset="-120"/>
                        </a:rPr>
                        <a:t>Escalate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r>
              <a:tr h="731520">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R2</a:t>
                      </a:r>
                      <a:endParaRPr lang="en-US" sz="13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D9482A"/>
                          </a:solidFill>
                          <a:latin typeface="Arial" pitchFamily="34" charset="0"/>
                          <a:ea typeface="Arial" pitchFamily="34" charset="-122"/>
                          <a:cs typeface="Arial" pitchFamily="34" charset="-120"/>
                        </a:rPr>
                        <a:t>Block</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Edit</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0C08"/>
                    </a:solidFill>
                  </a:tcPr>
                </a:tc>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Edit</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F2C572"/>
                          </a:solidFill>
                          <a:latin typeface="Arial" pitchFamily="34" charset="0"/>
                          <a:ea typeface="Arial" pitchFamily="34" charset="-122"/>
                          <a:cs typeface="Arial" pitchFamily="34" charset="-120"/>
                        </a:rPr>
                        <a:t>Escalate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r>
              <a:tr h="731520">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R1</a:t>
                      </a:r>
                      <a:endParaRPr lang="en-US" sz="13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Edit</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0C08"/>
                    </a:solidFill>
                  </a:tcPr>
                </a:tc>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Edit</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C9B5A3"/>
                          </a:solidFill>
                          <a:latin typeface="Arial" pitchFamily="34" charset="0"/>
                          <a:ea typeface="Arial" pitchFamily="34" charset="-122"/>
                          <a:cs typeface="Arial" pitchFamily="34" charset="-120"/>
                        </a:rPr>
                        <a:t>Pass + annotate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0C08"/>
                    </a:solidFill>
                  </a:tcPr>
                </a:tc>
                <a:tc>
                  <a:txBody>
                    <a:bodyPr/>
                    <a:lstStyle/>
                    <a:p>
                      <a:pPr algn="ctr" indent="0" marL="0">
                        <a:buNone/>
                      </a:pPr>
                      <a:r>
                        <a:rPr lang="en-US" sz="1300" dirty="0">
                          <a:solidFill>
                            <a:srgbClr val="C9B5A3"/>
                          </a:solidFill>
                          <a:latin typeface="Arial" pitchFamily="34" charset="0"/>
                          <a:ea typeface="Arial" pitchFamily="34" charset="-122"/>
                          <a:cs typeface="Arial" pitchFamily="34" charset="-120"/>
                        </a:rPr>
                        <a:t>Pass + annotate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r>
              <a:tr h="731520">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R0</a:t>
                      </a:r>
                      <a:endParaRPr lang="en-US" sz="13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dirty="0">
                          <a:solidFill>
                            <a:srgbClr val="C9B5A3"/>
                          </a:solidFill>
                          <a:latin typeface="Arial" pitchFamily="34" charset="0"/>
                          <a:ea typeface="Arial" pitchFamily="34" charset="-122"/>
                          <a:cs typeface="Arial" pitchFamily="34" charset="-120"/>
                        </a:rPr>
                        <a:t>Pass + annotate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dirty="0">
                          <a:solidFill>
                            <a:srgbClr val="C9B5A3"/>
                          </a:solidFill>
                          <a:latin typeface="Arial" pitchFamily="34" charset="0"/>
                          <a:ea typeface="Arial" pitchFamily="34" charset="-122"/>
                          <a:cs typeface="Arial" pitchFamily="34" charset="-120"/>
                        </a:rPr>
                        <a:t>Pass + annotate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dirty="0">
                          <a:solidFill>
                            <a:srgbClr val="C9B5A3"/>
                          </a:solidFill>
                          <a:latin typeface="Arial" pitchFamily="34" charset="0"/>
                          <a:ea typeface="Arial" pitchFamily="34" charset="-122"/>
                          <a:cs typeface="Arial" pitchFamily="34" charset="-120"/>
                        </a:rPr>
                        <a:t>Pass</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dirty="0">
                          <a:solidFill>
                            <a:srgbClr val="C9B5A3"/>
                          </a:solidFill>
                          <a:latin typeface="Arial" pitchFamily="34" charset="0"/>
                          <a:ea typeface="Arial" pitchFamily="34" charset="-122"/>
                          <a:cs typeface="Arial" pitchFamily="34" charset="-120"/>
                        </a:rPr>
                        <a:t>Pass</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r>
            </a:tbl>
          </a:graphicData>
        </a:graphic>
      </p:graphicFrame>
      <p:sp>
        <p:nvSpPr>
          <p:cNvPr id="14" name="Shape 10"/>
          <p:cNvSpPr/>
          <p:nvPr/>
        </p:nvSpPr>
        <p:spPr>
          <a:xfrm>
            <a:off x="950976" y="5669280"/>
            <a:ext cx="5394960" cy="2331720"/>
          </a:xfrm>
          <a:prstGeom prst="rect">
            <a:avLst/>
          </a:prstGeom>
          <a:solidFill>
            <a:srgbClr val="1A0D0A"/>
          </a:solidFill>
          <a:ln w="8636">
            <a:solidFill>
              <a:srgbClr val="3A1E16"/>
            </a:solidFill>
            <a:prstDash val="solid"/>
          </a:ln>
        </p:spPr>
      </p:sp>
      <p:sp>
        <p:nvSpPr>
          <p:cNvPr id="15" name="Text 11"/>
          <p:cNvSpPr/>
          <p:nvPr/>
        </p:nvSpPr>
        <p:spPr>
          <a:xfrm>
            <a:off x="1152144" y="5797296"/>
            <a:ext cx="4992624" cy="292608"/>
          </a:xfrm>
          <a:prstGeom prst="rect">
            <a:avLst/>
          </a:prstGeom>
          <a:noFill/>
          <a:ln/>
        </p:spPr>
        <p:txBody>
          <a:bodyPr wrap="square" lIns="0" tIns="0" rIns="0" bIns="0" rtlCol="0" anchor="ctr"/>
          <a:lstStyle/>
          <a:p>
            <a:pPr indent="0" marL="0">
              <a:buNone/>
            </a:pPr>
            <a:r>
              <a:rPr lang="en-US" sz="1200" spc="110" kern="0" dirty="0">
                <a:solidFill>
                  <a:srgbClr val="D9482A"/>
                </a:solidFill>
                <a:latin typeface="Arial" pitchFamily="34" charset="0"/>
                <a:ea typeface="Arial" pitchFamily="34" charset="-122"/>
                <a:cs typeface="Arial" pitchFamily="34" charset="-120"/>
              </a:rPr>
              <a:t>01  SUPPORT CHATBOT</a:t>
            </a:r>
            <a:endParaRPr lang="en-US" sz="1200" dirty="0"/>
          </a:p>
        </p:txBody>
      </p:sp>
      <p:sp>
        <p:nvSpPr>
          <p:cNvPr id="16" name="Text 12"/>
          <p:cNvSpPr/>
          <p:nvPr/>
        </p:nvSpPr>
        <p:spPr>
          <a:xfrm>
            <a:off x="1152144" y="6126480"/>
            <a:ext cx="4992624" cy="310896"/>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show_reply  ·  R1</a:t>
            </a:r>
            <a:endParaRPr lang="en-US" sz="1500" dirty="0"/>
          </a:p>
        </p:txBody>
      </p:sp>
      <p:sp>
        <p:nvSpPr>
          <p:cNvPr id="17" name="Text 13"/>
          <p:cNvSpPr/>
          <p:nvPr/>
        </p:nvSpPr>
        <p:spPr>
          <a:xfrm>
            <a:off x="1152144" y="6473952"/>
            <a:ext cx="4992624" cy="365760"/>
          </a:xfrm>
          <a:prstGeom prst="rect">
            <a:avLst/>
          </a:prstGeom>
          <a:noFill/>
          <a:ln/>
        </p:spPr>
        <p:txBody>
          <a:bodyPr wrap="square" lIns="0" tIns="0" rIns="0" bIns="0" rtlCol="0" anchor="t"/>
          <a:lstStyle/>
          <a:p>
            <a:pPr indent="0" marL="0">
              <a:buNone/>
            </a:pPr>
            <a:r>
              <a:rPr lang="en-US" sz="1400" dirty="0">
                <a:solidFill>
                  <a:srgbClr val="C9B5A3"/>
                </a:solidFill>
                <a:latin typeface="Arial" pitchFamily="34" charset="0"/>
                <a:ea typeface="Arial" pitchFamily="34" charset="-122"/>
                <a:cs typeface="Arial" pitchFamily="34" charset="-120"/>
              </a:rPr>
              <a:t>R1 × Unsupported + hedged</a:t>
            </a:r>
            <a:endParaRPr lang="en-US" sz="1400" dirty="0"/>
          </a:p>
        </p:txBody>
      </p:sp>
      <p:sp>
        <p:nvSpPr>
          <p:cNvPr id="18" name="Text 14"/>
          <p:cNvSpPr/>
          <p:nvPr/>
        </p:nvSpPr>
        <p:spPr>
          <a:xfrm>
            <a:off x="1152144" y="6903720"/>
            <a:ext cx="4992624" cy="640080"/>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Pass + annotate</a:t>
            </a:r>
            <a:endParaRPr lang="en-US" sz="2200" dirty="0"/>
          </a:p>
        </p:txBody>
      </p:sp>
      <p:sp>
        <p:nvSpPr>
          <p:cNvPr id="19" name="Shape 15"/>
          <p:cNvSpPr/>
          <p:nvPr/>
        </p:nvSpPr>
        <p:spPr>
          <a:xfrm>
            <a:off x="6528816" y="5669280"/>
            <a:ext cx="5394960" cy="2331720"/>
          </a:xfrm>
          <a:prstGeom prst="rect">
            <a:avLst/>
          </a:prstGeom>
          <a:solidFill>
            <a:srgbClr val="1A0D0A"/>
          </a:solidFill>
          <a:ln w="8636">
            <a:solidFill>
              <a:srgbClr val="3A1E16"/>
            </a:solidFill>
            <a:prstDash val="solid"/>
          </a:ln>
        </p:spPr>
      </p:sp>
      <p:sp>
        <p:nvSpPr>
          <p:cNvPr id="20" name="Text 16"/>
          <p:cNvSpPr/>
          <p:nvPr/>
        </p:nvSpPr>
        <p:spPr>
          <a:xfrm>
            <a:off x="6729984" y="5797296"/>
            <a:ext cx="4992624" cy="292608"/>
          </a:xfrm>
          <a:prstGeom prst="rect">
            <a:avLst/>
          </a:prstGeom>
          <a:noFill/>
          <a:ln/>
        </p:spPr>
        <p:txBody>
          <a:bodyPr wrap="square" lIns="0" tIns="0" rIns="0" bIns="0" rtlCol="0" anchor="ctr"/>
          <a:lstStyle/>
          <a:p>
            <a:pPr indent="0" marL="0">
              <a:buNone/>
            </a:pPr>
            <a:r>
              <a:rPr lang="en-US" sz="1200" spc="110" kern="0" dirty="0">
                <a:solidFill>
                  <a:srgbClr val="D9482A"/>
                </a:solidFill>
                <a:latin typeface="Arial" pitchFamily="34" charset="0"/>
                <a:ea typeface="Arial" pitchFamily="34" charset="-122"/>
                <a:cs typeface="Arial" pitchFamily="34" charset="-120"/>
              </a:rPr>
              <a:t>02  KNOWLEDGE COPILOT</a:t>
            </a:r>
            <a:endParaRPr lang="en-US" sz="1200" dirty="0"/>
          </a:p>
        </p:txBody>
      </p:sp>
      <p:sp>
        <p:nvSpPr>
          <p:cNvPr id="21" name="Text 17"/>
          <p:cNvSpPr/>
          <p:nvPr/>
        </p:nvSpPr>
        <p:spPr>
          <a:xfrm>
            <a:off x="6729984" y="6126480"/>
            <a:ext cx="4992624" cy="310896"/>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draft_partner_email  ·  R2</a:t>
            </a:r>
            <a:endParaRPr lang="en-US" sz="1500" dirty="0"/>
          </a:p>
        </p:txBody>
      </p:sp>
      <p:sp>
        <p:nvSpPr>
          <p:cNvPr id="22" name="Text 18"/>
          <p:cNvSpPr/>
          <p:nvPr/>
        </p:nvSpPr>
        <p:spPr>
          <a:xfrm>
            <a:off x="6729984" y="6473952"/>
            <a:ext cx="4992624" cy="365760"/>
          </a:xfrm>
          <a:prstGeom prst="rect">
            <a:avLst/>
          </a:prstGeom>
          <a:noFill/>
          <a:ln/>
        </p:spPr>
        <p:txBody>
          <a:bodyPr wrap="square" lIns="0" tIns="0" rIns="0" bIns="0" rtlCol="0" anchor="t"/>
          <a:lstStyle/>
          <a:p>
            <a:pPr indent="0" marL="0">
              <a:buNone/>
            </a:pPr>
            <a:r>
              <a:rPr lang="en-US" sz="1400" dirty="0">
                <a:solidFill>
                  <a:srgbClr val="C9B5A3"/>
                </a:solidFill>
                <a:latin typeface="Arial" pitchFamily="34" charset="0"/>
                <a:ea typeface="Arial" pitchFamily="34" charset="-122"/>
                <a:cs typeface="Arial" pitchFamily="34" charset="-120"/>
              </a:rPr>
              <a:t>R2 × Unsupported + categorical</a:t>
            </a:r>
            <a:endParaRPr lang="en-US" sz="1400" dirty="0"/>
          </a:p>
        </p:txBody>
      </p:sp>
      <p:sp>
        <p:nvSpPr>
          <p:cNvPr id="23" name="Text 19"/>
          <p:cNvSpPr/>
          <p:nvPr/>
        </p:nvSpPr>
        <p:spPr>
          <a:xfrm>
            <a:off x="6729984" y="6903720"/>
            <a:ext cx="4992624" cy="640080"/>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Edit</a:t>
            </a:r>
            <a:endParaRPr lang="en-US" sz="2200" dirty="0"/>
          </a:p>
        </p:txBody>
      </p:sp>
      <p:sp>
        <p:nvSpPr>
          <p:cNvPr id="24" name="Shape 20"/>
          <p:cNvSpPr/>
          <p:nvPr/>
        </p:nvSpPr>
        <p:spPr>
          <a:xfrm>
            <a:off x="12106656" y="5669280"/>
            <a:ext cx="5394960" cy="2331720"/>
          </a:xfrm>
          <a:prstGeom prst="rect">
            <a:avLst/>
          </a:prstGeom>
          <a:solidFill>
            <a:srgbClr val="1A0D0A"/>
          </a:solidFill>
          <a:ln w="8636">
            <a:solidFill>
              <a:srgbClr val="3A1E16"/>
            </a:solidFill>
            <a:prstDash val="solid"/>
          </a:ln>
        </p:spPr>
      </p:sp>
      <p:sp>
        <p:nvSpPr>
          <p:cNvPr id="25" name="Text 21"/>
          <p:cNvSpPr/>
          <p:nvPr/>
        </p:nvSpPr>
        <p:spPr>
          <a:xfrm>
            <a:off x="12307824" y="5797296"/>
            <a:ext cx="4992624" cy="292608"/>
          </a:xfrm>
          <a:prstGeom prst="rect">
            <a:avLst/>
          </a:prstGeom>
          <a:noFill/>
          <a:ln/>
        </p:spPr>
        <p:txBody>
          <a:bodyPr wrap="square" lIns="0" tIns="0" rIns="0" bIns="0" rtlCol="0" anchor="ctr"/>
          <a:lstStyle/>
          <a:p>
            <a:pPr indent="0" marL="0">
              <a:buNone/>
            </a:pPr>
            <a:r>
              <a:rPr lang="en-US" sz="1200" spc="110" kern="0" dirty="0">
                <a:solidFill>
                  <a:srgbClr val="D9482A"/>
                </a:solidFill>
                <a:latin typeface="Arial" pitchFamily="34" charset="0"/>
                <a:ea typeface="Arial" pitchFamily="34" charset="-122"/>
                <a:cs typeface="Arial" pitchFamily="34" charset="-120"/>
              </a:rPr>
              <a:t>03  DECISION-SUPPORT REFUND</a:t>
            </a:r>
            <a:endParaRPr lang="en-US" sz="1200" dirty="0"/>
          </a:p>
        </p:txBody>
      </p:sp>
      <p:sp>
        <p:nvSpPr>
          <p:cNvPr id="26" name="Text 22"/>
          <p:cNvSpPr/>
          <p:nvPr/>
        </p:nvSpPr>
        <p:spPr>
          <a:xfrm>
            <a:off x="12307824" y="6126480"/>
            <a:ext cx="4992624" cy="310896"/>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issue_refund  ·  R3</a:t>
            </a:r>
            <a:endParaRPr lang="en-US" sz="1500" dirty="0"/>
          </a:p>
        </p:txBody>
      </p:sp>
      <p:sp>
        <p:nvSpPr>
          <p:cNvPr id="27" name="Text 23"/>
          <p:cNvSpPr/>
          <p:nvPr/>
        </p:nvSpPr>
        <p:spPr>
          <a:xfrm>
            <a:off x="12307824" y="6473952"/>
            <a:ext cx="4992624" cy="365760"/>
          </a:xfrm>
          <a:prstGeom prst="rect">
            <a:avLst/>
          </a:prstGeom>
          <a:noFill/>
          <a:ln/>
        </p:spPr>
        <p:txBody>
          <a:bodyPr wrap="square" lIns="0" tIns="0" rIns="0" bIns="0" rtlCol="0" anchor="t"/>
          <a:lstStyle/>
          <a:p>
            <a:pPr indent="0" marL="0">
              <a:buNone/>
            </a:pPr>
            <a:r>
              <a:rPr lang="en-US" sz="1400" dirty="0">
                <a:solidFill>
                  <a:srgbClr val="C9B5A3"/>
                </a:solidFill>
                <a:latin typeface="Arial" pitchFamily="34" charset="0"/>
                <a:ea typeface="Arial" pitchFamily="34" charset="-122"/>
                <a:cs typeface="Arial" pitchFamily="34" charset="-120"/>
              </a:rPr>
              <a:t>R3 × Unsupported + categorical</a:t>
            </a:r>
            <a:endParaRPr lang="en-US" sz="1400" dirty="0"/>
          </a:p>
        </p:txBody>
      </p:sp>
      <p:sp>
        <p:nvSpPr>
          <p:cNvPr id="28" name="Text 24"/>
          <p:cNvSpPr/>
          <p:nvPr/>
        </p:nvSpPr>
        <p:spPr>
          <a:xfrm>
            <a:off x="12307824" y="6903720"/>
            <a:ext cx="4992624" cy="640080"/>
          </a:xfrm>
          <a:prstGeom prst="rect">
            <a:avLst/>
          </a:prstGeom>
          <a:noFill/>
          <a:ln/>
        </p:spPr>
        <p:txBody>
          <a:bodyPr wrap="square" lIns="0" tIns="0" rIns="0" bIns="0" rtlCol="0" anchor="ctr"/>
          <a:lstStyle/>
          <a:p>
            <a:pPr indent="0" marL="0">
              <a:buNone/>
            </a:pPr>
            <a:r>
              <a:rPr lang="en-US" sz="2200" b="1" dirty="0">
                <a:solidFill>
                  <a:srgbClr val="F2C572"/>
                </a:solidFill>
                <a:latin typeface="Arial" pitchFamily="34" charset="0"/>
                <a:ea typeface="Arial" pitchFamily="34" charset="-122"/>
                <a:cs typeface="Arial" pitchFamily="34" charset="-120"/>
              </a:rPr>
              <a:t>Escalate</a:t>
            </a:r>
            <a:endParaRPr lang="en-US" sz="2200" dirty="0"/>
          </a:p>
        </p:txBody>
      </p:sp>
      <p:sp>
        <p:nvSpPr>
          <p:cNvPr id="29" name="Text 25"/>
          <p:cNvSpPr/>
          <p:nvPr/>
        </p:nvSpPr>
        <p:spPr>
          <a:xfrm>
            <a:off x="950976" y="8138160"/>
            <a:ext cx="16386048" cy="329184"/>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Same plane. Three Round 2 use cases. Three actuators. The verdict is hostile. The action is proportionate.</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09 // ROADMAP</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28016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10 · BUSINESS CASE + ROADMAP</a:t>
            </a:r>
            <a:endParaRPr lang="en-US" sz="1500" dirty="0"/>
          </a:p>
        </p:txBody>
      </p:sp>
      <p:sp>
        <p:nvSpPr>
          <p:cNvPr id="12" name="Text 9"/>
          <p:cNvSpPr/>
          <p:nvPr/>
        </p:nvSpPr>
        <p:spPr>
          <a:xfrm>
            <a:off x="950976" y="1207008"/>
            <a:ext cx="11155680" cy="475488"/>
          </a:xfrm>
          <a:prstGeom prst="rect">
            <a:avLst/>
          </a:prstGeom>
          <a:noFill/>
          <a:ln/>
        </p:spPr>
        <p:txBody>
          <a:bodyPr wrap="square" lIns="0" tIns="0" rIns="0" bIns="0" rtlCol="0" anchor="t"/>
          <a:lstStyle/>
          <a:p>
            <a:pPr algn="l" indent="0" marL="0">
              <a:buNone/>
            </a:pPr>
            <a:r>
              <a:rPr lang="en-US" sz="2800" b="1" spc="-75" kern="0" dirty="0">
                <a:solidFill>
                  <a:srgbClr val="F2E3D5"/>
                </a:solidFill>
                <a:latin typeface="Arial" pitchFamily="34" charset="0"/>
                <a:ea typeface="Arial" pitchFamily="34" charset="-122"/>
                <a:cs typeface="Arial" pitchFamily="34" charset="-120"/>
              </a:rPr>
              <a:t>BUDGET FOLLOWS </a:t>
            </a:r>
            <a:pPr algn="l" indent="0" marL="0">
              <a:buNone/>
            </a:pPr>
            <a:r>
              <a:rPr lang="en-US" sz="2800" b="1" spc="-75" kern="0" dirty="0">
                <a:solidFill>
                  <a:srgbClr val="D9482A"/>
                </a:solidFill>
                <a:latin typeface="Arial" pitchFamily="34" charset="0"/>
                <a:ea typeface="Arial" pitchFamily="34" charset="-122"/>
                <a:cs typeface="Arial" pitchFamily="34" charset="-120"/>
              </a:rPr>
              <a:t>BLAST RADIUS</a:t>
            </a:r>
            <a:pPr algn="l" indent="0" marL="0">
              <a:buNone/>
            </a:pPr>
            <a:r>
              <a:rPr lang="en-US" sz="2800" b="1" spc="-75" kern="0" dirty="0">
                <a:solidFill>
                  <a:srgbClr val="F2E3D5"/>
                </a:solidFill>
                <a:latin typeface="Arial" pitchFamily="34" charset="0"/>
                <a:ea typeface="Arial" pitchFamily="34" charset="-122"/>
                <a:cs typeface="Arial" pitchFamily="34" charset="-120"/>
              </a:rPr>
              <a:t>.</a:t>
            </a:r>
            <a:endParaRPr lang="en-US" sz="2800" dirty="0"/>
          </a:p>
        </p:txBody>
      </p:sp>
      <p:sp>
        <p:nvSpPr>
          <p:cNvPr id="13" name="Text 10"/>
          <p:cNvSpPr/>
          <p:nvPr/>
        </p:nvSpPr>
        <p:spPr>
          <a:xfrm>
            <a:off x="12252960" y="1170432"/>
            <a:ext cx="5084064" cy="438912"/>
          </a:xfrm>
          <a:prstGeom prst="rect">
            <a:avLst/>
          </a:prstGeom>
          <a:noFill/>
          <a:ln/>
        </p:spPr>
        <p:txBody>
          <a:bodyPr wrap="square" lIns="0" tIns="0" rIns="0" bIns="0" rtlCol="0" anchor="ctr"/>
          <a:lstStyle/>
          <a:p>
            <a:pPr algn="r" indent="0" marL="0">
              <a:buNone/>
            </a:pPr>
            <a:r>
              <a:rPr lang="en-US" sz="2400" b="1" dirty="0">
                <a:solidFill>
                  <a:srgbClr val="F2E3D5"/>
                </a:solidFill>
                <a:latin typeface="Arial" pitchFamily="34" charset="0"/>
                <a:ea typeface="Arial" pitchFamily="34" charset="-122"/>
                <a:cs typeface="Arial" pitchFamily="34" charset="-120"/>
              </a:rPr>
              <a:t>~40,000 / week</a:t>
            </a:r>
            <a:endParaRPr lang="en-US" sz="2400" dirty="0"/>
          </a:p>
        </p:txBody>
      </p:sp>
      <p:sp>
        <p:nvSpPr>
          <p:cNvPr id="14" name="Text 11"/>
          <p:cNvSpPr/>
          <p:nvPr/>
        </p:nvSpPr>
        <p:spPr>
          <a:xfrm>
            <a:off x="12252960" y="1609344"/>
            <a:ext cx="5084064" cy="256032"/>
          </a:xfrm>
          <a:prstGeom prst="rect">
            <a:avLst/>
          </a:prstGeom>
          <a:noFill/>
          <a:ln/>
        </p:spPr>
        <p:txBody>
          <a:bodyPr wrap="square" lIns="0" tIns="0" rIns="0" bIns="0" rtlCol="0" anchor="ctr"/>
          <a:lstStyle/>
          <a:p>
            <a:pPr algn="r" indent="0" marL="0">
              <a:buNone/>
            </a:pPr>
            <a:r>
              <a:rPr lang="en-US" sz="1100" spc="60" kern="0" dirty="0">
                <a:solidFill>
                  <a:srgbClr val="7A5D4E"/>
                </a:solidFill>
                <a:latin typeface="Arial" pitchFamily="34" charset="0"/>
                <a:ea typeface="Arial" pitchFamily="34" charset="-122"/>
                <a:cs typeface="Arial" pitchFamily="34" charset="-120"/>
              </a:rPr>
              <a:t>DIRECTIONAL  ·  R0/R1 ≈ 80–90%  →  LANE 1</a:t>
            </a:r>
            <a:endParaRPr lang="en-US" sz="1100" dirty="0"/>
          </a:p>
        </p:txBody>
      </p:sp>
      <p:sp>
        <p:nvSpPr>
          <p:cNvPr id="15" name="Shape 12"/>
          <p:cNvSpPr/>
          <p:nvPr/>
        </p:nvSpPr>
        <p:spPr>
          <a:xfrm>
            <a:off x="950976" y="1975104"/>
            <a:ext cx="5394960" cy="2011680"/>
          </a:xfrm>
          <a:prstGeom prst="rect">
            <a:avLst/>
          </a:prstGeom>
          <a:solidFill>
            <a:srgbClr val="1A0D0A"/>
          </a:solidFill>
          <a:ln w="8636">
            <a:solidFill>
              <a:srgbClr val="3A1E16"/>
            </a:solidFill>
            <a:prstDash val="solid"/>
          </a:ln>
        </p:spPr>
      </p:sp>
      <p:sp>
        <p:nvSpPr>
          <p:cNvPr id="16" name="Shape 13"/>
          <p:cNvSpPr/>
          <p:nvPr/>
        </p:nvSpPr>
        <p:spPr>
          <a:xfrm>
            <a:off x="950976" y="1975104"/>
            <a:ext cx="5394960" cy="41148"/>
          </a:xfrm>
          <a:prstGeom prst="rect">
            <a:avLst/>
          </a:prstGeom>
          <a:solidFill>
            <a:srgbClr val="D9482A"/>
          </a:solidFill>
          <a:ln/>
        </p:spPr>
      </p:sp>
      <p:sp>
        <p:nvSpPr>
          <p:cNvPr id="17" name="Text 14"/>
          <p:cNvSpPr/>
          <p:nvPr/>
        </p:nvSpPr>
        <p:spPr>
          <a:xfrm>
            <a:off x="1152144" y="2103120"/>
            <a:ext cx="4992624" cy="256032"/>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01</a:t>
            </a:r>
            <a:endParaRPr lang="en-US" sz="1200" dirty="0"/>
          </a:p>
        </p:txBody>
      </p:sp>
      <p:sp>
        <p:nvSpPr>
          <p:cNvPr id="18" name="Text 15"/>
          <p:cNvSpPr/>
          <p:nvPr/>
        </p:nvSpPr>
        <p:spPr>
          <a:xfrm>
            <a:off x="1152144" y="2377440"/>
            <a:ext cx="4992624" cy="640080"/>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HELD IRREVERSIBLE ACTIONS</a:t>
            </a:r>
            <a:endParaRPr lang="en-US" sz="1500" dirty="0"/>
          </a:p>
        </p:txBody>
      </p:sp>
      <p:sp>
        <p:nvSpPr>
          <p:cNvPr id="19" name="Text 16"/>
          <p:cNvSpPr/>
          <p:nvPr/>
        </p:nvSpPr>
        <p:spPr>
          <a:xfrm>
            <a:off x="1152144" y="3035808"/>
            <a:ext cx="4992624" cy="731520"/>
          </a:xfrm>
          <a:prstGeom prst="rect">
            <a:avLst/>
          </a:prstGeom>
          <a:noFill/>
          <a:ln/>
        </p:spPr>
        <p:txBody>
          <a:bodyPr wrap="square" lIns="0" tIns="0" rIns="0" bIns="0" rtlCol="0" anchor="t"/>
          <a:lstStyle/>
          <a:p>
            <a:pPr indent="0" marL="0">
              <a:buNone/>
            </a:pPr>
            <a:r>
              <a:rPr lang="en-US" sz="1400" dirty="0">
                <a:solidFill>
                  <a:srgbClr val="C9B5A3"/>
                </a:solidFill>
                <a:latin typeface="Arial" pitchFamily="34" charset="0"/>
                <a:ea typeface="Arial" pitchFamily="34" charset="-122"/>
                <a:cs typeface="Arial" pitchFamily="34" charset="-120"/>
              </a:rPr>
              <a:t>R3 × unsupported-categorical → held packet, not a Tuesday payout.</a:t>
            </a:r>
            <a:endParaRPr lang="en-US" sz="1400" dirty="0"/>
          </a:p>
        </p:txBody>
      </p:sp>
      <p:sp>
        <p:nvSpPr>
          <p:cNvPr id="20" name="Shape 17"/>
          <p:cNvSpPr/>
          <p:nvPr/>
        </p:nvSpPr>
        <p:spPr>
          <a:xfrm>
            <a:off x="6528816" y="1975104"/>
            <a:ext cx="5394960" cy="2011680"/>
          </a:xfrm>
          <a:prstGeom prst="rect">
            <a:avLst/>
          </a:prstGeom>
          <a:solidFill>
            <a:srgbClr val="1A0D0A"/>
          </a:solidFill>
          <a:ln w="8636">
            <a:solidFill>
              <a:srgbClr val="3A1E16"/>
            </a:solidFill>
            <a:prstDash val="solid"/>
          </a:ln>
        </p:spPr>
      </p:sp>
      <p:sp>
        <p:nvSpPr>
          <p:cNvPr id="21" name="Shape 18"/>
          <p:cNvSpPr/>
          <p:nvPr/>
        </p:nvSpPr>
        <p:spPr>
          <a:xfrm>
            <a:off x="6528816" y="1975104"/>
            <a:ext cx="5394960" cy="41148"/>
          </a:xfrm>
          <a:prstGeom prst="rect">
            <a:avLst/>
          </a:prstGeom>
          <a:solidFill>
            <a:srgbClr val="D9482A"/>
          </a:solidFill>
          <a:ln/>
        </p:spPr>
      </p:sp>
      <p:sp>
        <p:nvSpPr>
          <p:cNvPr id="22" name="Text 19"/>
          <p:cNvSpPr/>
          <p:nvPr/>
        </p:nvSpPr>
        <p:spPr>
          <a:xfrm>
            <a:off x="6729984" y="2103120"/>
            <a:ext cx="4992624" cy="256032"/>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02</a:t>
            </a:r>
            <a:endParaRPr lang="en-US" sz="1200" dirty="0"/>
          </a:p>
        </p:txBody>
      </p:sp>
      <p:sp>
        <p:nvSpPr>
          <p:cNvPr id="23" name="Text 20"/>
          <p:cNvSpPr/>
          <p:nvPr/>
        </p:nvSpPr>
        <p:spPr>
          <a:xfrm>
            <a:off x="6729984" y="2377440"/>
            <a:ext cx="4992624" cy="640080"/>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ENTITLEMENT INCIDENTS PREVENTED</a:t>
            </a:r>
            <a:endParaRPr lang="en-US" sz="1500" dirty="0"/>
          </a:p>
        </p:txBody>
      </p:sp>
      <p:sp>
        <p:nvSpPr>
          <p:cNvPr id="24" name="Text 21"/>
          <p:cNvSpPr/>
          <p:nvPr/>
        </p:nvSpPr>
        <p:spPr>
          <a:xfrm>
            <a:off x="6729984" y="3035808"/>
            <a:ext cx="4992624" cy="731520"/>
          </a:xfrm>
          <a:prstGeom prst="rect">
            <a:avLst/>
          </a:prstGeom>
          <a:noFill/>
          <a:ln/>
        </p:spPr>
        <p:txBody>
          <a:bodyPr wrap="square" lIns="0" tIns="0" rIns="0" bIns="0" rtlCol="0" anchor="t"/>
          <a:lstStyle/>
          <a:p>
            <a:pPr indent="0" marL="0">
              <a:buNone/>
            </a:pPr>
            <a:r>
              <a:rPr lang="en-US" sz="1400" dirty="0">
                <a:solidFill>
                  <a:srgbClr val="C9B5A3"/>
                </a:solidFill>
                <a:latin typeface="Arial" pitchFamily="34" charset="0"/>
                <a:ea typeface="Arial" pitchFamily="34" charset="-122"/>
                <a:cs typeface="Arial" pitchFamily="34" charset="-120"/>
              </a:rPr>
              <a:t>Over-permissioned index × wrong caller → Edit/Block, microseconds.</a:t>
            </a:r>
            <a:endParaRPr lang="en-US" sz="1400" dirty="0"/>
          </a:p>
        </p:txBody>
      </p:sp>
      <p:sp>
        <p:nvSpPr>
          <p:cNvPr id="25" name="Shape 22"/>
          <p:cNvSpPr/>
          <p:nvPr/>
        </p:nvSpPr>
        <p:spPr>
          <a:xfrm>
            <a:off x="12106656" y="1975104"/>
            <a:ext cx="5394960" cy="2011680"/>
          </a:xfrm>
          <a:prstGeom prst="rect">
            <a:avLst/>
          </a:prstGeom>
          <a:solidFill>
            <a:srgbClr val="1A0D0A"/>
          </a:solidFill>
          <a:ln w="8636">
            <a:solidFill>
              <a:srgbClr val="3A1E16"/>
            </a:solidFill>
            <a:prstDash val="solid"/>
          </a:ln>
        </p:spPr>
      </p:sp>
      <p:sp>
        <p:nvSpPr>
          <p:cNvPr id="26" name="Shape 23"/>
          <p:cNvSpPr/>
          <p:nvPr/>
        </p:nvSpPr>
        <p:spPr>
          <a:xfrm>
            <a:off x="12106656" y="1975104"/>
            <a:ext cx="5394960" cy="41148"/>
          </a:xfrm>
          <a:prstGeom prst="rect">
            <a:avLst/>
          </a:prstGeom>
          <a:solidFill>
            <a:srgbClr val="D9482A"/>
          </a:solidFill>
          <a:ln/>
        </p:spPr>
      </p:sp>
      <p:sp>
        <p:nvSpPr>
          <p:cNvPr id="27" name="Text 24"/>
          <p:cNvSpPr/>
          <p:nvPr/>
        </p:nvSpPr>
        <p:spPr>
          <a:xfrm>
            <a:off x="12307824" y="2103120"/>
            <a:ext cx="4992624" cy="256032"/>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03</a:t>
            </a:r>
            <a:endParaRPr lang="en-US" sz="1200" dirty="0"/>
          </a:p>
        </p:txBody>
      </p:sp>
      <p:sp>
        <p:nvSpPr>
          <p:cNvPr id="28" name="Text 25"/>
          <p:cNvSpPr/>
          <p:nvPr/>
        </p:nvSpPr>
        <p:spPr>
          <a:xfrm>
            <a:off x="12307824" y="2377440"/>
            <a:ext cx="4992624" cy="640080"/>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DEAD COMPUTE, NAMED</a:t>
            </a:r>
            <a:endParaRPr lang="en-US" sz="1500" dirty="0"/>
          </a:p>
        </p:txBody>
      </p:sp>
      <p:sp>
        <p:nvSpPr>
          <p:cNvPr id="29" name="Text 26"/>
          <p:cNvSpPr/>
          <p:nvPr/>
        </p:nvSpPr>
        <p:spPr>
          <a:xfrm>
            <a:off x="12307824" y="3035808"/>
            <a:ext cx="4992624" cy="731520"/>
          </a:xfrm>
          <a:prstGeom prst="rect">
            <a:avLst/>
          </a:prstGeom>
          <a:noFill/>
          <a:ln/>
        </p:spPr>
        <p:txBody>
          <a:bodyPr wrap="square" lIns="0" tIns="0" rIns="0" bIns="0" rtlCol="0" anchor="t"/>
          <a:lstStyle/>
          <a:p>
            <a:pPr indent="0" marL="0">
              <a:buNone/>
            </a:pPr>
            <a:r>
              <a:rPr lang="en-US" sz="1400" dirty="0">
                <a:solidFill>
                  <a:srgbClr val="C9B5A3"/>
                </a:solidFill>
                <a:latin typeface="Arial" pitchFamily="34" charset="0"/>
                <a:ea typeface="Arial" pitchFamily="34" charset="-122"/>
                <a:cs typeface="Arial" pitchFamily="34" charset="-120"/>
              </a:rPr>
              <a:t>Walk the graph backward: steps that grounded zero accepted claims.</a:t>
            </a:r>
            <a:endParaRPr lang="en-US" sz="1400" dirty="0"/>
          </a:p>
        </p:txBody>
      </p:sp>
      <p:sp>
        <p:nvSpPr>
          <p:cNvPr id="30" name="Shape 27"/>
          <p:cNvSpPr/>
          <p:nvPr/>
        </p:nvSpPr>
        <p:spPr>
          <a:xfrm>
            <a:off x="950976" y="4151376"/>
            <a:ext cx="4114800" cy="2606040"/>
          </a:xfrm>
          <a:prstGeom prst="rect">
            <a:avLst/>
          </a:prstGeom>
          <a:solidFill>
            <a:srgbClr val="1A0D0A"/>
          </a:solidFill>
          <a:ln w="8636">
            <a:solidFill>
              <a:srgbClr val="3A1E16"/>
            </a:solidFill>
            <a:prstDash val="solid"/>
          </a:ln>
        </p:spPr>
      </p:sp>
      <p:sp>
        <p:nvSpPr>
          <p:cNvPr id="31" name="Text 28"/>
          <p:cNvSpPr/>
          <p:nvPr/>
        </p:nvSpPr>
        <p:spPr>
          <a:xfrm>
            <a:off x="1133856" y="4279392"/>
            <a:ext cx="3749040" cy="237744"/>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PHASE 0</a:t>
            </a:r>
            <a:endParaRPr lang="en-US" sz="1200" dirty="0"/>
          </a:p>
        </p:txBody>
      </p:sp>
      <p:sp>
        <p:nvSpPr>
          <p:cNvPr id="32" name="Text 29"/>
          <p:cNvSpPr/>
          <p:nvPr/>
        </p:nvSpPr>
        <p:spPr>
          <a:xfrm>
            <a:off x="1133856" y="4535424"/>
            <a:ext cx="3749040" cy="347472"/>
          </a:xfrm>
          <a:prstGeom prst="rect">
            <a:avLst/>
          </a:prstGeom>
          <a:noFill/>
          <a:ln/>
        </p:spPr>
        <p:txBody>
          <a:bodyPr wrap="square" lIns="0" tIns="0" rIns="0" bIns="0" rtlCol="0" anchor="ctr"/>
          <a:lstStyle/>
          <a:p>
            <a:pPr indent="0" marL="0">
              <a:buNone/>
            </a:pPr>
            <a:r>
              <a:rPr lang="en-US" sz="1600" b="1" dirty="0">
                <a:solidFill>
                  <a:srgbClr val="F2E3D5"/>
                </a:solidFill>
                <a:latin typeface="Arial" pitchFamily="34" charset="0"/>
                <a:ea typeface="Arial" pitchFamily="34" charset="-122"/>
                <a:cs typeface="Arial" pitchFamily="34" charset="-120"/>
              </a:rPr>
              <a:t>SHADOW</a:t>
            </a:r>
            <a:endParaRPr lang="en-US" sz="1600" dirty="0"/>
          </a:p>
        </p:txBody>
      </p:sp>
      <p:sp>
        <p:nvSpPr>
          <p:cNvPr id="33" name="Text 30"/>
          <p:cNvSpPr/>
          <p:nvPr/>
        </p:nvSpPr>
        <p:spPr>
          <a:xfrm>
            <a:off x="1133856" y="4901184"/>
            <a:ext cx="3749040" cy="256032"/>
          </a:xfrm>
          <a:prstGeom prst="rect">
            <a:avLst/>
          </a:prstGeom>
          <a:noFill/>
          <a:ln/>
        </p:spPr>
        <p:txBody>
          <a:bodyPr wrap="square" lIns="0" tIns="0" rIns="0" bIns="0" rtlCol="0" anchor="ctr"/>
          <a:lstStyle/>
          <a:p>
            <a:pPr indent="0" marL="0">
              <a:buNone/>
            </a:pPr>
            <a:r>
              <a:rPr lang="en-US" sz="1300" dirty="0">
                <a:solidFill>
                  <a:srgbClr val="F2C572"/>
                </a:solidFill>
                <a:latin typeface="Arial" pitchFamily="34" charset="0"/>
                <a:ea typeface="Arial" pitchFamily="34" charset="-122"/>
                <a:cs typeface="Arial" pitchFamily="34" charset="-120"/>
              </a:rPr>
              <a:t>weeks 0–6</a:t>
            </a:r>
            <a:endParaRPr lang="en-US" sz="1300" dirty="0"/>
          </a:p>
        </p:txBody>
      </p:sp>
      <p:sp>
        <p:nvSpPr>
          <p:cNvPr id="34" name="Text 31"/>
          <p:cNvSpPr/>
          <p:nvPr/>
        </p:nvSpPr>
        <p:spPr>
          <a:xfrm>
            <a:off x="1133856" y="5230368"/>
            <a:ext cx="3749040" cy="1280160"/>
          </a:xfrm>
          <a:prstGeom prst="rect">
            <a:avLst/>
          </a:prstGeom>
          <a:noFill/>
          <a:ln/>
        </p:spPr>
        <p:txBody>
          <a:bodyPr wrap="square" lIns="0" tIns="0" rIns="0" bIns="0" rtlCol="0" anchor="t"/>
          <a:lstStyle/>
          <a:p>
            <a:pPr indent="0" marL="0">
              <a:buNone/>
            </a:pPr>
            <a:r>
              <a:rPr lang="en-US" sz="1300" dirty="0">
                <a:solidFill>
                  <a:srgbClr val="C9B5A3"/>
                </a:solidFill>
                <a:latin typeface="Arial" pitchFamily="34" charset="0"/>
                <a:ea typeface="Arial" pitchFamily="34" charset="-122"/>
                <a:cs typeface="Arial" pitchFamily="34" charset="-120"/>
              </a:rPr>
              <a:t>Proxy + SDK hook; dual-emit. Would have held N, of which M were true positives.</a:t>
            </a:r>
            <a:endParaRPr lang="en-US" sz="1300" dirty="0"/>
          </a:p>
        </p:txBody>
      </p:sp>
      <p:sp>
        <p:nvSpPr>
          <p:cNvPr id="35" name="Shape 32"/>
          <p:cNvSpPr/>
          <p:nvPr/>
        </p:nvSpPr>
        <p:spPr>
          <a:xfrm>
            <a:off x="5230368" y="4151376"/>
            <a:ext cx="4114800" cy="2606040"/>
          </a:xfrm>
          <a:prstGeom prst="rect">
            <a:avLst/>
          </a:prstGeom>
          <a:solidFill>
            <a:srgbClr val="1A0D0A"/>
          </a:solidFill>
          <a:ln w="8636">
            <a:solidFill>
              <a:srgbClr val="3A1E16"/>
            </a:solidFill>
            <a:prstDash val="solid"/>
          </a:ln>
        </p:spPr>
      </p:sp>
      <p:sp>
        <p:nvSpPr>
          <p:cNvPr id="36" name="Text 33"/>
          <p:cNvSpPr/>
          <p:nvPr/>
        </p:nvSpPr>
        <p:spPr>
          <a:xfrm>
            <a:off x="5413248" y="4279392"/>
            <a:ext cx="3749040" cy="237744"/>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PHASE 1</a:t>
            </a:r>
            <a:endParaRPr lang="en-US" sz="1200" dirty="0"/>
          </a:p>
        </p:txBody>
      </p:sp>
      <p:sp>
        <p:nvSpPr>
          <p:cNvPr id="37" name="Text 34"/>
          <p:cNvSpPr/>
          <p:nvPr/>
        </p:nvSpPr>
        <p:spPr>
          <a:xfrm>
            <a:off x="5413248" y="4535424"/>
            <a:ext cx="3749040" cy="347472"/>
          </a:xfrm>
          <a:prstGeom prst="rect">
            <a:avLst/>
          </a:prstGeom>
          <a:noFill/>
          <a:ln/>
        </p:spPr>
        <p:txBody>
          <a:bodyPr wrap="square" lIns="0" tIns="0" rIns="0" bIns="0" rtlCol="0" anchor="ctr"/>
          <a:lstStyle/>
          <a:p>
            <a:pPr indent="0" marL="0">
              <a:buNone/>
            </a:pPr>
            <a:r>
              <a:rPr lang="en-US" sz="1600" b="1" dirty="0">
                <a:solidFill>
                  <a:srgbClr val="F2E3D5"/>
                </a:solidFill>
                <a:latin typeface="Arial" pitchFamily="34" charset="0"/>
                <a:ea typeface="Arial" pitchFamily="34" charset="-122"/>
                <a:cs typeface="Arial" pitchFamily="34" charset="-120"/>
              </a:rPr>
              <a:t>ENFORCE R3</a:t>
            </a:r>
            <a:endParaRPr lang="en-US" sz="1600" dirty="0"/>
          </a:p>
        </p:txBody>
      </p:sp>
      <p:sp>
        <p:nvSpPr>
          <p:cNvPr id="38" name="Text 35"/>
          <p:cNvSpPr/>
          <p:nvPr/>
        </p:nvSpPr>
        <p:spPr>
          <a:xfrm>
            <a:off x="5413248" y="4901184"/>
            <a:ext cx="3749040" cy="256032"/>
          </a:xfrm>
          <a:prstGeom prst="rect">
            <a:avLst/>
          </a:prstGeom>
          <a:noFill/>
          <a:ln/>
        </p:spPr>
        <p:txBody>
          <a:bodyPr wrap="square" lIns="0" tIns="0" rIns="0" bIns="0" rtlCol="0" anchor="ctr"/>
          <a:lstStyle/>
          <a:p>
            <a:pPr indent="0" marL="0">
              <a:buNone/>
            </a:pPr>
            <a:r>
              <a:rPr lang="en-US" sz="1300" dirty="0">
                <a:solidFill>
                  <a:srgbClr val="F2C572"/>
                </a:solidFill>
                <a:latin typeface="Arial" pitchFamily="34" charset="0"/>
                <a:ea typeface="Arial" pitchFamily="34" charset="-122"/>
                <a:cs typeface="Arial" pitchFamily="34" charset="-120"/>
              </a:rPr>
              <a:t>weeks 6–12</a:t>
            </a:r>
            <a:endParaRPr lang="en-US" sz="1300" dirty="0"/>
          </a:p>
        </p:txBody>
      </p:sp>
      <p:sp>
        <p:nvSpPr>
          <p:cNvPr id="39" name="Text 36"/>
          <p:cNvSpPr/>
          <p:nvPr/>
        </p:nvSpPr>
        <p:spPr>
          <a:xfrm>
            <a:off x="5413248" y="5230368"/>
            <a:ext cx="3749040" cy="1280160"/>
          </a:xfrm>
          <a:prstGeom prst="rect">
            <a:avLst/>
          </a:prstGeom>
          <a:noFill/>
          <a:ln/>
        </p:spPr>
        <p:txBody>
          <a:bodyPr wrap="square" lIns="0" tIns="0" rIns="0" bIns="0" rtlCol="0" anchor="t"/>
          <a:lstStyle/>
          <a:p>
            <a:pPr indent="0" marL="0">
              <a:buNone/>
            </a:pPr>
            <a:r>
              <a:rPr lang="en-US" sz="1300" dirty="0">
                <a:solidFill>
                  <a:srgbClr val="C9B5A3"/>
                </a:solidFill>
                <a:latin typeface="Arial" pitchFamily="34" charset="0"/>
                <a:ea typeface="Arial" pitchFamily="34" charset="-122"/>
                <a:cs typeface="Arial" pitchFamily="34" charset="-120"/>
              </a:rPr>
              <a:t>Payments, deletion, publication, regulated advice. Fail closed or escalate.</a:t>
            </a:r>
            <a:endParaRPr lang="en-US" sz="1300" dirty="0"/>
          </a:p>
        </p:txBody>
      </p:sp>
      <p:sp>
        <p:nvSpPr>
          <p:cNvPr id="40" name="Shape 37"/>
          <p:cNvSpPr/>
          <p:nvPr/>
        </p:nvSpPr>
        <p:spPr>
          <a:xfrm>
            <a:off x="9509760" y="4151376"/>
            <a:ext cx="4114800" cy="2606040"/>
          </a:xfrm>
          <a:prstGeom prst="rect">
            <a:avLst/>
          </a:prstGeom>
          <a:solidFill>
            <a:srgbClr val="1A0D0A"/>
          </a:solidFill>
          <a:ln w="8636">
            <a:solidFill>
              <a:srgbClr val="3A1E16"/>
            </a:solidFill>
            <a:prstDash val="solid"/>
          </a:ln>
        </p:spPr>
      </p:sp>
      <p:sp>
        <p:nvSpPr>
          <p:cNvPr id="41" name="Text 38"/>
          <p:cNvSpPr/>
          <p:nvPr/>
        </p:nvSpPr>
        <p:spPr>
          <a:xfrm>
            <a:off x="9692640" y="4279392"/>
            <a:ext cx="3749040" cy="237744"/>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PHASE 2</a:t>
            </a:r>
            <a:endParaRPr lang="en-US" sz="1200" dirty="0"/>
          </a:p>
        </p:txBody>
      </p:sp>
      <p:sp>
        <p:nvSpPr>
          <p:cNvPr id="42" name="Text 39"/>
          <p:cNvSpPr/>
          <p:nvPr/>
        </p:nvSpPr>
        <p:spPr>
          <a:xfrm>
            <a:off x="9692640" y="4535424"/>
            <a:ext cx="3749040" cy="347472"/>
          </a:xfrm>
          <a:prstGeom prst="rect">
            <a:avLst/>
          </a:prstGeom>
          <a:noFill/>
          <a:ln/>
        </p:spPr>
        <p:txBody>
          <a:bodyPr wrap="square" lIns="0" tIns="0" rIns="0" bIns="0" rtlCol="0" anchor="ctr"/>
          <a:lstStyle/>
          <a:p>
            <a:pPr indent="0" marL="0">
              <a:buNone/>
            </a:pPr>
            <a:r>
              <a:rPr lang="en-US" sz="1600" b="1" dirty="0">
                <a:solidFill>
                  <a:srgbClr val="F2E3D5"/>
                </a:solidFill>
                <a:latin typeface="Arial" pitchFamily="34" charset="0"/>
                <a:ea typeface="Arial" pitchFamily="34" charset="-122"/>
                <a:cs typeface="Arial" pitchFamily="34" charset="-120"/>
              </a:rPr>
              <a:t>ENFORCE R2</a:t>
            </a:r>
            <a:endParaRPr lang="en-US" sz="1600" dirty="0"/>
          </a:p>
        </p:txBody>
      </p:sp>
      <p:sp>
        <p:nvSpPr>
          <p:cNvPr id="43" name="Text 40"/>
          <p:cNvSpPr/>
          <p:nvPr/>
        </p:nvSpPr>
        <p:spPr>
          <a:xfrm>
            <a:off x="9692640" y="4901184"/>
            <a:ext cx="3749040" cy="256032"/>
          </a:xfrm>
          <a:prstGeom prst="rect">
            <a:avLst/>
          </a:prstGeom>
          <a:noFill/>
          <a:ln/>
        </p:spPr>
        <p:txBody>
          <a:bodyPr wrap="square" lIns="0" tIns="0" rIns="0" bIns="0" rtlCol="0" anchor="ctr"/>
          <a:lstStyle/>
          <a:p>
            <a:pPr indent="0" marL="0">
              <a:buNone/>
            </a:pPr>
            <a:r>
              <a:rPr lang="en-US" sz="1300" dirty="0">
                <a:solidFill>
                  <a:srgbClr val="F2C572"/>
                </a:solidFill>
                <a:latin typeface="Arial" pitchFamily="34" charset="0"/>
                <a:ea typeface="Arial" pitchFamily="34" charset="-122"/>
                <a:cs typeface="Arial" pitchFamily="34" charset="-120"/>
              </a:rPr>
              <a:t>weeks 12–20</a:t>
            </a:r>
            <a:endParaRPr lang="en-US" sz="1300" dirty="0"/>
          </a:p>
        </p:txBody>
      </p:sp>
      <p:sp>
        <p:nvSpPr>
          <p:cNvPr id="44" name="Text 41"/>
          <p:cNvSpPr/>
          <p:nvPr/>
        </p:nvSpPr>
        <p:spPr>
          <a:xfrm>
            <a:off x="9692640" y="5230368"/>
            <a:ext cx="3749040" cy="1280160"/>
          </a:xfrm>
          <a:prstGeom prst="rect">
            <a:avLst/>
          </a:prstGeom>
          <a:noFill/>
          <a:ln/>
        </p:spPr>
        <p:txBody>
          <a:bodyPr wrap="square" lIns="0" tIns="0" rIns="0" bIns="0" rtlCol="0" anchor="t"/>
          <a:lstStyle/>
          <a:p>
            <a:pPr indent="0" marL="0">
              <a:buNone/>
            </a:pPr>
            <a:r>
              <a:rPr lang="en-US" sz="1300" dirty="0">
                <a:solidFill>
                  <a:srgbClr val="C9B5A3"/>
                </a:solidFill>
                <a:latin typeface="Arial" pitchFamily="34" charset="0"/>
                <a:ea typeface="Arial" pitchFamily="34" charset="-122"/>
                <a:cs typeface="Arial" pitchFamily="34" charset="-120"/>
              </a:rPr>
              <a:t>Reversible writes / external sends. Autonomy downgrade.</a:t>
            </a:r>
            <a:endParaRPr lang="en-US" sz="1300" dirty="0"/>
          </a:p>
        </p:txBody>
      </p:sp>
      <p:sp>
        <p:nvSpPr>
          <p:cNvPr id="45" name="Shape 42"/>
          <p:cNvSpPr/>
          <p:nvPr/>
        </p:nvSpPr>
        <p:spPr>
          <a:xfrm>
            <a:off x="13789152" y="4151376"/>
            <a:ext cx="4114800" cy="2606040"/>
          </a:xfrm>
          <a:prstGeom prst="rect">
            <a:avLst/>
          </a:prstGeom>
          <a:solidFill>
            <a:srgbClr val="1A0D0A"/>
          </a:solidFill>
          <a:ln w="8636">
            <a:solidFill>
              <a:srgbClr val="3A1E16"/>
            </a:solidFill>
            <a:prstDash val="solid"/>
          </a:ln>
        </p:spPr>
      </p:sp>
      <p:sp>
        <p:nvSpPr>
          <p:cNvPr id="46" name="Text 43"/>
          <p:cNvSpPr/>
          <p:nvPr/>
        </p:nvSpPr>
        <p:spPr>
          <a:xfrm>
            <a:off x="13972032" y="4279392"/>
            <a:ext cx="3749040" cy="237744"/>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PHASE 3</a:t>
            </a:r>
            <a:endParaRPr lang="en-US" sz="1200" dirty="0"/>
          </a:p>
        </p:txBody>
      </p:sp>
      <p:sp>
        <p:nvSpPr>
          <p:cNvPr id="47" name="Text 44"/>
          <p:cNvSpPr/>
          <p:nvPr/>
        </p:nvSpPr>
        <p:spPr>
          <a:xfrm>
            <a:off x="13972032" y="4535424"/>
            <a:ext cx="3749040" cy="347472"/>
          </a:xfrm>
          <a:prstGeom prst="rect">
            <a:avLst/>
          </a:prstGeom>
          <a:noFill/>
          <a:ln/>
        </p:spPr>
        <p:txBody>
          <a:bodyPr wrap="square" lIns="0" tIns="0" rIns="0" bIns="0" rtlCol="0" anchor="ctr"/>
          <a:lstStyle/>
          <a:p>
            <a:pPr indent="0" marL="0">
              <a:buNone/>
            </a:pPr>
            <a:r>
              <a:rPr lang="en-US" sz="1600" b="1" dirty="0">
                <a:solidFill>
                  <a:srgbClr val="F2E3D5"/>
                </a:solidFill>
                <a:latin typeface="Arial" pitchFamily="34" charset="0"/>
                <a:ea typeface="Arial" pitchFamily="34" charset="-122"/>
                <a:cs typeface="Arial" pitchFamily="34" charset="-120"/>
              </a:rPr>
              <a:t>FNR + LOOPS</a:t>
            </a:r>
            <a:endParaRPr lang="en-US" sz="1600" dirty="0"/>
          </a:p>
        </p:txBody>
      </p:sp>
      <p:sp>
        <p:nvSpPr>
          <p:cNvPr id="48" name="Text 45"/>
          <p:cNvSpPr/>
          <p:nvPr/>
        </p:nvSpPr>
        <p:spPr>
          <a:xfrm>
            <a:off x="13972032" y="4901184"/>
            <a:ext cx="3749040" cy="256032"/>
          </a:xfrm>
          <a:prstGeom prst="rect">
            <a:avLst/>
          </a:prstGeom>
          <a:noFill/>
          <a:ln/>
        </p:spPr>
        <p:txBody>
          <a:bodyPr wrap="square" lIns="0" tIns="0" rIns="0" bIns="0" rtlCol="0" anchor="ctr"/>
          <a:lstStyle/>
          <a:p>
            <a:pPr indent="0" marL="0">
              <a:buNone/>
            </a:pPr>
            <a:r>
              <a:rPr lang="en-US" sz="1300" dirty="0">
                <a:solidFill>
                  <a:srgbClr val="F2C572"/>
                </a:solidFill>
                <a:latin typeface="Arial" pitchFamily="34" charset="0"/>
                <a:ea typeface="Arial" pitchFamily="34" charset="-122"/>
                <a:cs typeface="Arial" pitchFamily="34" charset="-120"/>
              </a:rPr>
              <a:t>from week 16</a:t>
            </a:r>
            <a:endParaRPr lang="en-US" sz="1300" dirty="0"/>
          </a:p>
        </p:txBody>
      </p:sp>
      <p:sp>
        <p:nvSpPr>
          <p:cNvPr id="49" name="Text 46"/>
          <p:cNvSpPr/>
          <p:nvPr/>
        </p:nvSpPr>
        <p:spPr>
          <a:xfrm>
            <a:off x="13972032" y="5230368"/>
            <a:ext cx="3749040" cy="1280160"/>
          </a:xfrm>
          <a:prstGeom prst="rect">
            <a:avLst/>
          </a:prstGeom>
          <a:noFill/>
          <a:ln/>
        </p:spPr>
        <p:txBody>
          <a:bodyPr wrap="square" lIns="0" tIns="0" rIns="0" bIns="0" rtlCol="0" anchor="t"/>
          <a:lstStyle/>
          <a:p>
            <a:pPr indent="0" marL="0">
              <a:buNone/>
            </a:pPr>
            <a:r>
              <a:rPr lang="en-US" sz="1300" dirty="0">
                <a:solidFill>
                  <a:srgbClr val="C9B5A3"/>
                </a:solidFill>
                <a:latin typeface="Arial" pitchFamily="34" charset="0"/>
                <a:ea typeface="Arial" pitchFamily="34" charset="-122"/>
                <a:cs typeface="Arial" pitchFamily="34" charset="-120"/>
              </a:rPr>
              <a:t>Per-route FNR with CI; override capture; geographic packs as DAG content.</a:t>
            </a:r>
            <a:endParaRPr lang="en-US" sz="1300" dirty="0"/>
          </a:p>
        </p:txBody>
      </p:sp>
      <p:sp>
        <p:nvSpPr>
          <p:cNvPr id="50" name="Shape 47"/>
          <p:cNvSpPr/>
          <p:nvPr/>
        </p:nvSpPr>
        <p:spPr>
          <a:xfrm>
            <a:off x="950976" y="6931152"/>
            <a:ext cx="16386048" cy="2304288"/>
          </a:xfrm>
          <a:prstGeom prst="rect">
            <a:avLst/>
          </a:prstGeom>
          <a:solidFill>
            <a:srgbClr val="1A0D0A"/>
          </a:solidFill>
          <a:ln w="8636">
            <a:solidFill>
              <a:srgbClr val="3A1E16"/>
            </a:solidFill>
            <a:prstDash val="solid"/>
          </a:ln>
        </p:spPr>
      </p:sp>
      <p:sp>
        <p:nvSpPr>
          <p:cNvPr id="51" name="Text 48"/>
          <p:cNvSpPr/>
          <p:nvPr/>
        </p:nvSpPr>
        <p:spPr>
          <a:xfrm>
            <a:off x="1243584" y="7077456"/>
            <a:ext cx="15819120" cy="329184"/>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LATENCY TARGETS    ≤40 ms p50  /  ≤200 ms p95 added on R0/R1 text.  Never quote 40 as p95.</a:t>
            </a:r>
            <a:endParaRPr lang="en-US" sz="1500" dirty="0"/>
          </a:p>
        </p:txBody>
      </p:sp>
      <p:sp>
        <p:nvSpPr>
          <p:cNvPr id="52" name="Text 49"/>
          <p:cNvSpPr/>
          <p:nvPr/>
        </p:nvSpPr>
        <p:spPr>
          <a:xfrm>
            <a:off x="1243584" y="7424928"/>
            <a:ext cx="15819120" cy="329184"/>
          </a:xfrm>
          <a:prstGeom prst="rect">
            <a:avLst/>
          </a:prstGeom>
          <a:noFill/>
          <a:ln/>
        </p:spPr>
        <p:txBody>
          <a:bodyPr wrap="square" lIns="0" tIns="0" rIns="0" bIns="0" rtlCol="0" anchor="ctr"/>
          <a:lstStyle/>
          <a:p>
            <a:pPr indent="0" marL="0">
              <a:buNone/>
            </a:pPr>
            <a:r>
              <a:rPr lang="en-US" sz="1400" dirty="0">
                <a:solidFill>
                  <a:srgbClr val="F2C572"/>
                </a:solidFill>
                <a:latin typeface="Arial" pitchFamily="34" charset="0"/>
                <a:ea typeface="Arial" pitchFamily="34" charset="-122"/>
                <a:cs typeface="Arial" pitchFamily="34" charset="-120"/>
              </a:rPr>
              <a:t>Measured gate (submission/latency_bench.json, n=200): p50≈0.074 ms · p95≈0.134 ms — under target; quote measured vs targets separately.</a:t>
            </a:r>
            <a:endParaRPr lang="en-US" sz="1400" dirty="0"/>
          </a:p>
        </p:txBody>
      </p:sp>
      <p:sp>
        <p:nvSpPr>
          <p:cNvPr id="53" name="Text 50"/>
          <p:cNvSpPr/>
          <p:nvPr/>
        </p:nvSpPr>
        <p:spPr>
          <a:xfrm>
            <a:off x="1243584" y="7772400"/>
            <a:ext cx="15819120" cy="123444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We do not eliminate hallucinations. We do not claim drop-in. We do not claim zero added latency: we never make the model feel slow; we make the action wait. The integration cost is the moat — we hook context assembly.</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10 // FNR</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09728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11 · RISKS WE PUBLISH</a:t>
            </a:r>
            <a:endParaRPr lang="en-US" sz="1500" dirty="0"/>
          </a:p>
        </p:txBody>
      </p:sp>
      <p:sp>
        <p:nvSpPr>
          <p:cNvPr id="12" name="Text 9"/>
          <p:cNvSpPr/>
          <p:nvPr/>
        </p:nvSpPr>
        <p:spPr>
          <a:xfrm>
            <a:off x="950976" y="1207008"/>
            <a:ext cx="16367760" cy="475488"/>
          </a:xfrm>
          <a:prstGeom prst="rect">
            <a:avLst/>
          </a:prstGeom>
          <a:noFill/>
          <a:ln/>
        </p:spPr>
        <p:txBody>
          <a:bodyPr wrap="square" lIns="0" tIns="0" rIns="0" bIns="0" rtlCol="0" anchor="t"/>
          <a:lstStyle/>
          <a:p>
            <a:pPr algn="l" indent="0" marL="0">
              <a:buNone/>
            </a:pPr>
            <a:r>
              <a:rPr lang="en-US" sz="2800" b="1" spc="-75" kern="0" dirty="0">
                <a:solidFill>
                  <a:srgbClr val="F2E3D5"/>
                </a:solidFill>
                <a:latin typeface="Arial" pitchFamily="34" charset="0"/>
                <a:ea typeface="Arial" pitchFamily="34" charset="-122"/>
                <a:cs typeface="Arial" pitchFamily="34" charset="-120"/>
              </a:rPr>
              <a:t>WE PUBLISH OUR OWN </a:t>
            </a:r>
            <a:pPr algn="l" indent="0" marL="0">
              <a:buNone/>
            </a:pPr>
            <a:r>
              <a:rPr lang="en-US" sz="2800" b="1" spc="-75" kern="0" dirty="0">
                <a:solidFill>
                  <a:srgbClr val="D9482A"/>
                </a:solidFill>
                <a:latin typeface="Arial" pitchFamily="34" charset="0"/>
                <a:ea typeface="Arial" pitchFamily="34" charset="-122"/>
                <a:cs typeface="Arial" pitchFamily="34" charset="-120"/>
              </a:rPr>
              <a:t>MISS RATE</a:t>
            </a:r>
            <a:pPr algn="l" indent="0" marL="0">
              <a:buNone/>
            </a:pPr>
            <a:r>
              <a:rPr lang="en-US" sz="2800" b="1" spc="-75" kern="0" dirty="0">
                <a:solidFill>
                  <a:srgbClr val="F2E3D5"/>
                </a:solidFill>
                <a:latin typeface="Arial" pitchFamily="34" charset="0"/>
                <a:ea typeface="Arial" pitchFamily="34" charset="-122"/>
                <a:cs typeface="Arial" pitchFamily="34" charset="-120"/>
              </a:rPr>
              <a:t>.</a:t>
            </a:r>
            <a:endParaRPr lang="en-US" sz="2800" dirty="0"/>
          </a:p>
        </p:txBody>
      </p:sp>
      <p:sp>
        <p:nvSpPr>
          <p:cNvPr id="13" name="Text 10"/>
          <p:cNvSpPr/>
          <p:nvPr/>
        </p:nvSpPr>
        <p:spPr>
          <a:xfrm>
            <a:off x="950976" y="1719072"/>
            <a:ext cx="16367760" cy="292608"/>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Per route. Not what we caught — what we missed. Gate report: empty schema. The emptiness is the claim.</a:t>
            </a:r>
            <a:endParaRPr lang="en-US" sz="1500" dirty="0"/>
          </a:p>
        </p:txBody>
      </p:sp>
      <p:sp>
        <p:nvSpPr>
          <p:cNvPr id="14" name="Shape 11"/>
          <p:cNvSpPr/>
          <p:nvPr/>
        </p:nvSpPr>
        <p:spPr>
          <a:xfrm>
            <a:off x="950976" y="2121408"/>
            <a:ext cx="9281160" cy="7040880"/>
          </a:xfrm>
          <a:prstGeom prst="rect">
            <a:avLst/>
          </a:prstGeom>
          <a:solidFill>
            <a:srgbClr val="1A0D0A"/>
          </a:solidFill>
          <a:ln w="8636">
            <a:solidFill>
              <a:srgbClr val="5A2E20"/>
            </a:solidFill>
            <a:prstDash val="solid"/>
          </a:ln>
        </p:spPr>
      </p:sp>
      <p:sp>
        <p:nvSpPr>
          <p:cNvPr id="15" name="Shape 12"/>
          <p:cNvSpPr/>
          <p:nvPr/>
        </p:nvSpPr>
        <p:spPr>
          <a:xfrm>
            <a:off x="960120" y="2560320"/>
            <a:ext cx="9262872" cy="9144"/>
          </a:xfrm>
          <a:prstGeom prst="rect">
            <a:avLst/>
          </a:prstGeom>
          <a:solidFill>
            <a:srgbClr val="3A1E16"/>
          </a:solidFill>
          <a:ln/>
        </p:spPr>
      </p:sp>
      <p:sp>
        <p:nvSpPr>
          <p:cNvPr id="16" name="Text 13"/>
          <p:cNvSpPr/>
          <p:nvPr/>
        </p:nvSpPr>
        <p:spPr>
          <a:xfrm>
            <a:off x="1115568" y="2194560"/>
            <a:ext cx="4810658"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GATE REPORT</a:t>
            </a:r>
            <a:endParaRPr lang="en-US" sz="1300" dirty="0"/>
          </a:p>
        </p:txBody>
      </p:sp>
      <p:sp>
        <p:nvSpPr>
          <p:cNvPr id="17" name="Text 14"/>
          <p:cNvSpPr/>
          <p:nvPr/>
        </p:nvSpPr>
        <p:spPr>
          <a:xfrm>
            <a:off x="6334049" y="2194560"/>
            <a:ext cx="3715207"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EMPTY UNTIL MEASURED</a:t>
            </a:r>
            <a:endParaRPr lang="en-US" sz="1300" dirty="0"/>
          </a:p>
        </p:txBody>
      </p:sp>
      <p:sp>
        <p:nvSpPr>
          <p:cNvPr id="18" name="Text 15"/>
          <p:cNvSpPr/>
          <p:nvPr/>
        </p:nvSpPr>
        <p:spPr>
          <a:xfrm>
            <a:off x="1207008" y="2724912"/>
            <a:ext cx="8778240" cy="6126480"/>
          </a:xfrm>
          <a:prstGeom prst="rect">
            <a:avLst/>
          </a:prstGeom>
          <a:noFill/>
          <a:ln/>
        </p:spPr>
        <p:txBody>
          <a:bodyPr wrap="square" lIns="0" tIns="0" rIns="0" bIns="0" rtlCol="0" anchor="t"/>
          <a:lstStyle/>
          <a:p>
            <a:pPr indent="0" marL="0">
              <a:buNone/>
            </a:pPr>
            <a:r>
              <a:rPr lang="en-US" sz="1400" dirty="0">
                <a:solidFill>
                  <a:srgbClr val="C9B5A3"/>
                </a:solidFill>
                <a:latin typeface="Courier New" pitchFamily="34" charset="0"/>
                <a:ea typeface="Courier New" pitchFamily="34" charset="-122"/>
                <a:cs typeface="Courier New" pitchFamily="34" charset="-120"/>
              </a:rPr>
              <a:t>route                     &lt;id&gt;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window                    &lt;start&gt;-&lt;end&gt;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volume                    &lt;n&gt;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holds                     &lt;n&gt;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escalations               &lt;n&gt;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edits                     &lt;n&gt;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blocks                    &lt;n&gt;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shadow_would_have_held    &lt;n&gt;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true_positives_in_holds   &lt;n&gt;  (sampled)</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false_negatives           &lt;n&gt;  (sampled)</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FNR                       &lt;measured&gt;%  +/- &lt;CI&gt;  per route</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dead_compute_share        &lt;measured&gt;%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override_rate             &lt;measured&gt; vs baseline</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p50_added_ms              &lt;=40 (target)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p95_added_ms              &lt;=200 (target)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policy_version            &lt;id&gt;</a:t>
            </a:r>
            <a:endParaRPr lang="en-US" sz="1400" dirty="0"/>
          </a:p>
        </p:txBody>
      </p:sp>
      <p:sp>
        <p:nvSpPr>
          <p:cNvPr id="19" name="Shape 16"/>
          <p:cNvSpPr/>
          <p:nvPr/>
        </p:nvSpPr>
        <p:spPr>
          <a:xfrm>
            <a:off x="10442448" y="2121408"/>
            <a:ext cx="6894576" cy="3337560"/>
          </a:xfrm>
          <a:prstGeom prst="rect">
            <a:avLst/>
          </a:prstGeom>
          <a:solidFill>
            <a:srgbClr val="1A0D0A"/>
          </a:solidFill>
          <a:ln w="12700">
            <a:solidFill>
              <a:srgbClr val="D9482A"/>
            </a:solidFill>
            <a:prstDash val="solid"/>
          </a:ln>
        </p:spPr>
      </p:sp>
      <p:sp>
        <p:nvSpPr>
          <p:cNvPr id="20" name="Shape 17"/>
          <p:cNvSpPr/>
          <p:nvPr/>
        </p:nvSpPr>
        <p:spPr>
          <a:xfrm>
            <a:off x="10442448" y="2121408"/>
            <a:ext cx="6894576" cy="41148"/>
          </a:xfrm>
          <a:prstGeom prst="rect">
            <a:avLst/>
          </a:prstGeom>
          <a:solidFill>
            <a:srgbClr val="D9482A"/>
          </a:solidFill>
          <a:ln/>
        </p:spPr>
      </p:sp>
      <p:sp>
        <p:nvSpPr>
          <p:cNvPr id="21" name="Text 18"/>
          <p:cNvSpPr/>
          <p:nvPr/>
        </p:nvSpPr>
        <p:spPr>
          <a:xfrm>
            <a:off x="10716768" y="2304288"/>
            <a:ext cx="6400800" cy="274320"/>
          </a:xfrm>
          <a:prstGeom prst="rect">
            <a:avLst/>
          </a:prstGeom>
          <a:noFill/>
          <a:ln/>
        </p:spPr>
        <p:txBody>
          <a:bodyPr wrap="square" lIns="0" tIns="0" rIns="0" bIns="0" rtlCol="0" anchor="ctr"/>
          <a:lstStyle/>
          <a:p>
            <a:pPr indent="0" marL="0">
              <a:buNone/>
            </a:pPr>
            <a:r>
              <a:rPr lang="en-US" sz="1200" spc="140" kern="0" dirty="0">
                <a:solidFill>
                  <a:srgbClr val="7A5D4E"/>
                </a:solidFill>
                <a:latin typeface="Arial" pitchFamily="34" charset="0"/>
                <a:ea typeface="Arial" pitchFamily="34" charset="-122"/>
                <a:cs typeface="Arial" pitchFamily="34" charset="-120"/>
              </a:rPr>
              <a:t>STRONGEST RESIDUAL RISK</a:t>
            </a:r>
            <a:endParaRPr lang="en-US" sz="1200" dirty="0"/>
          </a:p>
        </p:txBody>
      </p:sp>
      <p:sp>
        <p:nvSpPr>
          <p:cNvPr id="22" name="Text 19"/>
          <p:cNvSpPr/>
          <p:nvPr/>
        </p:nvSpPr>
        <p:spPr>
          <a:xfrm>
            <a:off x="10716768" y="2670048"/>
            <a:ext cx="6400800" cy="777240"/>
          </a:xfrm>
          <a:prstGeom prst="rect">
            <a:avLst/>
          </a:prstGeom>
          <a:noFill/>
          <a:ln/>
        </p:spPr>
        <p:txBody>
          <a:bodyPr wrap="square" lIns="0" tIns="0" rIns="0" bIns="0" rtlCol="0" anchor="ctr"/>
          <a:lstStyle/>
          <a:p>
            <a:pPr indent="0" marL="0">
              <a:buNone/>
            </a:pPr>
            <a:r>
              <a:rPr lang="en-US" sz="1800" b="1" dirty="0">
                <a:solidFill>
                  <a:srgbClr val="F2E3D5"/>
                </a:solidFill>
                <a:latin typeface="Arial" pitchFamily="34" charset="0"/>
                <a:ea typeface="Arial" pitchFamily="34" charset="-122"/>
                <a:cs typeface="Arial" pitchFamily="34" charset="-120"/>
              </a:rPr>
              <a:t>False assurance on derived / multi-hop claims.</a:t>
            </a:r>
            <a:endParaRPr lang="en-US" sz="1800" dirty="0"/>
          </a:p>
        </p:txBody>
      </p:sp>
      <p:sp>
        <p:nvSpPr>
          <p:cNvPr id="23" name="Text 20"/>
          <p:cNvSpPr/>
          <p:nvPr/>
        </p:nvSpPr>
        <p:spPr>
          <a:xfrm>
            <a:off x="10716768" y="3547872"/>
            <a:ext cx="6400800" cy="141732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Derived → recompute, or UNKNOWN. UNKNOWN never collapses into SUPPORTED.</a:t>
            </a:r>
            <a:endParaRPr lang="en-US" sz="1600" dirty="0"/>
          </a:p>
        </p:txBody>
      </p:sp>
      <p:sp>
        <p:nvSpPr>
          <p:cNvPr id="24" name="Shape 21"/>
          <p:cNvSpPr/>
          <p:nvPr/>
        </p:nvSpPr>
        <p:spPr>
          <a:xfrm>
            <a:off x="10442448" y="5641848"/>
            <a:ext cx="6894576" cy="3520440"/>
          </a:xfrm>
          <a:prstGeom prst="rect">
            <a:avLst/>
          </a:prstGeom>
          <a:solidFill>
            <a:srgbClr val="1A0D0A"/>
          </a:solidFill>
          <a:ln w="8636">
            <a:solidFill>
              <a:srgbClr val="3A1E16"/>
            </a:solidFill>
            <a:prstDash val="solid"/>
          </a:ln>
        </p:spPr>
      </p:sp>
      <p:sp>
        <p:nvSpPr>
          <p:cNvPr id="25" name="Text 22"/>
          <p:cNvSpPr/>
          <p:nvPr/>
        </p:nvSpPr>
        <p:spPr>
          <a:xfrm>
            <a:off x="10716768" y="5824728"/>
            <a:ext cx="6400800" cy="292608"/>
          </a:xfrm>
          <a:prstGeom prst="rect">
            <a:avLst/>
          </a:prstGeom>
          <a:noFill/>
          <a:ln/>
        </p:spPr>
        <p:txBody>
          <a:bodyPr wrap="square" lIns="0" tIns="0" rIns="0" bIns="0" rtlCol="0" anchor="ctr"/>
          <a:lstStyle/>
          <a:p>
            <a:pPr indent="0" marL="0">
              <a:buNone/>
            </a:pPr>
            <a:r>
              <a:rPr lang="en-US" sz="1200" spc="120" kern="0" dirty="0">
                <a:solidFill>
                  <a:srgbClr val="D9482A"/>
                </a:solidFill>
                <a:latin typeface="Arial" pitchFamily="34" charset="0"/>
                <a:ea typeface="Arial" pitchFamily="34" charset="-122"/>
                <a:cs typeface="Arial" pitchFamily="34" charset="-120"/>
              </a:rPr>
              <a:t>BIAS  ·  KEPT, IN MEASUREMENT TERMS</a:t>
            </a:r>
            <a:endParaRPr lang="en-US" sz="1200" dirty="0"/>
          </a:p>
        </p:txBody>
      </p:sp>
      <p:sp>
        <p:nvSpPr>
          <p:cNvPr id="26" name="Text 23"/>
          <p:cNvSpPr/>
          <p:nvPr/>
        </p:nvSpPr>
        <p:spPr>
          <a:xfrm>
            <a:off x="10716768" y="6217920"/>
            <a:ext cx="6400800" cy="1051560"/>
          </a:xfrm>
          <a:prstGeom prst="rect">
            <a:avLst/>
          </a:prstGeom>
          <a:noFill/>
          <a:ln/>
        </p:spPr>
        <p:txBody>
          <a:bodyPr wrap="square" lIns="0" tIns="0" rIns="0" bIns="0" rtlCol="0" anchor="ctr"/>
          <a:lstStyle/>
          <a:p>
            <a:pPr indent="0" marL="0">
              <a:buNone/>
            </a:pPr>
            <a:r>
              <a:rPr lang="en-US" sz="1800" b="1" dirty="0">
                <a:solidFill>
                  <a:srgbClr val="F2E3D5"/>
                </a:solidFill>
                <a:latin typeface="Arial" pitchFamily="34" charset="0"/>
                <a:ea typeface="Arial" pitchFamily="34" charset="-122"/>
                <a:cs typeface="Arial" pitchFamily="34" charset="-120"/>
              </a:rPr>
              <a:t>Counterfactual flip rate with a confidence interval, route-level, async.</a:t>
            </a:r>
            <a:endParaRPr lang="en-US" sz="1800" dirty="0"/>
          </a:p>
        </p:txBody>
      </p:sp>
      <p:sp>
        <p:nvSpPr>
          <p:cNvPr id="27" name="Text 24"/>
          <p:cNvSpPr/>
          <p:nvPr/>
        </p:nvSpPr>
        <p:spPr>
          <a:xfrm>
            <a:off x="10716768" y="7360920"/>
            <a:ext cx="6400800" cy="132588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Not a per-response verdict. Specified, not coded in this slice. If asked: that sentence is the whole answer.</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0504"/>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11 // ASK</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1051560"/>
            <a:ext cx="73152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12 · ASK</a:t>
            </a:r>
            <a:endParaRPr lang="en-US" sz="1500" dirty="0"/>
          </a:p>
        </p:txBody>
      </p:sp>
      <p:sp>
        <p:nvSpPr>
          <p:cNvPr id="12" name="Text 9"/>
          <p:cNvSpPr/>
          <p:nvPr/>
        </p:nvSpPr>
        <p:spPr>
          <a:xfrm>
            <a:off x="950976" y="1417320"/>
            <a:ext cx="16367760" cy="365760"/>
          </a:xfrm>
          <a:prstGeom prst="rect">
            <a:avLst/>
          </a:prstGeom>
          <a:noFill/>
          <a:ln/>
        </p:spPr>
        <p:txBody>
          <a:bodyPr wrap="square" lIns="0" tIns="0" rIns="0" bIns="0" rtlCol="0" anchor="ctr"/>
          <a:lstStyle/>
          <a:p>
            <a:pPr indent="0" marL="0">
              <a:buNone/>
            </a:pPr>
            <a:r>
              <a:rPr lang="en-US" sz="1600" spc="300" kern="0" dirty="0">
                <a:solidFill>
                  <a:srgbClr val="7A5D4E"/>
                </a:solidFill>
                <a:latin typeface="Arial" pitchFamily="34" charset="0"/>
                <a:ea typeface="Arial" pitchFamily="34" charset="-122"/>
                <a:cs typeface="Arial" pitchFamily="34" charset="-120"/>
              </a:rPr>
              <a:t>CONTROLPLANE.AI</a:t>
            </a:r>
            <a:endParaRPr lang="en-US" sz="1600" dirty="0"/>
          </a:p>
        </p:txBody>
      </p:sp>
      <p:sp>
        <p:nvSpPr>
          <p:cNvPr id="13" name="Text 10"/>
          <p:cNvSpPr/>
          <p:nvPr/>
        </p:nvSpPr>
        <p:spPr>
          <a:xfrm>
            <a:off x="950976" y="1810512"/>
            <a:ext cx="16367760" cy="329184"/>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Admission-control layer  ·  STEP → SPAN → CLAIM → ACTION</a:t>
            </a:r>
            <a:endParaRPr lang="en-US" sz="1600" dirty="0"/>
          </a:p>
        </p:txBody>
      </p:sp>
      <p:sp>
        <p:nvSpPr>
          <p:cNvPr id="14" name="Text 11"/>
          <p:cNvSpPr/>
          <p:nvPr/>
        </p:nvSpPr>
        <p:spPr>
          <a:xfrm>
            <a:off x="950976" y="2286000"/>
            <a:ext cx="16367760" cy="1691640"/>
          </a:xfrm>
          <a:prstGeom prst="rect">
            <a:avLst/>
          </a:prstGeom>
          <a:noFill/>
          <a:ln/>
        </p:spPr>
        <p:txBody>
          <a:bodyPr wrap="square" lIns="0" tIns="0" rIns="0" bIns="0" rtlCol="0" anchor="t"/>
          <a:lstStyle/>
          <a:p>
            <a:pPr algn="l" indent="0" marL="0">
              <a:buNone/>
            </a:pPr>
            <a:r>
              <a:rPr lang="en-US" sz="3600" b="1" spc="-75" kern="0" dirty="0">
                <a:solidFill>
                  <a:srgbClr val="F2E3D5"/>
                </a:solidFill>
                <a:latin typeface="Arial" pitchFamily="34" charset="0"/>
                <a:ea typeface="Arial" pitchFamily="34" charset="-122"/>
                <a:cs typeface="Arial" pitchFamily="34" charset="-120"/>
              </a:rPr>
              <a:t>THAT SYSTEM WAS NEVER ASKED</a:t>
            </a:r>
            <a:endParaRPr lang="en-US" sz="3600" dirty="0"/>
          </a:p>
          <a:p>
            <a:pPr algn="l" indent="0" marL="0">
              <a:buNone/>
            </a:pPr>
            <a:r>
              <a:rPr lang="en-US" sz="3600" b="1" spc="-75" kern="0" dirty="0">
                <a:solidFill>
                  <a:srgbClr val="F2E3D5"/>
                </a:solidFill>
                <a:latin typeface="Arial" pitchFamily="34" charset="0"/>
                <a:ea typeface="Arial" pitchFamily="34" charset="-122"/>
                <a:cs typeface="Arial" pitchFamily="34" charset="-120"/>
              </a:rPr>
              <a:t>TO PROVE ANYTHING.</a:t>
            </a:r>
            <a:endParaRPr lang="en-US" sz="3600" dirty="0"/>
          </a:p>
        </p:txBody>
      </p:sp>
      <p:sp>
        <p:nvSpPr>
          <p:cNvPr id="15" name="Text 12"/>
          <p:cNvSpPr/>
          <p:nvPr/>
        </p:nvSpPr>
        <p:spPr>
          <a:xfrm>
            <a:off x="950976" y="4041648"/>
            <a:ext cx="16367760" cy="502920"/>
          </a:xfrm>
          <a:prstGeom prst="rect">
            <a:avLst/>
          </a:prstGeom>
          <a:noFill/>
          <a:ln/>
        </p:spPr>
        <p:txBody>
          <a:bodyPr wrap="square" lIns="0" tIns="0" rIns="0" bIns="0" rtlCol="0" anchor="ctr"/>
          <a:lstStyle/>
          <a:p>
            <a:pPr indent="0" marL="0">
              <a:buNone/>
            </a:pPr>
            <a:r>
              <a:rPr lang="en-US" sz="2600" dirty="0">
                <a:solidFill>
                  <a:srgbClr val="D9482A"/>
                </a:solidFill>
                <a:latin typeface="Arial" pitchFamily="34" charset="0"/>
                <a:ea typeface="Arial" pitchFamily="34" charset="-122"/>
                <a:cs typeface="Arial" pitchFamily="34" charset="-120"/>
              </a:rPr>
              <a:t>Now nothing acts until it can prove it should.</a:t>
            </a:r>
            <a:endParaRPr lang="en-US" sz="2600" dirty="0"/>
          </a:p>
        </p:txBody>
      </p:sp>
      <p:sp>
        <p:nvSpPr>
          <p:cNvPr id="16" name="Shape 13"/>
          <p:cNvSpPr/>
          <p:nvPr/>
        </p:nvSpPr>
        <p:spPr>
          <a:xfrm>
            <a:off x="950976" y="4754880"/>
            <a:ext cx="16386048" cy="2331720"/>
          </a:xfrm>
          <a:prstGeom prst="rect">
            <a:avLst/>
          </a:prstGeom>
          <a:solidFill>
            <a:srgbClr val="1A0D0A"/>
          </a:solidFill>
          <a:ln w="12700">
            <a:solidFill>
              <a:srgbClr val="D9482A"/>
            </a:solidFill>
            <a:prstDash val="solid"/>
          </a:ln>
        </p:spPr>
      </p:sp>
      <p:sp>
        <p:nvSpPr>
          <p:cNvPr id="17" name="Text 14"/>
          <p:cNvSpPr/>
          <p:nvPr/>
        </p:nvSpPr>
        <p:spPr>
          <a:xfrm>
            <a:off x="1280160" y="4937760"/>
            <a:ext cx="15727680" cy="292608"/>
          </a:xfrm>
          <a:prstGeom prst="rect">
            <a:avLst/>
          </a:prstGeom>
          <a:noFill/>
          <a:ln/>
        </p:spPr>
        <p:txBody>
          <a:bodyPr wrap="square" lIns="0" tIns="0" rIns="0" bIns="0" rtlCol="0" anchor="ctr"/>
          <a:lstStyle/>
          <a:p>
            <a:pPr indent="0" marL="0">
              <a:buNone/>
            </a:pPr>
            <a:r>
              <a:rPr lang="en-US" sz="1400" spc="180" kern="0" dirty="0">
                <a:solidFill>
                  <a:srgbClr val="D9482A"/>
                </a:solidFill>
                <a:latin typeface="Arial" pitchFamily="34" charset="0"/>
                <a:ea typeface="Arial" pitchFamily="34" charset="-122"/>
                <a:cs typeface="Arial" pitchFamily="34" charset="-120"/>
              </a:rPr>
              <a:t>ASK  ·  ROUND 2 ADVANCE</a:t>
            </a:r>
            <a:endParaRPr lang="en-US" sz="1400" dirty="0"/>
          </a:p>
        </p:txBody>
      </p:sp>
      <p:sp>
        <p:nvSpPr>
          <p:cNvPr id="18" name="Text 15"/>
          <p:cNvSpPr/>
          <p:nvPr/>
        </p:nvSpPr>
        <p:spPr>
          <a:xfrm>
            <a:off x="1280160" y="5303520"/>
            <a:ext cx="15727680" cy="438912"/>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Phase 0 shadow on one support route and one acting route.</a:t>
            </a:r>
            <a:endParaRPr lang="en-US" sz="2200" dirty="0"/>
          </a:p>
        </p:txBody>
      </p:sp>
      <p:sp>
        <p:nvSpPr>
          <p:cNvPr id="19" name="Text 16"/>
          <p:cNvSpPr/>
          <p:nvPr/>
        </p:nvSpPr>
        <p:spPr>
          <a:xfrm>
            <a:off x="1280160" y="5833872"/>
            <a:ext cx="15727680" cy="91440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The counterfactual, not a global switch. Would have held N, of which M were true positives — not a block. Enforcement is earned per route.</a:t>
            </a:r>
            <a:endParaRPr lang="en-US" sz="1600" dirty="0"/>
          </a:p>
        </p:txBody>
      </p:sp>
      <p:sp>
        <p:nvSpPr>
          <p:cNvPr id="20" name="Text 17"/>
          <p:cNvSpPr/>
          <p:nvPr/>
        </p:nvSpPr>
        <p:spPr>
          <a:xfrm>
            <a:off x="950976" y="7315200"/>
            <a:ext cx="16386048" cy="384048"/>
          </a:xfrm>
          <a:prstGeom prst="rect">
            <a:avLst/>
          </a:prstGeom>
          <a:noFill/>
          <a:ln/>
        </p:spPr>
        <p:txBody>
          <a:bodyPr wrap="square" lIns="0" tIns="0" rIns="0" bIns="0" rtlCol="0" anchor="ctr"/>
          <a:lstStyle/>
          <a:p>
            <a:pPr indent="0" marL="0">
              <a:buNone/>
            </a:pPr>
            <a:r>
              <a:rPr lang="en-US" sz="1800" dirty="0">
                <a:solidFill>
                  <a:srgbClr val="F2E3D5"/>
                </a:solidFill>
                <a:latin typeface="Arial" pitchFamily="34" charset="0"/>
                <a:ea typeface="Arial" pitchFamily="34" charset="-122"/>
                <a:cs typeface="Arial" pitchFamily="34" charset="-120"/>
              </a:rPr>
              <a:t>That refund was ₹1,84,000 on a clause that does not exist.</a:t>
            </a:r>
            <a:endParaRPr lang="en-US" sz="1800" dirty="0"/>
          </a:p>
        </p:txBody>
      </p:sp>
      <p:sp>
        <p:nvSpPr>
          <p:cNvPr id="21" name="Text 18"/>
          <p:cNvSpPr/>
          <p:nvPr/>
        </p:nvSpPr>
        <p:spPr>
          <a:xfrm>
            <a:off x="950976" y="7818120"/>
            <a:ext cx="16386048" cy="292608"/>
          </a:xfrm>
          <a:prstGeom prst="rect">
            <a:avLst/>
          </a:prstGeom>
          <a:noFill/>
          <a:ln/>
        </p:spPr>
        <p:txBody>
          <a:bodyPr wrap="square" lIns="0" tIns="0" rIns="0" bIns="0" rtlCol="0" anchor="ctr"/>
          <a:lstStyle/>
          <a:p>
            <a:pPr indent="0" marL="0">
              <a:buNone/>
            </a:pPr>
            <a:r>
              <a:rPr lang="en-US" sz="1400" spc="120" kern="0" dirty="0">
                <a:solidFill>
                  <a:srgbClr val="7A5D4E"/>
                </a:solidFill>
                <a:latin typeface="Arial" pitchFamily="34" charset="0"/>
                <a:ea typeface="Arial" pitchFamily="34" charset="-122"/>
                <a:cs typeface="Arial" pitchFamily="34" charset="-120"/>
              </a:rPr>
              <a:t>CHODA SRUJAN SAI  ·  DHRITHIKA  ·  IIT GANDHINAGAR  ·  TEAM CONTROLPLANE  ·  PS #1</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IIT Gandhinagar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ControlPlane.ai — Round 2 Pitch</dc:title>
  <dc:subject>Admission-control layer for AI that acts · Accenture Innovation Challenge 2026 · PS #1</dc:subject>
  <dc:creator>ControlPlane · Choda Srujan Sai · Dhrithika</dc:creator>
  <cp:lastModifiedBy>ControlPlane · Choda Srujan Sai · Dhrithika</cp:lastModifiedBy>
  <cp:revision>1</cp:revision>
  <dcterms:created xsi:type="dcterms:W3CDTF">2026-08-27T15:27:08Z</dcterms:created>
  <dcterms:modified xsi:type="dcterms:W3CDTF">2026-08-27T15:27:08Z</dcterms:modified>
</cp:coreProperties>
</file>