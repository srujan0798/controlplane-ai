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ControlPlane is an admission-control layer for AI. Enterprises moved from AI that answers to AI that acts. We authorise the action. We do not score the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refund agent emitted that sentence. Confidence point-nine-four. Money moved Tuesday, found Friday. Clause 7.2 does not exist. The company wrongly paid one lakh eighty-four thousand rupees. The system didn't fail. It was never asked to prove anything. Oversight is still built for the answering era: score the text, chart the failure, review the log next week. The cost of a wrong output changed category. It used to be a bad paragraph. It is now an executed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oversight tool inspects what the model said. The only thing that can prove it is the evidence assembled before the model ran — and that record is thrown away the moment generation starts. Everyone watches the exit. Nobody records the entrance. ControlPlane keeps the receipts. That turns hallucination checking from a judgment call into a set-membership test, and turns oversight from scoring text into authorising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AI response is not text to be scored. It is a set of claims requesting permission to act. We capture every span at context assembly — source, ACL, hash, offsets — then freeze. The model cannot invent a span after the fact, and it has no channel to declare a binding. Performance reads the graph forward. Cost reads it backward. Responsibility reads the labels. Everywhere else that's three products. Here it's three questions on one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Provenance Recorder captured five spans before the model ran. Vendor agreement, order lookup, an HR note, FAQ, CRM. Clause 7.2 is in none of them, because clause 7.2 does not exist. The claim stays UNSUPPORTED. Not contradicted — there is nothing to contradict. Not low confidence. Unproven. The claim carries the burden of proof. Nothing passes because nobody objected.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those five spans did bind. The HR internal note. The claim is true — it is in the evidence. The caller is a customer-support agent with vendor-public clearance. The span is hr-confidential. Deterministic entitlement check: the ACL is not a subset of the caller's clearance. On the customer-visible text path — R1 — the matrix says Edit. Strip the unentitled span. Surgical, never generative. This is the incident output-only checkers cannot see: they never carry who is asking.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response. Second pending action: issue the refund. R3, irreversible, one lakh eighty-four thousand rupees. The driving claim is still clause 7.2, still unproven, still categorical. The matrix says Escalate. Held and escalated with the evidence packet — the claim, the empty span list, the verdict. Not an alert. The hash chain verifies. The customer-visible line is edited. The payout is held. Both are correct at the same time. Proof scales with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span. Same claim. Same hash. Only the caller changed. analyst_01 is not entitled to the HR-comp span — the matrix says Edit. hr_partner_01 is — Pass. Zero LLM in this path. The claim did not change. The evidence did not change. The access right did. This is the incident output-only checkers cannot see, and it is the argument against RAG groundedness made concrete: groundedness sees the retrieval and says supported; it never carries who is asking, so it cannot flip on identity.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Guardrails match banned surface forms. Clause 7.2 is a well-formed sentence, so they admit it. Groundedness checkers average and cannot see who is asking, so they miss both the missing clause and the HR span. Confidence fails by definition: the failure mode is confidently wrong. The judge asks, does this look right? We ask, which span proves it? You cannot block, edit or escalate on eighty-seven.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hedged warranty guess on a support reply is not the same object as an ungrounded clause authorising a payment. Treat them as one score and you either over-flag the first — the plane gets switched off — or under-flag the second. Same plane. Support streams with an annotation. The copilot's partner email is edited. The refund is held and escalated. Proof still scales with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tens of thousands of interactions a week (directional), uniform deep checking is how planes get disabled. Budget follows blast radius. We will not put a savings percentage on this slide — that number is knowable only on your traffic. What is knowable now: a missing clause cannot authorise a payout; an HR span cannot ride along to the wrong caller; dead compute is a walk backward on the same graph, not an estimate. Shadow first. Enforce R3 next. We hook context assembly — that is real integration, and it is why the design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not claim to eliminate hallucinations. The honest claim has a shape: on this route we catch a measured percent of ungrounded claims at forty milliseconds p50 — and here is the measured percent we don't. Every team will claim detection. Publishing our own false-negative rate is the move none of them will make. The blanks stay blank until we measure. Derived claims are the residual risk we will say out loud. UNKNOWN never becomes SUPPORTED. That one rule is the boundary between a control plane and false assurance.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honesty slide. Every number here is measured by make eval and make bench on a 168-case self-authored corpus — no production traffic. Ungrounded FNR is 1.1% with a Wilson interval of 0.2% to 5.8%. Passable-action FPR is 0.0% with a 15.5% upper bound. The hard-negative hold rate is 64% — we over-flag, and we name that as the next milestone rather than hide it. Gate latency over 10000 runs is p50 0.43ms, p95 0.48ms, p99 0.60ms. Published miss: struct-miss-000. Then the refusals, about us and never about competitors: we do not claim eliminated hallucinations, zero integration, zero added latency, one accuracy number, or production-scale proof. In the demo the refund was held and escalated with the evidence packet.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Two-person team. Srujan owns architecture, mechanism, the demo build, and the latency and eval numbers. Dhrithika owns narrative, the pitch, and hostile-Q&amp;A defense. Both can draw the matrix from memory and answer B1 and B5 without hesitating. The repo is the proof: 36 modules, 50+ tests, frozen matrix, deterministic rebuild of every portal artifact from measured 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asking to take this into shadow on one support route and one acting route. Enforcement is earned per route. The first artefact you get is the counterfactual — would have held N, of which M were true positives — not a block. That system was never asked to prove anything. Now nothing acts until it can prove it should.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12182A">
              <a:alpha val="30000"/>
            </a:srgbClr>
          </a:solidFill>
          <a:ln/>
        </p:spPr>
      </p:sp>
      <p:sp>
        <p:nvSpPr>
          <p:cNvPr id="3" name="Text 1"/>
          <p:cNvSpPr/>
          <p:nvPr/>
        </p:nvSpPr>
        <p:spPr>
          <a:xfrm>
            <a:off x="384048" y="402336"/>
            <a:ext cx="210312" cy="228600"/>
          </a:xfrm>
          <a:prstGeom prst="rect">
            <a:avLst/>
          </a:prstGeom>
          <a:noFill/>
          <a:ln/>
        </p:spPr>
        <p:txBody>
          <a:bodyPr wrap="square" lIns="0" tIns="0" rIns="0" bIns="0" rtlCol="0" anchor="ctr"/>
          <a:lstStyle/>
          <a:p>
            <a:r>
              <a:rPr lang="en-US" sz="1200" dirty="0">
                <a:solidFill>
                  <a:srgbClr val="C9A227"/>
                </a:solidFill>
                <a:latin typeface="Segoe UI" pitchFamily="34" charset="0"/>
                <a:ea typeface="Segoe UI" pitchFamily="34" charset="-122"/>
                <a:cs typeface="Segoe UI" pitchFamily="34" charset="-120"/>
              </a:rPr>
              <a:t>◢</a:t>
            </a:r>
            <a:endParaRPr lang="en-US" sz="1200" dirty="0"/>
          </a:p>
        </p:txBody>
      </p:sp>
      <p:sp>
        <p:nvSpPr>
          <p:cNvPr id="4" name="Text 2"/>
          <p:cNvSpPr/>
          <p:nvPr/>
        </p:nvSpPr>
        <p:spPr>
          <a:xfrm>
            <a:off x="621792" y="384048"/>
            <a:ext cx="3840480" cy="265176"/>
          </a:xfrm>
          <a:prstGeom prst="rect">
            <a:avLst/>
          </a:prstGeom>
          <a:noFill/>
          <a:ln/>
        </p:spPr>
        <p:txBody>
          <a:bodyPr wrap="square" lIns="0" tIns="0" rIns="0" bIns="0" rtlCol="0" anchor="ctr"/>
          <a:lstStyle/>
          <a:p>
            <a:r>
              <a:rPr lang="en-US" sz="1500" spc="150" kern="0" dirty="0">
                <a:solidFill>
                  <a:srgbClr val="F5F0EB"/>
                </a:solidFill>
                <a:latin typeface="Segoe UI" pitchFamily="34" charset="0"/>
                <a:ea typeface="Segoe UI" pitchFamily="34" charset="-122"/>
                <a:cs typeface="Segoe UI" pitchFamily="34" charset="-120"/>
              </a:rPr>
              <a:t>CONTROLPLANE//SYS</a:t>
            </a:r>
            <a:endParaRPr lang="en-US" sz="1500" dirty="0"/>
          </a:p>
        </p:txBody>
      </p:sp>
      <p:sp>
        <p:nvSpPr>
          <p:cNvPr id="5" name="Text 3"/>
          <p:cNvSpPr/>
          <p:nvPr/>
        </p:nvSpPr>
        <p:spPr>
          <a:xfrm>
            <a:off x="11521440" y="384048"/>
            <a:ext cx="6217920" cy="265176"/>
          </a:xfrm>
          <a:prstGeom prst="rect">
            <a:avLst/>
          </a:prstGeom>
          <a:noFill/>
          <a:ln/>
        </p:spPr>
        <p:txBody>
          <a:bodyPr wrap="square" lIns="0" tIns="0" rIns="0" bIns="0" rtlCol="0" anchor="ctr"/>
          <a:lstStyle/>
          <a:p>
            <a:pPr algn="r"/>
            <a:r>
              <a:rPr lang="en-US" sz="1500" spc="150" kern="0" dirty="0">
                <a:solidFill>
                  <a:srgbClr val="8892B0"/>
                </a:solidFill>
                <a:latin typeface="Segoe UI" pitchFamily="34" charset="0"/>
                <a:ea typeface="Segoe UI" pitchFamily="34" charset="-122"/>
                <a:cs typeface="Segoe UI" pitchFamily="34" charset="-120"/>
              </a:rPr>
              <a:t>00 // TITLE</a:t>
            </a:r>
            <a:endParaRPr lang="en-US" sz="1500" dirty="0"/>
          </a:p>
        </p:txBody>
      </p:sp>
      <p:sp>
        <p:nvSpPr>
          <p:cNvPr id="6" name="Text 4"/>
          <p:cNvSpPr/>
          <p:nvPr/>
        </p:nvSpPr>
        <p:spPr>
          <a:xfrm>
            <a:off x="17775936" y="402336"/>
            <a:ext cx="210312" cy="228600"/>
          </a:xfrm>
          <a:prstGeom prst="rect">
            <a:avLst/>
          </a:prstGeom>
          <a:noFill/>
          <a:ln/>
        </p:spPr>
        <p:txBody>
          <a:bodyPr wrap="square" lIns="0" tIns="0" rIns="0" bIns="0" rtlCol="0" anchor="ctr"/>
          <a:lstStyle/>
          <a:p>
            <a:r>
              <a:rPr lang="en-US" sz="1200" dirty="0">
                <a:solidFill>
                  <a:srgbClr val="C9A227"/>
                </a:solidFill>
                <a:latin typeface="Segoe UI" pitchFamily="34" charset="0"/>
                <a:ea typeface="Segoe UI" pitchFamily="34" charset="-122"/>
                <a:cs typeface="Segoe UI" pitchFamily="34" charset="-120"/>
              </a:rPr>
              <a:t>◣</a:t>
            </a:r>
            <a:endParaRPr lang="en-US" sz="1200" dirty="0"/>
          </a:p>
        </p:txBody>
      </p:sp>
      <p:sp>
        <p:nvSpPr>
          <p:cNvPr id="7" name="Shape 5"/>
          <p:cNvSpPr/>
          <p:nvPr/>
        </p:nvSpPr>
        <p:spPr>
          <a:xfrm>
            <a:off x="384048" y="9747504"/>
            <a:ext cx="91440" cy="91440"/>
          </a:xfrm>
          <a:prstGeom prst="rect">
            <a:avLst/>
          </a:prstGeom>
          <a:solidFill>
            <a:srgbClr val="C9A227"/>
          </a:solidFill>
          <a:ln/>
        </p:spPr>
      </p:sp>
      <p:sp>
        <p:nvSpPr>
          <p:cNvPr id="8" name="Text 6"/>
          <p:cNvSpPr/>
          <p:nvPr/>
        </p:nvSpPr>
        <p:spPr>
          <a:xfrm>
            <a:off x="566928" y="9683496"/>
            <a:ext cx="2194560" cy="265176"/>
          </a:xfrm>
          <a:prstGeom prst="rect">
            <a:avLst/>
          </a:prstGeom>
          <a:noFill/>
          <a:ln/>
        </p:spPr>
        <p:txBody>
          <a:bodyPr wrap="square" lIns="0" tIns="0" rIns="0" bIns="0" rtlCol="0" anchor="ctr"/>
          <a:lstStyle/>
          <a:p>
            <a:r>
              <a:rPr lang="en-US" sz="1500" dirty="0">
                <a:solidFill>
                  <a:srgbClr val="8892B0"/>
                </a:solidFill>
                <a:latin typeface="Segoe UI" pitchFamily="34" charset="0"/>
                <a:ea typeface="Segoe UI" pitchFamily="34" charset="-122"/>
                <a:cs typeface="Segoe UI" pitchFamily="34" charset="-120"/>
              </a:rPr>
              <a:t>ADMIT//PROVE</a:t>
            </a:r>
            <a:endParaRPr lang="en-US" sz="1500" dirty="0"/>
          </a:p>
        </p:txBody>
      </p:sp>
      <p:sp>
        <p:nvSpPr>
          <p:cNvPr id="9" name="Text 7"/>
          <p:cNvSpPr/>
          <p:nvPr/>
        </p:nvSpPr>
        <p:spPr>
          <a:xfrm>
            <a:off x="13350240" y="9683496"/>
            <a:ext cx="4480560" cy="265176"/>
          </a:xfrm>
          <a:prstGeom prst="rect">
            <a:avLst/>
          </a:prstGeom>
          <a:noFill/>
          <a:ln/>
        </p:spPr>
        <p:txBody>
          <a:bodyPr wrap="square" lIns="0" tIns="0" rIns="0" bIns="0" rtlCol="0" anchor="ctr"/>
          <a:lstStyle/>
          <a:p>
            <a:pPr algn="r"/>
            <a:r>
              <a:rPr lang="en-US" sz="1500" spc="150" kern="0" dirty="0">
                <a:solidFill>
                  <a:srgbClr val="8892B0"/>
                </a:solidFill>
                <a:latin typeface="Segoe UI" pitchFamily="34" charset="0"/>
                <a:ea typeface="Segoe UI" pitchFamily="34" charset="-122"/>
                <a:cs typeface="Segoe UI" pitchFamily="34" charset="-120"/>
              </a:rPr>
              <a:t>AIC.2026 · PS #1 · IITGN</a:t>
            </a:r>
            <a:endParaRPr lang="en-US" sz="1500" dirty="0"/>
          </a:p>
        </p:txBody>
      </p:sp>
      <p:sp>
        <p:nvSpPr>
          <p:cNvPr id="11" name="Text 8"/>
          <p:cNvSpPr/>
          <p:nvPr/>
        </p:nvSpPr>
        <p:spPr>
          <a:xfrm>
            <a:off x="950976" y="1691640"/>
            <a:ext cx="8778240" cy="292608"/>
          </a:xfrm>
          <a:prstGeom prst="rect">
            <a:avLst/>
          </a:prstGeom>
          <a:noFill/>
          <a:ln/>
        </p:spPr>
        <p:txBody>
          <a:bodyPr wrap="square" lIns="0" tIns="0" rIns="0" bIns="0" rtlCol="0" anchor="ctr"/>
          <a:lstStyle/>
          <a:p>
            <a:r>
              <a:rPr lang="en-US" sz="1400" spc="220" kern="0" dirty="0">
                <a:solidFill>
                  <a:srgbClr val="C9A227"/>
                </a:solidFill>
                <a:latin typeface="Segoe UI" pitchFamily="34" charset="0"/>
                <a:ea typeface="Segoe UI" pitchFamily="34" charset="-122"/>
                <a:cs typeface="Segoe UI" pitchFamily="34" charset="-120"/>
              </a:rPr>
              <a:t>ACCENTURE INNOVATION CHALLENGE 2026  ·  ROUND 2  ·  TRACK 1</a:t>
            </a:r>
            <a:endParaRPr lang="en-US" sz="1400" dirty="0"/>
          </a:p>
        </p:txBody>
      </p:sp>
      <p:sp>
        <p:nvSpPr>
          <p:cNvPr id="12" name="Text 9"/>
          <p:cNvSpPr/>
          <p:nvPr/>
        </p:nvSpPr>
        <p:spPr>
          <a:xfrm>
            <a:off x="950976" y="2084832"/>
            <a:ext cx="8869680" cy="1051560"/>
          </a:xfrm>
          <a:prstGeom prst="rect">
            <a:avLst/>
          </a:prstGeom>
          <a:noFill/>
          <a:ln/>
        </p:spPr>
        <p:txBody>
          <a:bodyPr wrap="square" lIns="0" tIns="0" rIns="0" bIns="0" rtlCol="0" anchor="ctr"/>
          <a:lstStyle/>
          <a:p>
            <a:r>
              <a:rPr lang="en-US" sz="7200" b="1" spc="-200" kern="0" dirty="0">
                <a:solidFill>
                  <a:srgbClr val="F5F0EB"/>
                </a:solidFill>
                <a:latin typeface="Segoe UI" pitchFamily="34" charset="0"/>
                <a:ea typeface="Segoe UI" pitchFamily="34" charset="-122"/>
                <a:cs typeface="Segoe UI" pitchFamily="34" charset="-120"/>
              </a:rPr>
              <a:t>CONTROL</a:t>
            </a:r>
            <a:r>
              <a:rPr lang="en-US" sz="7200" b="1" spc="-200" kern="0" dirty="0">
                <a:solidFill>
                  <a:srgbClr val="C9A227"/>
                </a:solidFill>
                <a:latin typeface="Segoe UI" pitchFamily="34" charset="0"/>
                <a:ea typeface="Segoe UI" pitchFamily="34" charset="-122"/>
                <a:cs typeface="Segoe UI" pitchFamily="34" charset="-120"/>
              </a:rPr>
              <a:t>PLANE</a:t>
            </a:r>
            <a:r>
              <a:rPr lang="en-US" sz="7200" b="1" spc="-200" kern="0" dirty="0">
                <a:solidFill>
                  <a:srgbClr val="F5F0EB"/>
                </a:solidFill>
                <a:latin typeface="Segoe UI" pitchFamily="34" charset="0"/>
                <a:ea typeface="Segoe UI" pitchFamily="34" charset="-122"/>
                <a:cs typeface="Segoe UI" pitchFamily="34" charset="-120"/>
              </a:rPr>
              <a:t>.AI</a:t>
            </a:r>
            <a:endParaRPr lang="en-US" sz="7200" dirty="0"/>
          </a:p>
        </p:txBody>
      </p:sp>
      <p:sp>
        <p:nvSpPr>
          <p:cNvPr id="13" name="Text 10"/>
          <p:cNvSpPr/>
          <p:nvPr/>
        </p:nvSpPr>
        <p:spPr>
          <a:xfrm>
            <a:off x="950976" y="3218688"/>
            <a:ext cx="8778240" cy="438912"/>
          </a:xfrm>
          <a:prstGeom prst="rect">
            <a:avLst/>
          </a:prstGeom>
          <a:noFill/>
          <a:ln/>
        </p:spPr>
        <p:txBody>
          <a:bodyPr wrap="square" lIns="0" tIns="0" rIns="0" bIns="0" rtlCol="0" anchor="ctr"/>
          <a:lstStyle/>
          <a:p>
            <a:r>
              <a:rPr lang="en-US" sz="2400" dirty="0">
                <a:solidFill>
                  <a:srgbClr val="D0C8B8"/>
                </a:solidFill>
                <a:latin typeface="Segoe UI" pitchFamily="34" charset="0"/>
                <a:ea typeface="Segoe UI" pitchFamily="34" charset="-122"/>
                <a:cs typeface="Segoe UI" pitchFamily="34" charset="-120"/>
              </a:rPr>
              <a:t>Admission-control layer for AI that acts</a:t>
            </a:r>
            <a:endParaRPr lang="en-US" sz="2400" dirty="0"/>
          </a:p>
        </p:txBody>
      </p:sp>
      <p:sp>
        <p:nvSpPr>
          <p:cNvPr id="14" name="Text 11"/>
          <p:cNvSpPr/>
          <p:nvPr/>
        </p:nvSpPr>
        <p:spPr>
          <a:xfrm>
            <a:off x="950976" y="3730752"/>
            <a:ext cx="8778240" cy="384048"/>
          </a:xfrm>
          <a:prstGeom prst="rect">
            <a:avLst/>
          </a:prstGeom>
          <a:noFill/>
          <a:ln/>
        </p:spPr>
        <p:txBody>
          <a:bodyPr wrap="square" lIns="0" tIns="0" rIns="0" bIns="0" rtlCol="0" anchor="ctr"/>
          <a:lstStyle/>
          <a:p>
            <a:r>
              <a:rPr lang="en-US" sz="1800" dirty="0">
                <a:solidFill>
                  <a:srgbClr val="8892B0"/>
                </a:solidFill>
                <a:latin typeface="Segoe UI" pitchFamily="34" charset="0"/>
                <a:ea typeface="Segoe UI" pitchFamily="34" charset="-122"/>
                <a:cs typeface="Segoe UI" pitchFamily="34" charset="-120"/>
              </a:rPr>
              <a:t>We authorise the action. We do not score the paragraph.</a:t>
            </a:r>
            <a:endParaRPr lang="en-US" sz="1800" dirty="0"/>
          </a:p>
        </p:txBody>
      </p:sp>
      <p:sp>
        <p:nvSpPr>
          <p:cNvPr id="15" name="Shape 12"/>
          <p:cNvSpPr/>
          <p:nvPr/>
        </p:nvSpPr>
        <p:spPr>
          <a:xfrm>
            <a:off x="950976" y="4370832"/>
            <a:ext cx="2331720" cy="384048"/>
          </a:xfrm>
          <a:prstGeom prst="rect">
            <a:avLst/>
          </a:prstGeom>
          <a:ln w="8636">
            <a:solidFill>
              <a:srgbClr val="C9A227"/>
            </a:solidFill>
            <a:prstDash val="solid"/>
          </a:ln>
        </p:spPr>
      </p:sp>
      <p:sp>
        <p:nvSpPr>
          <p:cNvPr id="16" name="Text 13"/>
          <p:cNvSpPr/>
          <p:nvPr/>
        </p:nvSpPr>
        <p:spPr>
          <a:xfrm>
            <a:off x="1078992" y="4425696"/>
            <a:ext cx="2112264" cy="292608"/>
          </a:xfrm>
          <a:prstGeom prst="rect">
            <a:avLst/>
          </a:prstGeom>
          <a:noFill/>
          <a:ln/>
        </p:spPr>
        <p:txBody>
          <a:bodyPr wrap="square" lIns="0" tIns="0" rIns="0" bIns="0" rtlCol="0" anchor="ctr"/>
          <a:lstStyle/>
          <a:p>
            <a:r>
              <a:rPr lang="en-US" sz="1400" spc="120" kern="0" dirty="0">
                <a:solidFill>
                  <a:srgbClr val="C9A227"/>
                </a:solidFill>
                <a:latin typeface="Segoe UI" pitchFamily="34" charset="0"/>
                <a:ea typeface="Segoe UI" pitchFamily="34" charset="-122"/>
                <a:cs typeface="Segoe UI" pitchFamily="34" charset="-120"/>
              </a:rPr>
              <a:t>◉  PS #1</a:t>
            </a:r>
            <a:endParaRPr lang="en-US" sz="1400" dirty="0"/>
          </a:p>
        </p:txBody>
      </p:sp>
      <p:sp>
        <p:nvSpPr>
          <p:cNvPr id="17" name="Shape 14"/>
          <p:cNvSpPr/>
          <p:nvPr/>
        </p:nvSpPr>
        <p:spPr>
          <a:xfrm>
            <a:off x="3429000" y="4370832"/>
            <a:ext cx="2880360" cy="384048"/>
          </a:xfrm>
          <a:prstGeom prst="rect">
            <a:avLst/>
          </a:prstGeom>
          <a:ln w="8636">
            <a:solidFill>
              <a:srgbClr val="1E2A3D"/>
            </a:solidFill>
            <a:prstDash val="solid"/>
          </a:ln>
        </p:spPr>
      </p:sp>
      <p:sp>
        <p:nvSpPr>
          <p:cNvPr id="18" name="Text 15"/>
          <p:cNvSpPr/>
          <p:nvPr/>
        </p:nvSpPr>
        <p:spPr>
          <a:xfrm>
            <a:off x="3557016" y="4425696"/>
            <a:ext cx="2660904" cy="292608"/>
          </a:xfrm>
          <a:prstGeom prst="rect">
            <a:avLst/>
          </a:prstGeom>
          <a:noFill/>
          <a:ln/>
        </p:spPr>
        <p:txBody>
          <a:bodyPr wrap="square" lIns="0" tIns="0" rIns="0" bIns="0" rtlCol="0" anchor="ctr"/>
          <a:lstStyle/>
          <a:p>
            <a:r>
              <a:rPr lang="en-US" sz="1400" spc="120" kern="0" dirty="0">
                <a:solidFill>
                  <a:srgbClr val="D0C8B8"/>
                </a:solidFill>
                <a:latin typeface="Segoe UI" pitchFamily="34" charset="0"/>
                <a:ea typeface="Segoe UI" pitchFamily="34" charset="-122"/>
                <a:cs typeface="Segoe UI" pitchFamily="34" charset="-120"/>
              </a:rPr>
              <a:t>IIT GANDHINAGAR</a:t>
            </a:r>
            <a:endParaRPr lang="en-US" sz="1400" dirty="0"/>
          </a:p>
        </p:txBody>
      </p:sp>
      <p:sp>
        <p:nvSpPr>
          <p:cNvPr id="19" name="Shape 16"/>
          <p:cNvSpPr/>
          <p:nvPr/>
        </p:nvSpPr>
        <p:spPr>
          <a:xfrm>
            <a:off x="6455664" y="4370832"/>
            <a:ext cx="3246120" cy="384048"/>
          </a:xfrm>
          <a:prstGeom prst="rect">
            <a:avLst/>
          </a:prstGeom>
          <a:ln w="8636">
            <a:solidFill>
              <a:srgbClr val="1E2A3D"/>
            </a:solidFill>
            <a:prstDash val="solid"/>
          </a:ln>
        </p:spPr>
      </p:sp>
      <p:sp>
        <p:nvSpPr>
          <p:cNvPr id="20" name="Text 17"/>
          <p:cNvSpPr/>
          <p:nvPr/>
        </p:nvSpPr>
        <p:spPr>
          <a:xfrm>
            <a:off x="6583680" y="4425696"/>
            <a:ext cx="3026664" cy="292608"/>
          </a:xfrm>
          <a:prstGeom prst="rect">
            <a:avLst/>
          </a:prstGeom>
          <a:noFill/>
          <a:ln/>
        </p:spPr>
        <p:txBody>
          <a:bodyPr wrap="square" lIns="0" tIns="0" rIns="0" bIns="0" rtlCol="0" anchor="ctr"/>
          <a:lstStyle/>
          <a:p>
            <a:r>
              <a:rPr lang="en-US" sz="1400" spc="120" kern="0" dirty="0">
                <a:solidFill>
                  <a:srgbClr val="D0C8B8"/>
                </a:solidFill>
                <a:latin typeface="Segoe UI" pitchFamily="34" charset="0"/>
                <a:ea typeface="Segoe UI" pitchFamily="34" charset="-122"/>
                <a:cs typeface="Segoe UI" pitchFamily="34" charset="-120"/>
              </a:rPr>
              <a:t>TEAM CONTROLPLANE</a:t>
            </a:r>
            <a:endParaRPr lang="en-US" sz="1400" dirty="0"/>
          </a:p>
        </p:txBody>
      </p:sp>
      <p:sp>
        <p:nvSpPr>
          <p:cNvPr id="21" name="Text 18"/>
          <p:cNvSpPr/>
          <p:nvPr/>
        </p:nvSpPr>
        <p:spPr>
          <a:xfrm>
            <a:off x="950976" y="8732520"/>
            <a:ext cx="8778240" cy="292608"/>
          </a:xfrm>
          <a:prstGeom prst="rect">
            <a:avLst/>
          </a:prstGeom>
          <a:noFill/>
          <a:ln/>
        </p:spPr>
        <p:txBody>
          <a:bodyPr wrap="square" lIns="0" tIns="0" rIns="0" bIns="0" rtlCol="0" anchor="ctr"/>
          <a:lstStyle/>
          <a:p>
            <a:r>
              <a:rPr lang="en-US" sz="1600" spc="150" kern="0" dirty="0">
                <a:solidFill>
                  <a:srgbClr val="F5F0EB"/>
                </a:solidFill>
                <a:latin typeface="Segoe UI" pitchFamily="34" charset="0"/>
                <a:ea typeface="Segoe UI" pitchFamily="34" charset="-122"/>
                <a:cs typeface="Segoe UI" pitchFamily="34" charset="-120"/>
              </a:rPr>
              <a:t>CHODA SRUJAN SAI  ·  DHRITHIKA</a:t>
            </a:r>
            <a:endParaRPr lang="en-US" sz="1600" dirty="0"/>
          </a:p>
        </p:txBody>
      </p:sp>
      <p:sp>
        <p:nvSpPr>
          <p:cNvPr id="22" name="Text 19"/>
          <p:cNvSpPr/>
          <p:nvPr/>
        </p:nvSpPr>
        <p:spPr>
          <a:xfrm>
            <a:off x="950976" y="9052560"/>
            <a:ext cx="8778240" cy="256032"/>
          </a:xfrm>
          <a:prstGeom prst="rect">
            <a:avLst/>
          </a:prstGeom>
          <a:noFill/>
          <a:ln/>
        </p:spPr>
        <p:txBody>
          <a:bodyPr wrap="square" lIns="0" tIns="0" rIns="0" bIns="0" rtlCol="0" anchor="ctr"/>
          <a:lstStyle/>
          <a:p>
            <a:r>
              <a:rPr lang="en-US" sz="1400" spc="120" kern="0" dirty="0">
                <a:solidFill>
                  <a:srgbClr val="8892B0"/>
                </a:solidFill>
                <a:latin typeface="Segoe UI" pitchFamily="34" charset="0"/>
                <a:ea typeface="Segoe UI" pitchFamily="34" charset="-122"/>
                <a:cs typeface="Segoe UI" pitchFamily="34" charset="-120"/>
              </a:rPr>
              <a:t>IIT GANDHINAGAR  ·  PROBLEM STATEMENT #1</a:t>
            </a:r>
            <a:endParaRPr lang="en-US" sz="1400" dirty="0"/>
          </a:p>
        </p:txBody>
      </p:sp>
      <p:sp>
        <p:nvSpPr>
          <p:cNvPr id="23" name="Shape 20"/>
          <p:cNvSpPr/>
          <p:nvPr/>
        </p:nvSpPr>
        <p:spPr>
          <a:xfrm>
            <a:off x="10241280" y="1554480"/>
            <a:ext cx="7095744" cy="7498080"/>
          </a:xfrm>
          <a:prstGeom prst="rect">
            <a:avLst/>
          </a:prstGeom>
          <a:solidFill>
            <a:srgbClr val="0F1525"/>
          </a:solidFill>
          <a:ln w="8636">
            <a:solidFill>
              <a:srgbClr val="2D3A52"/>
            </a:solidFill>
            <a:prstDash val="solid"/>
          </a:ln>
        </p:spPr>
      </p:sp>
      <p:sp>
        <p:nvSpPr>
          <p:cNvPr id="24" name="Shape 21"/>
          <p:cNvSpPr/>
          <p:nvPr/>
        </p:nvSpPr>
        <p:spPr>
          <a:xfrm>
            <a:off x="10250424" y="1993392"/>
            <a:ext cx="7077456" cy="9144"/>
          </a:xfrm>
          <a:prstGeom prst="rect">
            <a:avLst/>
          </a:prstGeom>
          <a:solidFill>
            <a:srgbClr val="1E2A3D"/>
          </a:solidFill>
          <a:ln/>
        </p:spPr>
      </p:sp>
      <p:sp>
        <p:nvSpPr>
          <p:cNvPr id="25" name="Text 22"/>
          <p:cNvSpPr/>
          <p:nvPr/>
        </p:nvSpPr>
        <p:spPr>
          <a:xfrm>
            <a:off x="10405872" y="1627632"/>
            <a:ext cx="3630534" cy="292608"/>
          </a:xfrm>
          <a:prstGeom prst="rect">
            <a:avLst/>
          </a:prstGeom>
          <a:noFill/>
          <a:ln/>
        </p:spPr>
        <p:txBody>
          <a:bodyPr wrap="square" lIns="0" tIns="0" rIns="0" bIns="0" rtlCol="0" anchor="ctr"/>
          <a:lstStyle/>
          <a:p>
            <a:r>
              <a:rPr lang="en-US" sz="1300" spc="120" kern="0" dirty="0">
                <a:solidFill>
                  <a:srgbClr val="8892B0"/>
                </a:solidFill>
                <a:latin typeface="Segoe UI" pitchFamily="34" charset="0"/>
                <a:ea typeface="Segoe UI" pitchFamily="34" charset="-122"/>
                <a:cs typeface="Segoe UI" pitchFamily="34" charset="-120"/>
              </a:rPr>
              <a:t>▸ PRIMITIVE // ONE GRAPH</a:t>
            </a:r>
            <a:endParaRPr lang="en-US" sz="1300" dirty="0"/>
          </a:p>
        </p:txBody>
      </p:sp>
      <p:sp>
        <p:nvSpPr>
          <p:cNvPr id="26" name="Text 23"/>
          <p:cNvSpPr/>
          <p:nvPr/>
        </p:nvSpPr>
        <p:spPr>
          <a:xfrm>
            <a:off x="14356812" y="1627632"/>
            <a:ext cx="2797332" cy="292608"/>
          </a:xfrm>
          <a:prstGeom prst="rect">
            <a:avLst/>
          </a:prstGeom>
          <a:noFill/>
          <a:ln/>
        </p:spPr>
        <p:txBody>
          <a:bodyPr wrap="square" lIns="0" tIns="0" rIns="0" bIns="0" rtlCol="0" anchor="ctr"/>
          <a:lstStyle/>
          <a:p>
            <a:pPr algn="r"/>
            <a:r>
              <a:rPr lang="en-US" sz="1300" spc="100" kern="0" dirty="0">
                <a:solidFill>
                  <a:srgbClr val="8892B0"/>
                </a:solidFill>
                <a:latin typeface="Segoe UI" pitchFamily="34" charset="0"/>
                <a:ea typeface="Segoe UI" pitchFamily="34" charset="-122"/>
                <a:cs typeface="Segoe UI" pitchFamily="34" charset="-120"/>
              </a:rPr>
              <a:t>LANE 1</a:t>
            </a:r>
            <a:endParaRPr lang="en-US" sz="1300" dirty="0"/>
          </a:p>
        </p:txBody>
      </p:sp>
      <p:sp>
        <p:nvSpPr>
          <p:cNvPr id="27" name="Text 24"/>
          <p:cNvSpPr/>
          <p:nvPr/>
        </p:nvSpPr>
        <p:spPr>
          <a:xfrm>
            <a:off x="10533888" y="2359152"/>
            <a:ext cx="1417320" cy="438912"/>
          </a:xfrm>
          <a:prstGeom prst="rect">
            <a:avLst/>
          </a:prstGeom>
          <a:noFill/>
          <a:ln/>
        </p:spPr>
        <p:txBody>
          <a:bodyPr wrap="square" lIns="0" tIns="0" rIns="0" bIns="0" rtlCol="0" anchor="ctr"/>
          <a:lstStyle/>
          <a:p>
            <a:r>
              <a:rPr lang="en-US" sz="1500" b="1" dirty="0">
                <a:solidFill>
                  <a:srgbClr val="F5F0EB"/>
                </a:solidFill>
                <a:latin typeface="SF Mono" pitchFamily="34" charset="0"/>
                <a:ea typeface="SF Mono" pitchFamily="34" charset="-122"/>
                <a:cs typeface="SF Mono" pitchFamily="34" charset="-120"/>
              </a:rPr>
              <a:t>STEP</a:t>
            </a:r>
            <a:endParaRPr lang="en-US" sz="1500" dirty="0"/>
          </a:p>
        </p:txBody>
      </p:sp>
      <p:sp>
        <p:nvSpPr>
          <p:cNvPr id="28" name="Text 25"/>
          <p:cNvSpPr/>
          <p:nvPr/>
        </p:nvSpPr>
        <p:spPr>
          <a:xfrm>
            <a:off x="11978640" y="2359152"/>
            <a:ext cx="2651760" cy="438912"/>
          </a:xfrm>
          <a:prstGeom prst="rect">
            <a:avLst/>
          </a:prstGeom>
          <a:noFill/>
          <a:ln/>
        </p:spPr>
        <p:txBody>
          <a:bodyPr wrap="square" lIns="0" tIns="0" rIns="0" bIns="0" rtlCol="0" anchor="ctr"/>
          <a:lstStyle/>
          <a:p>
            <a:pPr algn="ctr"/>
            <a:r>
              <a:rPr lang="en-US" sz="1300" dirty="0">
                <a:solidFill>
                  <a:srgbClr val="C9A227"/>
                </a:solidFill>
                <a:latin typeface="Segoe UI" pitchFamily="34" charset="0"/>
                <a:ea typeface="Segoe UI" pitchFamily="34" charset="-122"/>
                <a:cs typeface="Segoe UI" pitchFamily="34" charset="-120"/>
              </a:rPr>
              <a:t>→  produces  →</a:t>
            </a:r>
            <a:endParaRPr lang="en-US" sz="1300" dirty="0"/>
          </a:p>
        </p:txBody>
      </p:sp>
      <p:sp>
        <p:nvSpPr>
          <p:cNvPr id="29" name="Text 26"/>
          <p:cNvSpPr/>
          <p:nvPr/>
        </p:nvSpPr>
        <p:spPr>
          <a:xfrm>
            <a:off x="14676120" y="2359152"/>
            <a:ext cx="1920240" cy="438912"/>
          </a:xfrm>
          <a:prstGeom prst="rect">
            <a:avLst/>
          </a:prstGeom>
          <a:noFill/>
          <a:ln/>
        </p:spPr>
        <p:txBody>
          <a:bodyPr wrap="square" lIns="0" tIns="0" rIns="0" bIns="0" rtlCol="0" anchor="ctr"/>
          <a:lstStyle/>
          <a:p>
            <a:r>
              <a:rPr lang="en-US" sz="1500" b="1" dirty="0">
                <a:solidFill>
                  <a:srgbClr val="D4AF37"/>
                </a:solidFill>
                <a:latin typeface="SF Mono" pitchFamily="34" charset="0"/>
                <a:ea typeface="SF Mono" pitchFamily="34" charset="-122"/>
                <a:cs typeface="SF Mono" pitchFamily="34" charset="-120"/>
              </a:rPr>
              <a:t>SPAN</a:t>
            </a:r>
            <a:endParaRPr lang="en-US" sz="1500" dirty="0"/>
          </a:p>
        </p:txBody>
      </p:sp>
      <p:sp>
        <p:nvSpPr>
          <p:cNvPr id="30" name="Text 27"/>
          <p:cNvSpPr/>
          <p:nvPr/>
        </p:nvSpPr>
        <p:spPr>
          <a:xfrm>
            <a:off x="10533888" y="2926080"/>
            <a:ext cx="1417320" cy="438912"/>
          </a:xfrm>
          <a:prstGeom prst="rect">
            <a:avLst/>
          </a:prstGeom>
          <a:noFill/>
          <a:ln/>
        </p:spPr>
        <p:txBody>
          <a:bodyPr wrap="square" lIns="0" tIns="0" rIns="0" bIns="0" rtlCol="0" anchor="ctr"/>
          <a:lstStyle/>
          <a:p>
            <a:r>
              <a:rPr lang="en-US" sz="1500" b="1" dirty="0">
                <a:solidFill>
                  <a:srgbClr val="F5F0EB"/>
                </a:solidFill>
                <a:latin typeface="SF Mono" pitchFamily="34" charset="0"/>
                <a:ea typeface="SF Mono" pitchFamily="34" charset="-122"/>
                <a:cs typeface="SF Mono" pitchFamily="34" charset="-120"/>
              </a:rPr>
              <a:t>SPAN</a:t>
            </a:r>
            <a:endParaRPr lang="en-US" sz="1500" dirty="0"/>
          </a:p>
        </p:txBody>
      </p:sp>
      <p:sp>
        <p:nvSpPr>
          <p:cNvPr id="31" name="Text 28"/>
          <p:cNvSpPr/>
          <p:nvPr/>
        </p:nvSpPr>
        <p:spPr>
          <a:xfrm>
            <a:off x="11978640" y="2926080"/>
            <a:ext cx="2651760" cy="438912"/>
          </a:xfrm>
          <a:prstGeom prst="rect">
            <a:avLst/>
          </a:prstGeom>
          <a:noFill/>
          <a:ln/>
        </p:spPr>
        <p:txBody>
          <a:bodyPr wrap="square" lIns="0" tIns="0" rIns="0" bIns="0" rtlCol="0" anchor="ctr"/>
          <a:lstStyle/>
          <a:p>
            <a:pPr algn="ctr"/>
            <a:r>
              <a:rPr lang="en-US" sz="1300" dirty="0">
                <a:solidFill>
                  <a:srgbClr val="C9A227"/>
                </a:solidFill>
                <a:latin typeface="Segoe UI" pitchFamily="34" charset="0"/>
                <a:ea typeface="Segoe UI" pitchFamily="34" charset="-122"/>
                <a:cs typeface="Segoe UI" pitchFamily="34" charset="-120"/>
              </a:rPr>
              <a:t>→  binds  →</a:t>
            </a:r>
            <a:endParaRPr lang="en-US" sz="1300" dirty="0"/>
          </a:p>
        </p:txBody>
      </p:sp>
      <p:sp>
        <p:nvSpPr>
          <p:cNvPr id="32" name="Text 29"/>
          <p:cNvSpPr/>
          <p:nvPr/>
        </p:nvSpPr>
        <p:spPr>
          <a:xfrm>
            <a:off x="14676120" y="2926080"/>
            <a:ext cx="1920240" cy="438912"/>
          </a:xfrm>
          <a:prstGeom prst="rect">
            <a:avLst/>
          </a:prstGeom>
          <a:noFill/>
          <a:ln/>
        </p:spPr>
        <p:txBody>
          <a:bodyPr wrap="square" lIns="0" tIns="0" rIns="0" bIns="0" rtlCol="0" anchor="ctr"/>
          <a:lstStyle/>
          <a:p>
            <a:r>
              <a:rPr lang="en-US" sz="1500" b="1" dirty="0">
                <a:solidFill>
                  <a:srgbClr val="D4AF37"/>
                </a:solidFill>
                <a:latin typeface="SF Mono" pitchFamily="34" charset="0"/>
                <a:ea typeface="SF Mono" pitchFamily="34" charset="-122"/>
                <a:cs typeface="SF Mono" pitchFamily="34" charset="-120"/>
              </a:rPr>
              <a:t>CLAIM</a:t>
            </a:r>
            <a:endParaRPr lang="en-US" sz="1500" dirty="0"/>
          </a:p>
        </p:txBody>
      </p:sp>
      <p:sp>
        <p:nvSpPr>
          <p:cNvPr id="33" name="Text 30"/>
          <p:cNvSpPr/>
          <p:nvPr/>
        </p:nvSpPr>
        <p:spPr>
          <a:xfrm>
            <a:off x="10533888" y="3493008"/>
            <a:ext cx="1417320" cy="438912"/>
          </a:xfrm>
          <a:prstGeom prst="rect">
            <a:avLst/>
          </a:prstGeom>
          <a:noFill/>
          <a:ln/>
        </p:spPr>
        <p:txBody>
          <a:bodyPr wrap="square" lIns="0" tIns="0" rIns="0" bIns="0" rtlCol="0" anchor="ctr"/>
          <a:lstStyle/>
          <a:p>
            <a:r>
              <a:rPr lang="en-US" sz="1500" b="1" dirty="0">
                <a:solidFill>
                  <a:srgbClr val="F5F0EB"/>
                </a:solidFill>
                <a:latin typeface="SF Mono" pitchFamily="34" charset="0"/>
                <a:ea typeface="SF Mono" pitchFamily="34" charset="-122"/>
                <a:cs typeface="SF Mono" pitchFamily="34" charset="-120"/>
              </a:rPr>
              <a:t>CLAIM</a:t>
            </a:r>
            <a:endParaRPr lang="en-US" sz="1500" dirty="0"/>
          </a:p>
        </p:txBody>
      </p:sp>
      <p:sp>
        <p:nvSpPr>
          <p:cNvPr id="34" name="Text 31"/>
          <p:cNvSpPr/>
          <p:nvPr/>
        </p:nvSpPr>
        <p:spPr>
          <a:xfrm>
            <a:off x="11978640" y="3493008"/>
            <a:ext cx="2651760" cy="438912"/>
          </a:xfrm>
          <a:prstGeom prst="rect">
            <a:avLst/>
          </a:prstGeom>
          <a:noFill/>
          <a:ln/>
        </p:spPr>
        <p:txBody>
          <a:bodyPr wrap="square" lIns="0" tIns="0" rIns="0" bIns="0" rtlCol="0" anchor="ctr"/>
          <a:lstStyle/>
          <a:p>
            <a:pPr algn="ctr"/>
            <a:r>
              <a:rPr lang="en-US" sz="1300" dirty="0">
                <a:solidFill>
                  <a:srgbClr val="C9A227"/>
                </a:solidFill>
                <a:latin typeface="Segoe UI" pitchFamily="34" charset="0"/>
                <a:ea typeface="Segoe UI" pitchFamily="34" charset="-122"/>
                <a:cs typeface="Segoe UI" pitchFamily="34" charset="-120"/>
              </a:rPr>
              <a:t>→  authorizes  →</a:t>
            </a:r>
            <a:endParaRPr lang="en-US" sz="1300" dirty="0"/>
          </a:p>
        </p:txBody>
      </p:sp>
      <p:sp>
        <p:nvSpPr>
          <p:cNvPr id="35" name="Text 32"/>
          <p:cNvSpPr/>
          <p:nvPr/>
        </p:nvSpPr>
        <p:spPr>
          <a:xfrm>
            <a:off x="14676120" y="3493008"/>
            <a:ext cx="1920240" cy="438912"/>
          </a:xfrm>
          <a:prstGeom prst="rect">
            <a:avLst/>
          </a:prstGeom>
          <a:noFill/>
          <a:ln/>
        </p:spPr>
        <p:txBody>
          <a:bodyPr wrap="square" lIns="0" tIns="0" rIns="0" bIns="0" rtlCol="0" anchor="ctr"/>
          <a:lstStyle/>
          <a:p>
            <a:r>
              <a:rPr lang="en-US" sz="1500" b="1" dirty="0">
                <a:solidFill>
                  <a:srgbClr val="D4AF37"/>
                </a:solidFill>
                <a:latin typeface="SF Mono" pitchFamily="34" charset="0"/>
                <a:ea typeface="SF Mono" pitchFamily="34" charset="-122"/>
                <a:cs typeface="SF Mono" pitchFamily="34" charset="-120"/>
              </a:rPr>
              <a:t>ACTION</a:t>
            </a:r>
            <a:endParaRPr lang="en-US" sz="1500" dirty="0"/>
          </a:p>
        </p:txBody>
      </p:sp>
      <p:sp>
        <p:nvSpPr>
          <p:cNvPr id="36" name="Text 33"/>
          <p:cNvSpPr/>
          <p:nvPr/>
        </p:nvSpPr>
        <p:spPr>
          <a:xfrm>
            <a:off x="10497312" y="4434840"/>
            <a:ext cx="6583680" cy="292608"/>
          </a:xfrm>
          <a:prstGeom prst="rect">
            <a:avLst/>
          </a:prstGeom>
          <a:noFill/>
          <a:ln/>
        </p:spPr>
        <p:txBody>
          <a:bodyPr wrap="square" lIns="0" tIns="0" rIns="0" bIns="0" rtlCol="0" anchor="ctr"/>
          <a:lstStyle/>
          <a:p>
            <a:r>
              <a:rPr lang="en-US" sz="1400" spc="180" kern="0" dirty="0">
                <a:solidFill>
                  <a:srgbClr val="D4AF37"/>
                </a:solidFill>
                <a:latin typeface="Segoe UI" pitchFamily="34" charset="0"/>
                <a:ea typeface="Segoe UI" pitchFamily="34" charset="-122"/>
                <a:cs typeface="Segoe UI" pitchFamily="34" charset="-120"/>
              </a:rPr>
              <a:t>FOUR NODES. THREE READS.</a:t>
            </a:r>
            <a:endParaRPr lang="en-US" sz="1400" dirty="0"/>
          </a:p>
        </p:txBody>
      </p:sp>
      <p:sp>
        <p:nvSpPr>
          <p:cNvPr id="37" name="Text 34"/>
          <p:cNvSpPr/>
          <p:nvPr/>
        </p:nvSpPr>
        <p:spPr>
          <a:xfrm>
            <a:off x="10497312" y="4892040"/>
            <a:ext cx="640080" cy="329184"/>
          </a:xfrm>
          <a:prstGeom prst="rect">
            <a:avLst/>
          </a:prstGeom>
          <a:noFill/>
          <a:ln/>
        </p:spPr>
        <p:txBody>
          <a:bodyPr wrap="square" lIns="0" tIns="0" rIns="0" bIns="0" rtlCol="0" anchor="ctr"/>
          <a:lstStyle/>
          <a:p>
            <a:r>
              <a:rPr lang="en-US" sz="1600" b="1" dirty="0">
                <a:solidFill>
                  <a:srgbClr val="C9A227"/>
                </a:solidFill>
                <a:latin typeface="Segoe UI" pitchFamily="34" charset="0"/>
                <a:ea typeface="Segoe UI" pitchFamily="34" charset="-122"/>
                <a:cs typeface="Segoe UI" pitchFamily="34" charset="-120"/>
              </a:rPr>
              <a:t>01</a:t>
            </a:r>
            <a:endParaRPr lang="en-US" sz="1600" dirty="0"/>
          </a:p>
        </p:txBody>
      </p:sp>
      <p:sp>
        <p:nvSpPr>
          <p:cNvPr id="38" name="Text 35"/>
          <p:cNvSpPr/>
          <p:nvPr/>
        </p:nvSpPr>
        <p:spPr>
          <a:xfrm>
            <a:off x="11173968" y="4892040"/>
            <a:ext cx="5394960" cy="292608"/>
          </a:xfrm>
          <a:prstGeom prst="rect">
            <a:avLst/>
          </a:prstGeom>
          <a:noFill/>
          <a:ln/>
        </p:spPr>
        <p:txBody>
          <a:bodyPr wrap="square" lIns="0" tIns="0" rIns="0" bIns="0" rtlCol="0" anchor="ctr"/>
          <a:lstStyle/>
          <a:p>
            <a:r>
              <a:rPr lang="en-US" sz="1600" b="1" spc="120" kern="0" dirty="0">
                <a:solidFill>
                  <a:srgbClr val="F5F0EB"/>
                </a:solidFill>
                <a:latin typeface="Segoe UI" pitchFamily="34" charset="0"/>
                <a:ea typeface="Segoe UI" pitchFamily="34" charset="-122"/>
                <a:cs typeface="Segoe UI" pitchFamily="34" charset="-120"/>
              </a:rPr>
              <a:t>PERFORMANCE</a:t>
            </a:r>
            <a:endParaRPr lang="en-US" sz="1600" dirty="0"/>
          </a:p>
        </p:txBody>
      </p:sp>
      <p:sp>
        <p:nvSpPr>
          <p:cNvPr id="39" name="Text 36"/>
          <p:cNvSpPr/>
          <p:nvPr/>
        </p:nvSpPr>
        <p:spPr>
          <a:xfrm>
            <a:off x="11173968" y="5202936"/>
            <a:ext cx="5394960" cy="329184"/>
          </a:xfrm>
          <a:prstGeom prst="rect">
            <a:avLst/>
          </a:prstGeom>
          <a:noFill/>
          <a:ln/>
        </p:spPr>
        <p:txBody>
          <a:bodyPr wrap="square" lIns="0" tIns="0" rIns="0" bIns="0" rtlCol="0" anchor="ctr"/>
          <a:lstStyle/>
          <a:p>
            <a:r>
              <a:rPr lang="en-US" sz="1500" dirty="0">
                <a:solidFill>
                  <a:srgbClr val="D0C8B8"/>
                </a:solidFill>
                <a:latin typeface="Segoe UI" pitchFamily="34" charset="0"/>
                <a:ea typeface="Segoe UI" pitchFamily="34" charset="-122"/>
                <a:cs typeface="Segoe UI" pitchFamily="34" charset="-120"/>
              </a:rPr>
              <a:t>Does each claim bind to a span?</a:t>
            </a:r>
            <a:endParaRPr lang="en-US" sz="1500" dirty="0"/>
          </a:p>
        </p:txBody>
      </p:sp>
      <p:sp>
        <p:nvSpPr>
          <p:cNvPr id="40" name="Text 37"/>
          <p:cNvSpPr/>
          <p:nvPr/>
        </p:nvSpPr>
        <p:spPr>
          <a:xfrm>
            <a:off x="10497312" y="5916168"/>
            <a:ext cx="640080" cy="329184"/>
          </a:xfrm>
          <a:prstGeom prst="rect">
            <a:avLst/>
          </a:prstGeom>
          <a:noFill/>
          <a:ln/>
        </p:spPr>
        <p:txBody>
          <a:bodyPr wrap="square" lIns="0" tIns="0" rIns="0" bIns="0" rtlCol="0" anchor="ctr"/>
          <a:lstStyle/>
          <a:p>
            <a:r>
              <a:rPr lang="en-US" sz="1600" b="1" dirty="0">
                <a:solidFill>
                  <a:srgbClr val="C9A227"/>
                </a:solidFill>
                <a:latin typeface="Segoe UI" pitchFamily="34" charset="0"/>
                <a:ea typeface="Segoe UI" pitchFamily="34" charset="-122"/>
                <a:cs typeface="Segoe UI" pitchFamily="34" charset="-120"/>
              </a:rPr>
              <a:t>02</a:t>
            </a:r>
            <a:endParaRPr lang="en-US" sz="1600" dirty="0"/>
          </a:p>
        </p:txBody>
      </p:sp>
      <p:sp>
        <p:nvSpPr>
          <p:cNvPr id="41" name="Text 38"/>
          <p:cNvSpPr/>
          <p:nvPr/>
        </p:nvSpPr>
        <p:spPr>
          <a:xfrm>
            <a:off x="11173968" y="5916168"/>
            <a:ext cx="5394960" cy="292608"/>
          </a:xfrm>
          <a:prstGeom prst="rect">
            <a:avLst/>
          </a:prstGeom>
          <a:noFill/>
          <a:ln/>
        </p:spPr>
        <p:txBody>
          <a:bodyPr wrap="square" lIns="0" tIns="0" rIns="0" bIns="0" rtlCol="0" anchor="ctr"/>
          <a:lstStyle/>
          <a:p>
            <a:r>
              <a:rPr lang="en-US" sz="1600" b="1" spc="120" kern="0" dirty="0">
                <a:solidFill>
                  <a:srgbClr val="F5F0EB"/>
                </a:solidFill>
                <a:latin typeface="Segoe UI" pitchFamily="34" charset="0"/>
                <a:ea typeface="Segoe UI" pitchFamily="34" charset="-122"/>
                <a:cs typeface="Segoe UI" pitchFamily="34" charset="-120"/>
              </a:rPr>
              <a:t>COST</a:t>
            </a:r>
            <a:endParaRPr lang="en-US" sz="1600" dirty="0"/>
          </a:p>
        </p:txBody>
      </p:sp>
      <p:sp>
        <p:nvSpPr>
          <p:cNvPr id="42" name="Text 39"/>
          <p:cNvSpPr/>
          <p:nvPr/>
        </p:nvSpPr>
        <p:spPr>
          <a:xfrm>
            <a:off x="11173968" y="6227064"/>
            <a:ext cx="5394960" cy="329184"/>
          </a:xfrm>
          <a:prstGeom prst="rect">
            <a:avLst/>
          </a:prstGeom>
          <a:noFill/>
          <a:ln/>
        </p:spPr>
        <p:txBody>
          <a:bodyPr wrap="square" lIns="0" tIns="0" rIns="0" bIns="0" rtlCol="0" anchor="ctr"/>
          <a:lstStyle/>
          <a:p>
            <a:r>
              <a:rPr lang="en-US" sz="1500" dirty="0">
                <a:solidFill>
                  <a:srgbClr val="D0C8B8"/>
                </a:solidFill>
                <a:latin typeface="Segoe UI" pitchFamily="34" charset="0"/>
                <a:ea typeface="Segoe UI" pitchFamily="34" charset="-122"/>
                <a:cs typeface="Segoe UI" pitchFamily="34" charset="-120"/>
              </a:rPr>
              <a:t>Did each step ground an accepted claim?</a:t>
            </a:r>
            <a:endParaRPr lang="en-US" sz="1500" dirty="0"/>
          </a:p>
        </p:txBody>
      </p:sp>
      <p:sp>
        <p:nvSpPr>
          <p:cNvPr id="43" name="Text 40"/>
          <p:cNvSpPr/>
          <p:nvPr/>
        </p:nvSpPr>
        <p:spPr>
          <a:xfrm>
            <a:off x="10497312" y="6940296"/>
            <a:ext cx="640080" cy="329184"/>
          </a:xfrm>
          <a:prstGeom prst="rect">
            <a:avLst/>
          </a:prstGeom>
          <a:noFill/>
          <a:ln/>
        </p:spPr>
        <p:txBody>
          <a:bodyPr wrap="square" lIns="0" tIns="0" rIns="0" bIns="0" rtlCol="0" anchor="ctr"/>
          <a:lstStyle/>
          <a:p>
            <a:r>
              <a:rPr lang="en-US" sz="1600" b="1" dirty="0">
                <a:solidFill>
                  <a:srgbClr val="C9A227"/>
                </a:solidFill>
                <a:latin typeface="Segoe UI" pitchFamily="34" charset="0"/>
                <a:ea typeface="Segoe UI" pitchFamily="34" charset="-122"/>
                <a:cs typeface="Segoe UI" pitchFamily="34" charset="-120"/>
              </a:rPr>
              <a:t>03</a:t>
            </a:r>
            <a:endParaRPr lang="en-US" sz="1600" dirty="0"/>
          </a:p>
        </p:txBody>
      </p:sp>
      <p:sp>
        <p:nvSpPr>
          <p:cNvPr id="44" name="Text 41"/>
          <p:cNvSpPr/>
          <p:nvPr/>
        </p:nvSpPr>
        <p:spPr>
          <a:xfrm>
            <a:off x="11173968" y="6940296"/>
            <a:ext cx="5394960" cy="292608"/>
          </a:xfrm>
          <a:prstGeom prst="rect">
            <a:avLst/>
          </a:prstGeom>
          <a:noFill/>
          <a:ln/>
        </p:spPr>
        <p:txBody>
          <a:bodyPr wrap="square" lIns="0" tIns="0" rIns="0" bIns="0" rtlCol="0" anchor="ctr"/>
          <a:lstStyle/>
          <a:p>
            <a:r>
              <a:rPr lang="en-US" sz="1600" b="1" spc="120" kern="0" dirty="0">
                <a:solidFill>
                  <a:srgbClr val="F5F0EB"/>
                </a:solidFill>
                <a:latin typeface="Segoe UI" pitchFamily="34" charset="0"/>
                <a:ea typeface="Segoe UI" pitchFamily="34" charset="-122"/>
                <a:cs typeface="Segoe UI" pitchFamily="34" charset="-120"/>
              </a:rPr>
              <a:t>RESPONSIBILITY</a:t>
            </a:r>
            <a:endParaRPr lang="en-US" sz="1600" dirty="0"/>
          </a:p>
        </p:txBody>
      </p:sp>
      <p:sp>
        <p:nvSpPr>
          <p:cNvPr id="45" name="Text 42"/>
          <p:cNvSpPr/>
          <p:nvPr/>
        </p:nvSpPr>
        <p:spPr>
          <a:xfrm>
            <a:off x="11173968" y="7251192"/>
            <a:ext cx="5394960" cy="329184"/>
          </a:xfrm>
          <a:prstGeom prst="rect">
            <a:avLst/>
          </a:prstGeom>
          <a:noFill/>
          <a:ln/>
        </p:spPr>
        <p:txBody>
          <a:bodyPr wrap="square" lIns="0" tIns="0" rIns="0" bIns="0" rtlCol="0" anchor="ctr"/>
          <a:lstStyle/>
          <a:p>
            <a:r>
              <a:rPr lang="en-US" sz="1500" dirty="0">
                <a:solidFill>
                  <a:srgbClr val="D0C8B8"/>
                </a:solidFill>
                <a:latin typeface="Segoe UI" pitchFamily="34" charset="0"/>
                <a:ea typeface="Segoe UI" pitchFamily="34" charset="-122"/>
                <a:cs typeface="Segoe UI" pitchFamily="34" charset="-120"/>
              </a:rPr>
              <a:t>Is the caller entitled to every bound span?</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12182A">
              <a:alpha val="30000"/>
            </a:srgbClr>
          </a:solidFill>
          <a:ln/>
        </p:spPr>
      </p:sp>
      <p:sp>
        <p:nvSpPr>
          <p:cNvPr id="3" name="Text 1"/>
          <p:cNvSpPr/>
          <p:nvPr/>
        </p:nvSpPr>
        <p:spPr>
          <a:xfrm>
            <a:off x="384048" y="402336"/>
            <a:ext cx="210312" cy="228600"/>
          </a:xfrm>
          <a:prstGeom prst="rect">
            <a:avLst/>
          </a:prstGeom>
          <a:noFill/>
          <a:ln/>
        </p:spPr>
        <p:txBody>
          <a:bodyPr wrap="square" lIns="0" tIns="0" rIns="0" bIns="0" rtlCol="0" anchor="ctr"/>
          <a:lstStyle/>
          <a:p>
            <a:r>
              <a:rPr lang="en-US" sz="1200" dirty="0">
                <a:solidFill>
                  <a:srgbClr val="C9A227"/>
                </a:solidFill>
                <a:latin typeface="Segoe UI" pitchFamily="34" charset="0"/>
                <a:ea typeface="Segoe UI" pitchFamily="34" charset="-122"/>
                <a:cs typeface="Segoe UI" pitchFamily="34" charset="-120"/>
              </a:rPr>
              <a:t>◢</a:t>
            </a:r>
            <a:endParaRPr lang="en-US" sz="1200" dirty="0"/>
          </a:p>
        </p:txBody>
      </p:sp>
      <p:sp>
        <p:nvSpPr>
          <p:cNvPr id="4" name="Text 2"/>
          <p:cNvSpPr/>
          <p:nvPr/>
        </p:nvSpPr>
        <p:spPr>
          <a:xfrm>
            <a:off x="621792" y="384048"/>
            <a:ext cx="3840480" cy="265176"/>
          </a:xfrm>
          <a:prstGeom prst="rect">
            <a:avLst/>
          </a:prstGeom>
          <a:noFill/>
          <a:ln/>
        </p:spPr>
        <p:txBody>
          <a:bodyPr wrap="square" lIns="0" tIns="0" rIns="0" bIns="0" rtlCol="0" anchor="ctr"/>
          <a:lstStyle/>
          <a:p>
            <a:r>
              <a:rPr lang="en-US" sz="1500" spc="150" kern="0" dirty="0">
                <a:solidFill>
                  <a:srgbClr val="F5F0EB"/>
                </a:solidFill>
                <a:latin typeface="Segoe UI" pitchFamily="34" charset="0"/>
                <a:ea typeface="Segoe UI" pitchFamily="34" charset="-122"/>
                <a:cs typeface="Segoe UI" pitchFamily="34" charset="-120"/>
              </a:rPr>
              <a:t>CONTROLPLANE//SYS</a:t>
            </a:r>
            <a:endParaRPr lang="en-US" sz="1500" dirty="0"/>
          </a:p>
        </p:txBody>
      </p:sp>
      <p:sp>
        <p:nvSpPr>
          <p:cNvPr id="5" name="Text 3"/>
          <p:cNvSpPr/>
          <p:nvPr/>
        </p:nvSpPr>
        <p:spPr>
          <a:xfrm>
            <a:off x="11521440" y="384048"/>
            <a:ext cx="6217920" cy="265176"/>
          </a:xfrm>
          <a:prstGeom prst="rect">
            <a:avLst/>
          </a:prstGeom>
          <a:noFill/>
          <a:ln/>
        </p:spPr>
        <p:txBody>
          <a:bodyPr wrap="square" lIns="0" tIns="0" rIns="0" bIns="0" rtlCol="0" anchor="ctr"/>
          <a:lstStyle/>
          <a:p>
            <a:pPr algn="r"/>
            <a:r>
              <a:rPr lang="en-US" sz="1500" spc="150" kern="0" dirty="0">
                <a:solidFill>
                  <a:srgbClr val="8892B0"/>
                </a:solidFill>
                <a:latin typeface="Segoe UI" pitchFamily="34" charset="0"/>
                <a:ea typeface="Segoe UI" pitchFamily="34" charset="-122"/>
                <a:cs typeface="Segoe UI" pitchFamily="34" charset="-120"/>
              </a:rPr>
              <a:t>01 // PROBLEM</a:t>
            </a:r>
            <a:endParaRPr lang="en-US" sz="1500" dirty="0"/>
          </a:p>
        </p:txBody>
      </p:sp>
      <p:sp>
        <p:nvSpPr>
          <p:cNvPr id="6" name="Text 4"/>
          <p:cNvSpPr/>
          <p:nvPr/>
        </p:nvSpPr>
        <p:spPr>
          <a:xfrm>
            <a:off x="17775936" y="402336"/>
            <a:ext cx="210312" cy="228600"/>
          </a:xfrm>
          <a:prstGeom prst="rect">
            <a:avLst/>
          </a:prstGeom>
          <a:noFill/>
          <a:ln/>
        </p:spPr>
        <p:txBody>
          <a:bodyPr wrap="square" lIns="0" tIns="0" rIns="0" bIns="0" rtlCol="0" anchor="ctr"/>
          <a:lstStyle/>
          <a:p>
            <a:r>
              <a:rPr lang="en-US" sz="1200" dirty="0">
                <a:solidFill>
                  <a:srgbClr val="C9A227"/>
                </a:solidFill>
                <a:latin typeface="Segoe UI" pitchFamily="34" charset="0"/>
                <a:ea typeface="Segoe UI" pitchFamily="34" charset="-122"/>
                <a:cs typeface="Segoe UI" pitchFamily="34" charset="-120"/>
              </a:rPr>
              <a:t>◣</a:t>
            </a:r>
            <a:endParaRPr lang="en-US" sz="1200" dirty="0"/>
          </a:p>
        </p:txBody>
      </p:sp>
      <p:sp>
        <p:nvSpPr>
          <p:cNvPr id="7" name="Shape 5"/>
          <p:cNvSpPr/>
          <p:nvPr/>
        </p:nvSpPr>
        <p:spPr>
          <a:xfrm>
            <a:off x="384048" y="9747504"/>
            <a:ext cx="91440" cy="91440"/>
          </a:xfrm>
          <a:prstGeom prst="rect">
            <a:avLst/>
          </a:prstGeom>
          <a:solidFill>
            <a:srgbClr val="C9A227"/>
          </a:solidFill>
          <a:ln/>
        </p:spPr>
      </p:sp>
      <p:sp>
        <p:nvSpPr>
          <p:cNvPr id="8" name="Text 6"/>
          <p:cNvSpPr/>
          <p:nvPr/>
        </p:nvSpPr>
        <p:spPr>
          <a:xfrm>
            <a:off x="566928" y="9683496"/>
            <a:ext cx="2194560" cy="265176"/>
          </a:xfrm>
          <a:prstGeom prst="rect">
            <a:avLst/>
          </a:prstGeom>
          <a:noFill/>
          <a:ln/>
        </p:spPr>
        <p:txBody>
          <a:bodyPr wrap="square" lIns="0" tIns="0" rIns="0" bIns="0" rtlCol="0" anchor="ctr"/>
          <a:lstStyle/>
          <a:p>
            <a:r>
              <a:rPr lang="en-US" sz="1500" dirty="0">
                <a:solidFill>
                  <a:srgbClr val="8892B0"/>
                </a:solidFill>
                <a:latin typeface="Segoe UI" pitchFamily="34" charset="0"/>
                <a:ea typeface="Segoe UI" pitchFamily="34" charset="-122"/>
                <a:cs typeface="Segoe UI" pitchFamily="34" charset="-120"/>
              </a:rPr>
              <a:t>ADMIT//PROVE</a:t>
            </a:r>
            <a:endParaRPr lang="en-US" sz="1500" dirty="0"/>
          </a:p>
        </p:txBody>
      </p:sp>
      <p:sp>
        <p:nvSpPr>
          <p:cNvPr id="9" name="Text 7"/>
          <p:cNvSpPr/>
          <p:nvPr/>
        </p:nvSpPr>
        <p:spPr>
          <a:xfrm>
            <a:off x="13350240" y="9683496"/>
            <a:ext cx="4480560" cy="265176"/>
          </a:xfrm>
          <a:prstGeom prst="rect">
            <a:avLst/>
          </a:prstGeom>
          <a:noFill/>
          <a:ln/>
        </p:spPr>
        <p:txBody>
          <a:bodyPr wrap="square" lIns="0" tIns="0" rIns="0" bIns="0" rtlCol="0" anchor="ctr"/>
          <a:lstStyle/>
          <a:p>
            <a:pPr algn="r"/>
            <a:r>
              <a:rPr lang="en-US" sz="1500" spc="150" kern="0" dirty="0">
                <a:solidFill>
                  <a:srgbClr val="8892B0"/>
                </a:solidFill>
                <a:latin typeface="Segoe UI" pitchFamily="34" charset="0"/>
                <a:ea typeface="Segoe UI" pitchFamily="34" charset="-122"/>
                <a:cs typeface="Segoe UI" pitchFamily="34" charset="-120"/>
              </a:rPr>
              <a:t>AIC.2026 · PS #1 · IITGN</a:t>
            </a:r>
            <a:endParaRPr lang="en-US" sz="1500" dirty="0"/>
          </a:p>
        </p:txBody>
      </p:sp>
      <p:sp>
        <p:nvSpPr>
          <p:cNvPr id="11" name="Text 8"/>
          <p:cNvSpPr/>
          <p:nvPr/>
        </p:nvSpPr>
        <p:spPr>
          <a:xfrm>
            <a:off x="950976" y="914400"/>
            <a:ext cx="7315200" cy="265176"/>
          </a:xfrm>
          <a:prstGeom prst="rect">
            <a:avLst/>
          </a:prstGeom>
          <a:noFill/>
          <a:ln/>
        </p:spPr>
        <p:txBody>
          <a:bodyPr wrap="square" lIns="0" tIns="0" rIns="0" bIns="0" rtlCol="0" anchor="ctr"/>
          <a:lstStyle/>
          <a:p>
            <a:pPr algn="l"/>
            <a:r>
              <a:rPr lang="en-US" sz="1500" spc="300" kern="0" dirty="0">
                <a:solidFill>
                  <a:srgbClr val="C9A227"/>
                </a:solidFill>
                <a:latin typeface="Segoe UI" pitchFamily="34" charset="0"/>
                <a:ea typeface="Segoe UI" pitchFamily="34" charset="-122"/>
                <a:cs typeface="Segoe UI" pitchFamily="34" charset="-120"/>
              </a:rPr>
              <a:t>01 · PROBLEM</a:t>
            </a:r>
            <a:endParaRPr lang="en-US" sz="1500" dirty="0"/>
          </a:p>
        </p:txBody>
      </p:sp>
      <p:sp>
        <p:nvSpPr>
          <p:cNvPr id="12" name="Text 9"/>
          <p:cNvSpPr/>
          <p:nvPr/>
        </p:nvSpPr>
        <p:spPr>
          <a:xfrm>
            <a:off x="950976" y="1243584"/>
            <a:ext cx="16367760" cy="713232"/>
          </a:xfrm>
          <a:prstGeom prst="rect">
            <a:avLst/>
          </a:prstGeom>
          <a:noFill/>
          <a:ln/>
        </p:spPr>
        <p:txBody>
          <a:bodyPr wrap="square" lIns="0" tIns="0" rIns="0" bIns="0" rtlCol="0" anchor="t"/>
          <a:lstStyle/>
          <a:p>
            <a:pPr algn="l"/>
            <a:r>
              <a:rPr lang="en-US" sz="3600" b="1" spc="-75" kern="0" dirty="0">
                <a:solidFill>
                  <a:srgbClr val="F5F0EB"/>
                </a:solidFill>
                <a:latin typeface="Segoe UI" pitchFamily="34" charset="0"/>
                <a:ea typeface="Segoe UI" pitchFamily="34" charset="-122"/>
                <a:cs typeface="Segoe UI" pitchFamily="34" charset="-120"/>
              </a:rPr>
              <a:t>IT USED TO BE A BAD </a:t>
            </a:r>
            <a:pPr algn="l"/>
            <a:r>
              <a:rPr lang="en-US" sz="3600" b="1" spc="-75" kern="0" dirty="0">
                <a:solidFill>
                  <a:srgbClr val="C9A227"/>
                </a:solidFill>
                <a:latin typeface="Segoe UI" pitchFamily="34" charset="0"/>
                <a:ea typeface="Segoe UI" pitchFamily="34" charset="-122"/>
                <a:cs typeface="Segoe UI" pitchFamily="34" charset="-120"/>
              </a:rPr>
              <a:t>PARAGRAPH</a:t>
            </a:r>
            <a:pPr algn="l"/>
            <a:r>
              <a:rPr lang="en-US" sz="3600" b="1" spc="-75" kern="0" dirty="0">
                <a:solidFill>
                  <a:srgbClr val="F5F0EB"/>
                </a:solidFill>
                <a:latin typeface="Segoe UI" pitchFamily="34" charset="0"/>
                <a:ea typeface="Segoe UI" pitchFamily="34" charset="-122"/>
                <a:cs typeface="Segoe UI" pitchFamily="34" charset="-120"/>
              </a:rPr>
              <a:t>.</a:t>
            </a:r>
            <a:endParaRPr lang="en-US" sz="3600" dirty="0"/>
          </a:p>
        </p:txBody>
      </p:sp>
      <p:sp>
        <p:nvSpPr>
          <p:cNvPr id="13" name="Text 10"/>
          <p:cNvSpPr/>
          <p:nvPr/>
        </p:nvSpPr>
        <p:spPr>
          <a:xfrm>
            <a:off x="950976" y="1956816"/>
            <a:ext cx="16367760" cy="365760"/>
          </a:xfrm>
          <a:prstGeom prst="rect">
            <a:avLst/>
          </a:prstGeom>
          <a:noFill/>
          <a:ln/>
        </p:spPr>
        <p:txBody>
          <a:bodyPr wrap="square" lIns="0" tIns="0" rIns="0" bIns="0" rtlCol="0" anchor="ctr"/>
          <a:lstStyle/>
          <a:p>
            <a:r>
              <a:rPr lang="en-US" sz="2200" dirty="0">
                <a:solidFill>
                  <a:srgbClr val="D0C8B8"/>
                </a:solidFill>
                <a:latin typeface="Segoe UI" pitchFamily="34" charset="0"/>
                <a:ea typeface="Segoe UI" pitchFamily="34" charset="-122"/>
                <a:cs typeface="Segoe UI" pitchFamily="34" charset="-120"/>
              </a:rPr>
              <a:t>It is now an executed transaction.</a:t>
            </a:r>
            <a:endParaRPr lang="en-US" sz="2200" dirty="0"/>
          </a:p>
        </p:txBody>
      </p:sp>
      <p:sp>
        <p:nvSpPr>
          <p:cNvPr id="14" name="Shape 11"/>
          <p:cNvSpPr/>
          <p:nvPr/>
        </p:nvSpPr>
        <p:spPr>
          <a:xfrm>
            <a:off x="950976" y="2450592"/>
            <a:ext cx="10195560" cy="5074920"/>
          </a:xfrm>
          <a:prstGeom prst="rect">
            <a:avLst/>
          </a:prstGeom>
          <a:solidFill>
            <a:srgbClr val="0F1525"/>
          </a:solidFill>
          <a:ln w="8636">
            <a:solidFill>
              <a:srgbClr val="2D3A52"/>
            </a:solidFill>
            <a:prstDash val="solid"/>
          </a:ln>
        </p:spPr>
      </p:sp>
      <p:sp>
        <p:nvSpPr>
          <p:cNvPr id="15" name="Shape 12"/>
          <p:cNvSpPr/>
          <p:nvPr/>
        </p:nvSpPr>
        <p:spPr>
          <a:xfrm>
            <a:off x="960120" y="2889504"/>
            <a:ext cx="10177272" cy="9144"/>
          </a:xfrm>
          <a:prstGeom prst="rect">
            <a:avLst/>
          </a:prstGeom>
          <a:solidFill>
            <a:srgbClr val="1E2A3D"/>
          </a:solidFill>
          <a:ln/>
        </p:spPr>
      </p:sp>
      <p:sp>
        <p:nvSpPr>
          <p:cNvPr id="16" name="Text 13"/>
          <p:cNvSpPr/>
          <p:nvPr/>
        </p:nvSpPr>
        <p:spPr>
          <a:xfrm>
            <a:off x="1115568" y="2523744"/>
            <a:ext cx="5304434" cy="292608"/>
          </a:xfrm>
          <a:prstGeom prst="rect">
            <a:avLst/>
          </a:prstGeom>
          <a:noFill/>
          <a:ln/>
        </p:spPr>
        <p:txBody>
          <a:bodyPr wrap="square" lIns="0" tIns="0" rIns="0" bIns="0" rtlCol="0" anchor="ctr"/>
          <a:lstStyle/>
          <a:p>
            <a:r>
              <a:rPr lang="en-US" sz="1300" spc="120" kern="0" dirty="0">
                <a:solidFill>
                  <a:srgbClr val="8892B0"/>
                </a:solidFill>
                <a:latin typeface="Segoe UI" pitchFamily="34" charset="0"/>
                <a:ea typeface="Segoe UI" pitchFamily="34" charset="-122"/>
                <a:cs typeface="Segoe UI" pitchFamily="34" charset="-120"/>
              </a:rPr>
              <a:t>▸ UNGATED OUTPUT</a:t>
            </a:r>
            <a:endParaRPr lang="en-US" sz="1300" dirty="0"/>
          </a:p>
        </p:txBody>
      </p:sp>
      <p:sp>
        <p:nvSpPr>
          <p:cNvPr id="17" name="Text 14"/>
          <p:cNvSpPr/>
          <p:nvPr/>
        </p:nvSpPr>
        <p:spPr>
          <a:xfrm>
            <a:off x="6864401" y="2523744"/>
            <a:ext cx="4099255" cy="292608"/>
          </a:xfrm>
          <a:prstGeom prst="rect">
            <a:avLst/>
          </a:prstGeom>
          <a:noFill/>
          <a:ln/>
        </p:spPr>
        <p:txBody>
          <a:bodyPr wrap="square" lIns="0" tIns="0" rIns="0" bIns="0" rtlCol="0" anchor="ctr"/>
          <a:lstStyle/>
          <a:p>
            <a:pPr algn="r"/>
            <a:r>
              <a:rPr lang="en-US" sz="1300" spc="100" kern="0" dirty="0">
                <a:solidFill>
                  <a:srgbClr val="8892B0"/>
                </a:solidFill>
                <a:latin typeface="Segoe UI" pitchFamily="34" charset="0"/>
                <a:ea typeface="Segoe UI" pitchFamily="34" charset="-122"/>
                <a:cs typeface="Segoe UI" pitchFamily="34" charset="-120"/>
              </a:rPr>
              <a:t>CONF 0.94 · ALL FILTERS PASS</a:t>
            </a:r>
            <a:endParaRPr lang="en-US" sz="1300" dirty="0"/>
          </a:p>
        </p:txBody>
      </p:sp>
      <p:sp>
        <p:nvSpPr>
          <p:cNvPr id="18" name="Text 15"/>
          <p:cNvSpPr/>
          <p:nvPr/>
        </p:nvSpPr>
        <p:spPr>
          <a:xfrm>
            <a:off x="1261872" y="3108960"/>
            <a:ext cx="9555480" cy="1965960"/>
          </a:xfrm>
          <a:prstGeom prst="rect">
            <a:avLst/>
          </a:prstGeom>
          <a:noFill/>
          <a:ln/>
        </p:spPr>
        <p:txBody>
          <a:bodyPr wrap="square" lIns="0" tIns="0" rIns="0" bIns="0" rtlCol="0" anchor="ctr"/>
          <a:lstStyle/>
          <a:p>
            <a:r>
              <a:rPr lang="en-US" sz="2800" i="1" dirty="0">
                <a:solidFill>
                  <a:srgbClr val="F5F0EB"/>
                </a:solidFill>
                <a:latin typeface="Segoe UI" pitchFamily="34" charset="0"/>
                <a:ea typeface="Segoe UI" pitchFamily="34" charset="-122"/>
                <a:cs typeface="Segoe UI" pitchFamily="34" charset="-120"/>
              </a:rPr>
              <a:t>“Approved. Refund of ₹1,84,000 issued under clause 7.2 of the vendor agreement.”</a:t>
            </a:r>
            <a:endParaRPr lang="en-US" sz="2800" dirty="0"/>
          </a:p>
        </p:txBody>
      </p:sp>
      <p:sp>
        <p:nvSpPr>
          <p:cNvPr id="19" name="Shape 16"/>
          <p:cNvSpPr/>
          <p:nvPr/>
        </p:nvSpPr>
        <p:spPr>
          <a:xfrm>
            <a:off x="1261872" y="5212080"/>
            <a:ext cx="9555480" cy="9144"/>
          </a:xfrm>
          <a:prstGeom prst="rect">
            <a:avLst/>
          </a:prstGeom>
          <a:solidFill>
            <a:srgbClr val="1E2A3D"/>
          </a:solidFill>
          <a:ln/>
        </p:spPr>
      </p:sp>
      <p:sp>
        <p:nvSpPr>
          <p:cNvPr id="20" name="Text 17"/>
          <p:cNvSpPr/>
          <p:nvPr/>
        </p:nvSpPr>
        <p:spPr>
          <a:xfrm>
            <a:off x="1261872" y="5394960"/>
            <a:ext cx="9555480" cy="365760"/>
          </a:xfrm>
          <a:prstGeom prst="rect">
            <a:avLst/>
          </a:prstGeom>
          <a:noFill/>
          <a:ln/>
        </p:spPr>
        <p:txBody>
          <a:bodyPr wrap="square" lIns="0" tIns="0" rIns="0" bIns="0" rtlCol="0" anchor="ctr"/>
          <a:lstStyle/>
          <a:p>
            <a:r>
              <a:rPr lang="en-US" sz="1800" b="1" spc="140" kern="0" dirty="0">
                <a:solidFill>
                  <a:srgbClr val="D4AF37"/>
                </a:solidFill>
                <a:latin typeface="Segoe UI" pitchFamily="34" charset="0"/>
                <a:ea typeface="Segoe UI" pitchFamily="34" charset="-122"/>
                <a:cs typeface="Segoe UI" pitchFamily="34" charset="-120"/>
              </a:rPr>
              <a:t>MONEY MOVED TUESDAY.  FOUND FRIDAY.</a:t>
            </a:r>
            <a:endParaRPr lang="en-US" sz="1800" dirty="0"/>
          </a:p>
        </p:txBody>
      </p:sp>
      <p:sp>
        <p:nvSpPr>
          <p:cNvPr id="21" name="Text 18"/>
          <p:cNvSpPr/>
          <p:nvPr/>
        </p:nvSpPr>
        <p:spPr>
          <a:xfrm>
            <a:off x="1261872" y="5852160"/>
            <a:ext cx="9555480" cy="777240"/>
          </a:xfrm>
          <a:prstGeom prst="rect">
            <a:avLst/>
          </a:prstGeom>
          <a:noFill/>
          <a:ln/>
        </p:spPr>
        <p:txBody>
          <a:bodyPr wrap="square" lIns="0" tIns="0" rIns="0" bIns="0" rtlCol="0" anchor="ctr"/>
          <a:lstStyle/>
          <a:p>
            <a:r>
              <a:rPr lang="en-US" sz="1600" dirty="0">
                <a:solidFill>
                  <a:srgbClr val="D0C8B8"/>
                </a:solidFill>
                <a:latin typeface="Segoe UI" pitchFamily="34" charset="0"/>
                <a:ea typeface="Segoe UI" pitchFamily="34" charset="-122"/>
                <a:cs typeface="Segoe UI" pitchFamily="34" charset="-120"/>
              </a:rPr>
              <a:t>Every filter passed it. Oversight scored the text. The payout had already cleared.</a:t>
            </a:r>
            <a:endParaRPr lang="en-US" sz="1600" dirty="0"/>
          </a:p>
        </p:txBody>
      </p:sp>
      <p:sp>
        <p:nvSpPr>
          <p:cNvPr id="22" name="Shape 19"/>
          <p:cNvSpPr/>
          <p:nvPr/>
        </p:nvSpPr>
        <p:spPr>
          <a:xfrm>
            <a:off x="11384280" y="2450592"/>
            <a:ext cx="5952744" cy="5074920"/>
          </a:xfrm>
          <a:prstGeom prst="rect">
            <a:avLst/>
          </a:prstGeom>
          <a:solidFill>
            <a:srgbClr val="0F1525"/>
          </a:solidFill>
          <a:ln w="13970">
            <a:solidFill>
              <a:srgbClr val="C9A227"/>
            </a:solidFill>
            <a:prstDash val="solid"/>
          </a:ln>
        </p:spPr>
      </p:sp>
      <p:sp>
        <p:nvSpPr>
          <p:cNvPr id="23" name="Shape 20"/>
          <p:cNvSpPr/>
          <p:nvPr/>
        </p:nvSpPr>
        <p:spPr>
          <a:xfrm>
            <a:off x="11384280" y="2450592"/>
            <a:ext cx="5952744" cy="41148"/>
          </a:xfrm>
          <a:prstGeom prst="rect">
            <a:avLst/>
          </a:prstGeom>
          <a:solidFill>
            <a:srgbClr val="C9A227"/>
          </a:solidFill>
          <a:ln/>
        </p:spPr>
      </p:sp>
      <p:sp>
        <p:nvSpPr>
          <p:cNvPr id="24" name="Text 21"/>
          <p:cNvSpPr/>
          <p:nvPr/>
        </p:nvSpPr>
        <p:spPr>
          <a:xfrm>
            <a:off x="11658600" y="2651760"/>
            <a:ext cx="5440680" cy="292608"/>
          </a:xfrm>
          <a:prstGeom prst="rect">
            <a:avLst/>
          </a:prstGeom>
          <a:noFill/>
          <a:ln/>
        </p:spPr>
        <p:txBody>
          <a:bodyPr wrap="square" lIns="0" tIns="0" rIns="0" bIns="0" rtlCol="0" anchor="ctr"/>
          <a:lstStyle/>
          <a:p>
            <a:r>
              <a:rPr lang="en-US" sz="1400" spc="200" kern="0" dirty="0">
                <a:solidFill>
                  <a:srgbClr val="8892B0"/>
                </a:solidFill>
                <a:latin typeface="Segoe UI" pitchFamily="34" charset="0"/>
                <a:ea typeface="Segoe UI" pitchFamily="34" charset="-122"/>
                <a:cs typeface="Segoe UI" pitchFamily="34" charset="-120"/>
              </a:rPr>
              <a:t>THE COMPANY PAID</a:t>
            </a:r>
            <a:endParaRPr lang="en-US" sz="1400" dirty="0"/>
          </a:p>
        </p:txBody>
      </p:sp>
      <p:sp>
        <p:nvSpPr>
          <p:cNvPr id="25" name="Text 22"/>
          <p:cNvSpPr/>
          <p:nvPr/>
        </p:nvSpPr>
        <p:spPr>
          <a:xfrm>
            <a:off x="11658600" y="2999232"/>
            <a:ext cx="5440680" cy="960120"/>
          </a:xfrm>
          <a:prstGeom prst="rect">
            <a:avLst/>
          </a:prstGeom>
          <a:noFill/>
          <a:ln/>
        </p:spPr>
        <p:txBody>
          <a:bodyPr wrap="square" lIns="0" tIns="0" rIns="0" bIns="0" rtlCol="0" anchor="ctr"/>
          <a:lstStyle/>
          <a:p>
            <a:r>
              <a:rPr lang="en-US" sz="4800" b="1" dirty="0">
                <a:solidFill>
                  <a:srgbClr val="F5F0EB"/>
                </a:solidFill>
                <a:latin typeface="Segoe UI" pitchFamily="34" charset="0"/>
                <a:ea typeface="Segoe UI" pitchFamily="34" charset="-122"/>
                <a:cs typeface="Segoe UI" pitchFamily="34" charset="-120"/>
              </a:rPr>
              <a:t>₹1,84,000</a:t>
            </a:r>
            <a:endParaRPr lang="en-US" sz="4800" dirty="0"/>
          </a:p>
        </p:txBody>
      </p:sp>
      <p:sp>
        <p:nvSpPr>
          <p:cNvPr id="26" name="Text 23"/>
          <p:cNvSpPr/>
          <p:nvPr/>
        </p:nvSpPr>
        <p:spPr>
          <a:xfrm>
            <a:off x="11658600" y="4041648"/>
            <a:ext cx="5440680" cy="640080"/>
          </a:xfrm>
          <a:prstGeom prst="rect">
            <a:avLst/>
          </a:prstGeom>
          <a:noFill/>
          <a:ln/>
        </p:spPr>
        <p:txBody>
          <a:bodyPr wrap="square" lIns="0" tIns="0" rIns="0" bIns="0" rtlCol="0" anchor="ctr"/>
          <a:lstStyle/>
          <a:p>
            <a:r>
              <a:rPr lang="en-US" sz="2000" b="1" dirty="0">
                <a:solidFill>
                  <a:srgbClr val="C9A227"/>
                </a:solidFill>
                <a:latin typeface="Segoe UI" pitchFamily="34" charset="0"/>
                <a:ea typeface="Segoe UI" pitchFamily="34" charset="-122"/>
                <a:cs typeface="Segoe UI" pitchFamily="34" charset="-120"/>
              </a:rPr>
              <a:t>CLAUSE 7.2 DOES NOT EXIST.</a:t>
            </a:r>
            <a:endParaRPr lang="en-US" sz="2000" dirty="0"/>
          </a:p>
        </p:txBody>
      </p:sp>
      <p:sp>
        <p:nvSpPr>
          <p:cNvPr id="27" name="Text 24"/>
          <p:cNvSpPr/>
          <p:nvPr/>
        </p:nvSpPr>
        <p:spPr>
          <a:xfrm>
            <a:off x="11658600" y="4754880"/>
            <a:ext cx="5440680" cy="1234440"/>
          </a:xfrm>
          <a:prstGeom prst="rect">
            <a:avLst/>
          </a:prstGeom>
          <a:noFill/>
          <a:ln/>
        </p:spPr>
        <p:txBody>
          <a:bodyPr wrap="square" lIns="0" tIns="0" rIns="0" bIns="0" rtlCol="0" anchor="ctr"/>
          <a:lstStyle/>
          <a:p>
            <a:r>
              <a:rPr lang="en-US" sz="1600" dirty="0">
                <a:solidFill>
                  <a:srgbClr val="D0C8B8"/>
                </a:solidFill>
                <a:latin typeface="Segoe UI" pitchFamily="34" charset="0"/>
                <a:ea typeface="Segoe UI" pitchFamily="34" charset="-122"/>
                <a:cs typeface="Segoe UI" pitchFamily="34" charset="-120"/>
              </a:rPr>
              <a:t>Not a cap. Not a denial. Not “doesn’t cover.” The clause is absent from the vendor agreement.</a:t>
            </a:r>
            <a:endParaRPr lang="en-US" sz="1600" dirty="0"/>
          </a:p>
        </p:txBody>
      </p:sp>
      <p:sp>
        <p:nvSpPr>
          <p:cNvPr id="28" name="Text 25"/>
          <p:cNvSpPr/>
          <p:nvPr/>
        </p:nvSpPr>
        <p:spPr>
          <a:xfrm>
            <a:off x="11658600" y="6080760"/>
            <a:ext cx="5440680" cy="960120"/>
          </a:xfrm>
          <a:prstGeom prst="rect">
            <a:avLst/>
          </a:prstGeom>
          <a:noFill/>
          <a:ln/>
        </p:spPr>
        <p:txBody>
          <a:bodyPr wrap="square" lIns="0" tIns="0" rIns="0" bIns="0" rtlCol="0" anchor="ctr"/>
          <a:lstStyle/>
          <a:p>
            <a:r>
              <a:rPr lang="en-US" sz="1600" dirty="0">
                <a:solidFill>
                  <a:srgbClr val="F5F0EB"/>
                </a:solidFill>
                <a:latin typeface="Segoe UI" pitchFamily="34" charset="0"/>
                <a:ea typeface="Segoe UI" pitchFamily="34" charset="-122"/>
                <a:cs typeface="Segoe UI" pitchFamily="34" charset="-120"/>
              </a:rPr>
              <a:t>The customer did not lose it.</a:t>
            </a:r>
            <a:endParaRPr lang="en-US" sz="1600" dirty="0"/>
          </a:p>
          <a:p>
            <a:r>
              <a:rPr lang="en-US" sz="1600" dirty="0">
                <a:solidFill>
                  <a:srgbClr val="F5F0EB"/>
                </a:solidFill>
                <a:latin typeface="Segoe UI" pitchFamily="34" charset="0"/>
                <a:ea typeface="Segoe UI" pitchFamily="34" charset="-122"/>
                <a:cs typeface="Segoe UI" pitchFamily="34" charset="-120"/>
              </a:rPr>
              <a:t>The company wrongly paid it.</a:t>
            </a:r>
            <a:endParaRPr lang="en-US" sz="1600" dirty="0"/>
          </a:p>
        </p:txBody>
      </p:sp>
      <p:sp>
        <p:nvSpPr>
          <p:cNvPr id="29" name="Shape 26"/>
          <p:cNvSpPr/>
          <p:nvPr/>
        </p:nvSpPr>
        <p:spPr>
          <a:xfrm>
            <a:off x="950976" y="7790688"/>
            <a:ext cx="16386048" cy="1536192"/>
          </a:xfrm>
          <a:prstGeom prst="rect">
            <a:avLst/>
          </a:prstGeom>
          <a:solidFill>
            <a:srgbClr val="0F1525"/>
          </a:solidFill>
          <a:ln w="8636">
            <a:solidFill>
              <a:srgbClr val="1E2A3D"/>
            </a:solidFill>
            <a:prstDash val="solid"/>
          </a:ln>
        </p:spPr>
      </p:sp>
      <p:sp>
        <p:nvSpPr>
          <p:cNvPr id="30" name="Text 27"/>
          <p:cNvSpPr/>
          <p:nvPr/>
        </p:nvSpPr>
        <p:spPr>
          <a:xfrm>
            <a:off x="1243584" y="7936992"/>
            <a:ext cx="15819120" cy="384048"/>
          </a:xfrm>
          <a:prstGeom prst="rect">
            <a:avLst/>
          </a:prstGeom>
          <a:noFill/>
          <a:ln/>
        </p:spPr>
        <p:txBody>
          <a:bodyPr wrap="square" lIns="0" tIns="0" rIns="0" bIns="0" rtlCol="0" anchor="ctr"/>
          <a:lstStyle/>
          <a:p>
            <a:r>
              <a:rPr lang="en-US" sz="2000" b="1" spc="60" kern="0" dirty="0">
                <a:solidFill>
                  <a:srgbClr val="F5F0EB"/>
                </a:solidFill>
                <a:latin typeface="Segoe UI" pitchFamily="34" charset="0"/>
                <a:ea typeface="Segoe UI" pitchFamily="34" charset="-122"/>
                <a:cs typeface="Segoe UI" pitchFamily="34" charset="-120"/>
              </a:rPr>
              <a:t>THE SYSTEM DIDN'T FAIL. IT WAS NEVER ASKED TO PROVE ANYTHING.</a:t>
            </a:r>
            <a:endParaRPr lang="en-US" sz="2000" dirty="0"/>
          </a:p>
        </p:txBody>
      </p:sp>
      <p:sp>
        <p:nvSpPr>
          <p:cNvPr id="31" name="Text 28"/>
          <p:cNvSpPr/>
          <p:nvPr/>
        </p:nvSpPr>
        <p:spPr>
          <a:xfrm>
            <a:off x="1243584" y="8375904"/>
            <a:ext cx="15819120" cy="658368"/>
          </a:xfrm>
          <a:prstGeom prst="rect">
            <a:avLst/>
          </a:prstGeom>
          <a:noFill/>
          <a:ln/>
        </p:spPr>
        <p:txBody>
          <a:bodyPr wrap="square" lIns="0" tIns="0" rIns="0" bIns="0" rtlCol="0" anchor="ctr"/>
          <a:lstStyle/>
          <a:p>
            <a:r>
              <a:rPr lang="en-US" sz="1600" dirty="0">
                <a:solidFill>
                  <a:srgbClr val="D0C8B8"/>
                </a:solidFill>
                <a:latin typeface="Segoe UI" pitchFamily="34" charset="0"/>
                <a:ea typeface="Segoe UI" pitchFamily="34" charset="-122"/>
                <a:cs typeface="Segoe UI" pitchFamily="34" charset="-120"/>
              </a:rPr>
              <a:t>Oversight is still built for the answering era: score the text, chart the failure, review the log next week. The cost of a wrong output changed category.</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12182A">
              <a:alpha val="30000"/>
            </a:srgbClr>
          </a:solidFill>
          <a:ln/>
        </p:spPr>
      </p:sp>
      <p:sp>
        <p:nvSpPr>
          <p:cNvPr id="3" name="Text 1"/>
          <p:cNvSpPr/>
          <p:nvPr/>
        </p:nvSpPr>
        <p:spPr>
          <a:xfrm>
            <a:off x="384048" y="402336"/>
            <a:ext cx="210312" cy="228600"/>
          </a:xfrm>
          <a:prstGeom prst="rect">
            <a:avLst/>
          </a:prstGeom>
          <a:noFill/>
          <a:ln/>
        </p:spPr>
        <p:txBody>
          <a:bodyPr wrap="square" lIns="0" tIns="0" rIns="0" bIns="0" rtlCol="0" anchor="ctr"/>
          <a:lstStyle/>
          <a:p>
            <a:r>
              <a:rPr lang="en-US" sz="1200" dirty="0">
                <a:solidFill>
                  <a:srgbClr val="C9A227"/>
                </a:solidFill>
                <a:latin typeface="Segoe UI" pitchFamily="34" charset="0"/>
                <a:ea typeface="Segoe UI" pitchFamily="34" charset="-122"/>
                <a:cs typeface="Segoe UI" pitchFamily="34" charset="-120"/>
              </a:rPr>
              <a:t>◢</a:t>
            </a:r>
            <a:endParaRPr lang="en-US" sz="1200" dirty="0"/>
          </a:p>
        </p:txBody>
      </p:sp>
      <p:sp>
        <p:nvSpPr>
          <p:cNvPr id="4" name="Text 2"/>
          <p:cNvSpPr/>
          <p:nvPr/>
        </p:nvSpPr>
        <p:spPr>
          <a:xfrm>
            <a:off x="621792" y="384048"/>
            <a:ext cx="3840480" cy="265176"/>
          </a:xfrm>
          <a:prstGeom prst="rect">
            <a:avLst/>
          </a:prstGeom>
          <a:noFill/>
          <a:ln/>
        </p:spPr>
        <p:txBody>
          <a:bodyPr wrap="square" lIns="0" tIns="0" rIns="0" bIns="0" rtlCol="0" anchor="ctr"/>
          <a:lstStyle/>
          <a:p>
            <a:r>
              <a:rPr lang="en-US" sz="1500" spc="150" kern="0" dirty="0">
                <a:solidFill>
                  <a:srgbClr val="F5F0EB"/>
                </a:solidFill>
                <a:latin typeface="Segoe UI" pitchFamily="34" charset="0"/>
                <a:ea typeface="Segoe UI" pitchFamily="34" charset="-122"/>
                <a:cs typeface="Segoe UI" pitchFamily="34" charset="-120"/>
              </a:rPr>
              <a:t>CONTROLPLANE//SYS</a:t>
            </a:r>
            <a:endParaRPr lang="en-US" sz="1500" dirty="0"/>
          </a:p>
        </p:txBody>
      </p:sp>
      <p:sp>
        <p:nvSpPr>
          <p:cNvPr id="5" name="Text 3"/>
          <p:cNvSpPr/>
          <p:nvPr/>
        </p:nvSpPr>
        <p:spPr>
          <a:xfrm>
            <a:off x="11521440" y="384048"/>
            <a:ext cx="6217920" cy="265176"/>
          </a:xfrm>
          <a:prstGeom prst="rect">
            <a:avLst/>
          </a:prstGeom>
          <a:noFill/>
          <a:ln/>
        </p:spPr>
        <p:txBody>
          <a:bodyPr wrap="square" lIns="0" tIns="0" rIns="0" bIns="0" rtlCol="0" anchor="ctr"/>
          <a:lstStyle/>
          <a:p>
            <a:pPr algn="r"/>
            <a:r>
              <a:rPr lang="en-US" sz="1500" spc="150" kern="0" dirty="0">
                <a:solidFill>
                  <a:srgbClr val="8892B0"/>
                </a:solidFill>
                <a:latin typeface="Segoe UI" pitchFamily="34" charset="0"/>
                <a:ea typeface="Segoe UI" pitchFamily="34" charset="-122"/>
                <a:cs typeface="Segoe UI" pitchFamily="34" charset="-120"/>
              </a:rPr>
              <a:t>02 // INSIGHT</a:t>
            </a:r>
            <a:endParaRPr lang="en-US" sz="1500" dirty="0"/>
          </a:p>
        </p:txBody>
      </p:sp>
      <p:sp>
        <p:nvSpPr>
          <p:cNvPr id="6" name="Text 4"/>
          <p:cNvSpPr/>
          <p:nvPr/>
        </p:nvSpPr>
        <p:spPr>
          <a:xfrm>
            <a:off x="17775936" y="402336"/>
            <a:ext cx="210312" cy="228600"/>
          </a:xfrm>
          <a:prstGeom prst="rect">
            <a:avLst/>
          </a:prstGeom>
          <a:noFill/>
          <a:ln/>
        </p:spPr>
        <p:txBody>
          <a:bodyPr wrap="square" lIns="0" tIns="0" rIns="0" bIns="0" rtlCol="0" anchor="ctr"/>
          <a:lstStyle/>
          <a:p>
            <a:r>
              <a:rPr lang="en-US" sz="1200" dirty="0">
                <a:solidFill>
                  <a:srgbClr val="C9A227"/>
                </a:solidFill>
                <a:latin typeface="Segoe UI" pitchFamily="34" charset="0"/>
                <a:ea typeface="Segoe UI" pitchFamily="34" charset="-122"/>
                <a:cs typeface="Segoe UI" pitchFamily="34" charset="-120"/>
              </a:rPr>
              <a:t>◣</a:t>
            </a:r>
            <a:endParaRPr lang="en-US" sz="1200" dirty="0"/>
          </a:p>
        </p:txBody>
      </p:sp>
      <p:sp>
        <p:nvSpPr>
          <p:cNvPr id="7" name="Shape 5"/>
          <p:cNvSpPr/>
          <p:nvPr/>
        </p:nvSpPr>
        <p:spPr>
          <a:xfrm>
            <a:off x="384048" y="9747504"/>
            <a:ext cx="91440" cy="91440"/>
          </a:xfrm>
          <a:prstGeom prst="rect">
            <a:avLst/>
          </a:prstGeom>
          <a:solidFill>
            <a:srgbClr val="C9A227"/>
          </a:solidFill>
          <a:ln/>
        </p:spPr>
      </p:sp>
      <p:sp>
        <p:nvSpPr>
          <p:cNvPr id="8" name="Text 6"/>
          <p:cNvSpPr/>
          <p:nvPr/>
        </p:nvSpPr>
        <p:spPr>
          <a:xfrm>
            <a:off x="566928" y="9683496"/>
            <a:ext cx="2194560" cy="265176"/>
          </a:xfrm>
          <a:prstGeom prst="rect">
            <a:avLst/>
          </a:prstGeom>
          <a:noFill/>
          <a:ln/>
        </p:spPr>
        <p:txBody>
          <a:bodyPr wrap="square" lIns="0" tIns="0" rIns="0" bIns="0" rtlCol="0" anchor="ctr"/>
          <a:lstStyle/>
          <a:p>
            <a:r>
              <a:rPr lang="en-US" sz="1500" dirty="0">
                <a:solidFill>
                  <a:srgbClr val="8892B0"/>
                </a:solidFill>
                <a:latin typeface="Segoe UI" pitchFamily="34" charset="0"/>
                <a:ea typeface="Segoe UI" pitchFamily="34" charset="-122"/>
                <a:cs typeface="Segoe UI" pitchFamily="34" charset="-120"/>
              </a:rPr>
              <a:t>ADMIT//PROVE</a:t>
            </a:r>
            <a:endParaRPr lang="en-US" sz="1500" dirty="0"/>
          </a:p>
        </p:txBody>
      </p:sp>
      <p:sp>
        <p:nvSpPr>
          <p:cNvPr id="9" name="Text 7"/>
          <p:cNvSpPr/>
          <p:nvPr/>
        </p:nvSpPr>
        <p:spPr>
          <a:xfrm>
            <a:off x="13350240" y="9683496"/>
            <a:ext cx="4480560" cy="265176"/>
          </a:xfrm>
          <a:prstGeom prst="rect">
            <a:avLst/>
          </a:prstGeom>
          <a:noFill/>
          <a:ln/>
        </p:spPr>
        <p:txBody>
          <a:bodyPr wrap="square" lIns="0" tIns="0" rIns="0" bIns="0" rtlCol="0" anchor="ctr"/>
          <a:lstStyle/>
          <a:p>
            <a:pPr algn="r"/>
            <a:r>
              <a:rPr lang="en-US" sz="1500" spc="150" kern="0" dirty="0">
                <a:solidFill>
                  <a:srgbClr val="8892B0"/>
                </a:solidFill>
                <a:latin typeface="Segoe UI" pitchFamily="34" charset="0"/>
                <a:ea typeface="Segoe UI" pitchFamily="34" charset="-122"/>
                <a:cs typeface="Segoe UI" pitchFamily="34" charset="-120"/>
              </a:rPr>
              <a:t>AIC.2026 · PS #1 · IITGN</a:t>
            </a:r>
            <a:endParaRPr lang="en-US" sz="1500" dirty="0"/>
          </a:p>
        </p:txBody>
      </p:sp>
      <p:sp>
        <p:nvSpPr>
          <p:cNvPr id="11" name="Text 8"/>
          <p:cNvSpPr/>
          <p:nvPr/>
        </p:nvSpPr>
        <p:spPr>
          <a:xfrm>
            <a:off x="950976" y="914400"/>
            <a:ext cx="7315200" cy="265176"/>
          </a:xfrm>
          <a:prstGeom prst="rect">
            <a:avLst/>
          </a:prstGeom>
          <a:noFill/>
          <a:ln/>
        </p:spPr>
        <p:txBody>
          <a:bodyPr wrap="square" lIns="0" tIns="0" rIns="0" bIns="0" rtlCol="0" anchor="ctr"/>
          <a:lstStyle/>
          <a:p>
            <a:pPr algn="l"/>
            <a:r>
              <a:rPr lang="en-US" sz="1500" spc="300" kern="0" dirty="0">
                <a:solidFill>
                  <a:srgbClr val="C9A227"/>
                </a:solidFill>
                <a:latin typeface="Segoe UI" pitchFamily="34" charset="0"/>
                <a:ea typeface="Segoe UI" pitchFamily="34" charset="-122"/>
                <a:cs typeface="Segoe UI" pitchFamily="34" charset="-120"/>
              </a:rPr>
              <a:t>02 · INSIGHT</a:t>
            </a:r>
            <a:endParaRPr lang="en-US" sz="1500" dirty="0"/>
          </a:p>
        </p:txBody>
      </p:sp>
      <p:sp>
        <p:nvSpPr>
          <p:cNvPr id="12" name="Text 9"/>
          <p:cNvSpPr/>
          <p:nvPr/>
        </p:nvSpPr>
        <p:spPr>
          <a:xfrm>
            <a:off x="950976" y="1243584"/>
            <a:ext cx="16367760" cy="640080"/>
          </a:xfrm>
          <a:prstGeom prst="rect">
            <a:avLst/>
          </a:prstGeom>
          <a:noFill/>
          <a:ln/>
        </p:spPr>
        <p:txBody>
          <a:bodyPr wrap="square" lIns="0" tIns="0" rIns="0" bIns="0" rtlCol="0" anchor="t"/>
          <a:lstStyle/>
          <a:p>
            <a:pPr algn="l"/>
            <a:r>
              <a:rPr lang="en-US" sz="3600" b="1" spc="-75" kern="0" dirty="0">
                <a:solidFill>
                  <a:srgbClr val="F5F0EB"/>
                </a:solidFill>
                <a:latin typeface="Segoe UI" pitchFamily="34" charset="0"/>
                <a:ea typeface="Segoe UI" pitchFamily="34" charset="-122"/>
                <a:cs typeface="Segoe UI" pitchFamily="34" charset="-120"/>
              </a:rPr>
              <a:t>EVERYONE WATCHES THE EXIT.</a:t>
            </a:r>
            <a:endParaRPr lang="en-US" sz="3600" dirty="0"/>
          </a:p>
        </p:txBody>
      </p:sp>
      <p:sp>
        <p:nvSpPr>
          <p:cNvPr id="13" name="Text 10"/>
          <p:cNvSpPr/>
          <p:nvPr/>
        </p:nvSpPr>
        <p:spPr>
          <a:xfrm>
            <a:off x="950976" y="1920240"/>
            <a:ext cx="16367760" cy="384048"/>
          </a:xfrm>
          <a:prstGeom prst="rect">
            <a:avLst/>
          </a:prstGeom>
          <a:noFill/>
          <a:ln/>
        </p:spPr>
        <p:txBody>
          <a:bodyPr wrap="square" lIns="0" tIns="0" rIns="0" bIns="0" rtlCol="0" anchor="ctr"/>
          <a:lstStyle/>
          <a:p>
            <a:r>
              <a:rPr lang="en-US" sz="2400" dirty="0">
                <a:solidFill>
                  <a:srgbClr val="C9A227"/>
                </a:solidFill>
                <a:latin typeface="Segoe UI" pitchFamily="34" charset="0"/>
                <a:ea typeface="Segoe UI" pitchFamily="34" charset="-122"/>
                <a:cs typeface="Segoe UI" pitchFamily="34" charset="-120"/>
              </a:rPr>
              <a:t>Nobody records the entrance.</a:t>
            </a:r>
            <a:endParaRPr lang="en-US" sz="2400" dirty="0"/>
          </a:p>
        </p:txBody>
      </p:sp>
      <p:sp>
        <p:nvSpPr>
          <p:cNvPr id="14" name="Shape 11"/>
          <p:cNvSpPr/>
          <p:nvPr/>
        </p:nvSpPr>
        <p:spPr>
          <a:xfrm>
            <a:off x="950976" y="2542032"/>
            <a:ext cx="5394960" cy="5486400"/>
          </a:xfrm>
          <a:prstGeom prst="rect">
            <a:avLst/>
          </a:prstGeom>
          <a:solidFill>
            <a:srgbClr val="0F1525"/>
          </a:solidFill>
          <a:ln w="8636">
            <a:solidFill>
              <a:srgbClr val="1E2A3D"/>
            </a:solidFill>
            <a:prstDash val="solid"/>
          </a:ln>
        </p:spPr>
      </p:sp>
      <p:sp>
        <p:nvSpPr>
          <p:cNvPr id="15" name="Shape 12"/>
          <p:cNvSpPr/>
          <p:nvPr/>
        </p:nvSpPr>
        <p:spPr>
          <a:xfrm>
            <a:off x="950976" y="2542032"/>
            <a:ext cx="5394960" cy="41148"/>
          </a:xfrm>
          <a:prstGeom prst="rect">
            <a:avLst/>
          </a:prstGeom>
          <a:solidFill>
            <a:srgbClr val="C9A227"/>
          </a:solidFill>
          <a:ln/>
        </p:spPr>
      </p:sp>
      <p:sp>
        <p:nvSpPr>
          <p:cNvPr id="16" name="Text 13"/>
          <p:cNvSpPr/>
          <p:nvPr/>
        </p:nvSpPr>
        <p:spPr>
          <a:xfrm>
            <a:off x="1243584" y="2788920"/>
            <a:ext cx="4809744" cy="365760"/>
          </a:xfrm>
          <a:prstGeom prst="rect">
            <a:avLst/>
          </a:prstGeom>
          <a:noFill/>
          <a:ln/>
        </p:spPr>
        <p:txBody>
          <a:bodyPr wrap="square" lIns="0" tIns="0" rIns="0" bIns="0" rtlCol="0" anchor="ctr"/>
          <a:lstStyle/>
          <a:p>
            <a:r>
              <a:rPr lang="en-US" sz="1800" b="1" spc="200" kern="0" dirty="0">
                <a:solidFill>
                  <a:srgbClr val="C9A227"/>
                </a:solidFill>
                <a:latin typeface="Segoe UI" pitchFamily="34" charset="0"/>
                <a:ea typeface="Segoe UI" pitchFamily="34" charset="-122"/>
                <a:cs typeface="Segoe UI" pitchFamily="34" charset="-120"/>
              </a:rPr>
              <a:t>01</a:t>
            </a:r>
            <a:endParaRPr lang="en-US" sz="1800" dirty="0"/>
          </a:p>
        </p:txBody>
      </p:sp>
      <p:sp>
        <p:nvSpPr>
          <p:cNvPr id="17" name="Text 14"/>
          <p:cNvSpPr/>
          <p:nvPr/>
        </p:nvSpPr>
        <p:spPr>
          <a:xfrm>
            <a:off x="1243584" y="3246120"/>
            <a:ext cx="4809744" cy="1234440"/>
          </a:xfrm>
          <a:prstGeom prst="rect">
            <a:avLst/>
          </a:prstGeom>
          <a:noFill/>
          <a:ln/>
        </p:spPr>
        <p:txBody>
          <a:bodyPr wrap="square" lIns="0" tIns="0" rIns="0" bIns="0" rtlCol="0" anchor="ctr"/>
          <a:lstStyle/>
          <a:p>
            <a:r>
              <a:rPr lang="en-US" sz="2200" b="1" dirty="0">
                <a:solidFill>
                  <a:srgbClr val="F5F0EB"/>
                </a:solidFill>
                <a:latin typeface="Segoe UI" pitchFamily="34" charset="0"/>
                <a:ea typeface="Segoe UI" pitchFamily="34" charset="-122"/>
                <a:cs typeface="Segoe UI" pitchFamily="34" charset="-120"/>
              </a:rPr>
              <a:t>RECEIPTS, NOT THE MODEL'S MIND</a:t>
            </a:r>
            <a:endParaRPr lang="en-US" sz="2200" dirty="0"/>
          </a:p>
        </p:txBody>
      </p:sp>
      <p:sp>
        <p:nvSpPr>
          <p:cNvPr id="18" name="Text 15"/>
          <p:cNvSpPr/>
          <p:nvPr/>
        </p:nvSpPr>
        <p:spPr>
          <a:xfrm>
            <a:off x="1243584" y="4617720"/>
            <a:ext cx="4809744" cy="2926080"/>
          </a:xfrm>
          <a:prstGeom prst="rect">
            <a:avLst/>
          </a:prstGeom>
          <a:noFill/>
          <a:ln/>
        </p:spPr>
        <p:txBody>
          <a:bodyPr wrap="square" lIns="0" tIns="0" rIns="0" bIns="0" rtlCol="0" anchor="t"/>
          <a:lstStyle/>
          <a:p>
            <a:r>
              <a:rPr lang="en-US" sz="1600" dirty="0">
                <a:solidFill>
                  <a:srgbClr val="D0C8B8"/>
                </a:solidFill>
                <a:latin typeface="Segoe UI" pitchFamily="34" charset="0"/>
                <a:ea typeface="Segoe UI" pitchFamily="34" charset="-122"/>
                <a:cs typeface="Segoe UI" pitchFamily="34" charset="-120"/>
              </a:rPr>
              <a:t>We sit at the I/O layer. Evidence is captured at context assembly — source, ACL, hash, offsets — then frozen. The model cannot invent a span after the fact.</a:t>
            </a:r>
            <a:endParaRPr lang="en-US" sz="1600" dirty="0"/>
          </a:p>
        </p:txBody>
      </p:sp>
      <p:sp>
        <p:nvSpPr>
          <p:cNvPr id="19" name="Shape 16"/>
          <p:cNvSpPr/>
          <p:nvPr/>
        </p:nvSpPr>
        <p:spPr>
          <a:xfrm>
            <a:off x="6528816" y="2542032"/>
            <a:ext cx="5394960" cy="5486400"/>
          </a:xfrm>
          <a:prstGeom prst="rect">
            <a:avLst/>
          </a:prstGeom>
          <a:solidFill>
            <a:srgbClr val="0F1525"/>
          </a:solidFill>
          <a:ln w="8636">
            <a:solidFill>
              <a:srgbClr val="1E2A3D"/>
            </a:solidFill>
            <a:prstDash val="solid"/>
          </a:ln>
        </p:spPr>
      </p:sp>
      <p:sp>
        <p:nvSpPr>
          <p:cNvPr id="20" name="Shape 17"/>
          <p:cNvSpPr/>
          <p:nvPr/>
        </p:nvSpPr>
        <p:spPr>
          <a:xfrm>
            <a:off x="6528816" y="2542032"/>
            <a:ext cx="5394960" cy="41148"/>
          </a:xfrm>
          <a:prstGeom prst="rect">
            <a:avLst/>
          </a:prstGeom>
          <a:solidFill>
            <a:srgbClr val="C9A227"/>
          </a:solidFill>
          <a:ln/>
        </p:spPr>
      </p:sp>
      <p:sp>
        <p:nvSpPr>
          <p:cNvPr id="21" name="Text 18"/>
          <p:cNvSpPr/>
          <p:nvPr/>
        </p:nvSpPr>
        <p:spPr>
          <a:xfrm>
            <a:off x="6821424" y="2788920"/>
            <a:ext cx="4809744" cy="365760"/>
          </a:xfrm>
          <a:prstGeom prst="rect">
            <a:avLst/>
          </a:prstGeom>
          <a:noFill/>
          <a:ln/>
        </p:spPr>
        <p:txBody>
          <a:bodyPr wrap="square" lIns="0" tIns="0" rIns="0" bIns="0" rtlCol="0" anchor="ctr"/>
          <a:lstStyle/>
          <a:p>
            <a:r>
              <a:rPr lang="en-US" sz="1800" b="1" spc="200" kern="0" dirty="0">
                <a:solidFill>
                  <a:srgbClr val="C9A227"/>
                </a:solidFill>
                <a:latin typeface="Segoe UI" pitchFamily="34" charset="0"/>
                <a:ea typeface="Segoe UI" pitchFamily="34" charset="-122"/>
                <a:cs typeface="Segoe UI" pitchFamily="34" charset="-120"/>
              </a:rPr>
              <a:t>02</a:t>
            </a:r>
            <a:endParaRPr lang="en-US" sz="1800" dirty="0"/>
          </a:p>
        </p:txBody>
      </p:sp>
      <p:sp>
        <p:nvSpPr>
          <p:cNvPr id="22" name="Text 19"/>
          <p:cNvSpPr/>
          <p:nvPr/>
        </p:nvSpPr>
        <p:spPr>
          <a:xfrm>
            <a:off x="6821424" y="3246120"/>
            <a:ext cx="4809744" cy="1234440"/>
          </a:xfrm>
          <a:prstGeom prst="rect">
            <a:avLst/>
          </a:prstGeom>
          <a:noFill/>
          <a:ln/>
        </p:spPr>
        <p:txBody>
          <a:bodyPr wrap="square" lIns="0" tIns="0" rIns="0" bIns="0" rtlCol="0" anchor="ctr"/>
          <a:lstStyle/>
          <a:p>
            <a:r>
              <a:rPr lang="en-US" sz="2200" b="1" dirty="0">
                <a:solidFill>
                  <a:srgbClr val="F5F0EB"/>
                </a:solidFill>
                <a:latin typeface="Segoe UI" pitchFamily="34" charset="0"/>
                <a:ea typeface="Segoe UI" pitchFamily="34" charset="-122"/>
                <a:cs typeface="Segoe UI" pitchFamily="34" charset="-120"/>
              </a:rPr>
              <a:t>SET-MEMBERSHIP, NOT JUDGMENT</a:t>
            </a:r>
            <a:endParaRPr lang="en-US" sz="2200" dirty="0"/>
          </a:p>
        </p:txBody>
      </p:sp>
      <p:sp>
        <p:nvSpPr>
          <p:cNvPr id="23" name="Text 20"/>
          <p:cNvSpPr/>
          <p:nvPr/>
        </p:nvSpPr>
        <p:spPr>
          <a:xfrm>
            <a:off x="6821424" y="4617720"/>
            <a:ext cx="4809744" cy="2926080"/>
          </a:xfrm>
          <a:prstGeom prst="rect">
            <a:avLst/>
          </a:prstGeom>
          <a:noFill/>
          <a:ln/>
        </p:spPr>
        <p:txBody>
          <a:bodyPr wrap="square" lIns="0" tIns="0" rIns="0" bIns="0" rtlCol="0" anchor="t"/>
          <a:lstStyle/>
          <a:p>
            <a:r>
              <a:rPr lang="en-US" sz="1600" dirty="0">
                <a:solidFill>
                  <a:srgbClr val="D0C8B8"/>
                </a:solidFill>
                <a:latin typeface="Segoe UI" pitchFamily="34" charset="0"/>
                <a:ea typeface="Segoe UI" pitchFamily="34" charset="-122"/>
                <a:cs typeface="Segoe UI" pitchFamily="34" charset="-120"/>
              </a:rPr>
              <a:t>The verdict is a set-membership test against evidence captured before generation. Not an opinion about finished text. Binding either exists or it does not.</a:t>
            </a:r>
            <a:endParaRPr lang="en-US" sz="1600" dirty="0"/>
          </a:p>
        </p:txBody>
      </p:sp>
      <p:sp>
        <p:nvSpPr>
          <p:cNvPr id="24" name="Shape 21"/>
          <p:cNvSpPr/>
          <p:nvPr/>
        </p:nvSpPr>
        <p:spPr>
          <a:xfrm>
            <a:off x="12106656" y="2542032"/>
            <a:ext cx="5394960" cy="5486400"/>
          </a:xfrm>
          <a:prstGeom prst="rect">
            <a:avLst/>
          </a:prstGeom>
          <a:solidFill>
            <a:srgbClr val="0F1525"/>
          </a:solidFill>
          <a:ln w="8636">
            <a:solidFill>
              <a:srgbClr val="1E2A3D"/>
            </a:solidFill>
            <a:prstDash val="solid"/>
          </a:ln>
        </p:spPr>
      </p:sp>
      <p:sp>
        <p:nvSpPr>
          <p:cNvPr id="25" name="Shape 22"/>
          <p:cNvSpPr/>
          <p:nvPr/>
        </p:nvSpPr>
        <p:spPr>
          <a:xfrm>
            <a:off x="12106656" y="2542032"/>
            <a:ext cx="5394960" cy="41148"/>
          </a:xfrm>
          <a:prstGeom prst="rect">
            <a:avLst/>
          </a:prstGeom>
          <a:solidFill>
            <a:srgbClr val="C9A227"/>
          </a:solidFill>
          <a:ln/>
        </p:spPr>
      </p:sp>
      <p:sp>
        <p:nvSpPr>
          <p:cNvPr id="26" name="Text 23"/>
          <p:cNvSpPr/>
          <p:nvPr/>
        </p:nvSpPr>
        <p:spPr>
          <a:xfrm>
            <a:off x="12399264" y="2788920"/>
            <a:ext cx="4809744" cy="365760"/>
          </a:xfrm>
          <a:prstGeom prst="rect">
            <a:avLst/>
          </a:prstGeom>
          <a:noFill/>
          <a:ln/>
        </p:spPr>
        <p:txBody>
          <a:bodyPr wrap="square" lIns="0" tIns="0" rIns="0" bIns="0" rtlCol="0" anchor="ctr"/>
          <a:lstStyle/>
          <a:p>
            <a:r>
              <a:rPr lang="en-US" sz="1800" b="1" spc="200" kern="0" dirty="0">
                <a:solidFill>
                  <a:srgbClr val="C9A227"/>
                </a:solidFill>
                <a:latin typeface="Segoe UI" pitchFamily="34" charset="0"/>
                <a:ea typeface="Segoe UI" pitchFamily="34" charset="-122"/>
                <a:cs typeface="Segoe UI" pitchFamily="34" charset="-120"/>
              </a:rPr>
              <a:t>03</a:t>
            </a:r>
            <a:endParaRPr lang="en-US" sz="1800" dirty="0"/>
          </a:p>
        </p:txBody>
      </p:sp>
      <p:sp>
        <p:nvSpPr>
          <p:cNvPr id="27" name="Text 24"/>
          <p:cNvSpPr/>
          <p:nvPr/>
        </p:nvSpPr>
        <p:spPr>
          <a:xfrm>
            <a:off x="12399264" y="3246120"/>
            <a:ext cx="4809744" cy="1234440"/>
          </a:xfrm>
          <a:prstGeom prst="rect">
            <a:avLst/>
          </a:prstGeom>
          <a:noFill/>
          <a:ln/>
        </p:spPr>
        <p:txBody>
          <a:bodyPr wrap="square" lIns="0" tIns="0" rIns="0" bIns="0" rtlCol="0" anchor="ctr"/>
          <a:lstStyle/>
          <a:p>
            <a:r>
              <a:rPr lang="en-US" sz="2200" b="1" dirty="0">
                <a:solidFill>
                  <a:srgbClr val="F5F0EB"/>
                </a:solidFill>
                <a:latin typeface="Segoe UI" pitchFamily="34" charset="0"/>
                <a:ea typeface="Segoe UI" pitchFamily="34" charset="-122"/>
                <a:cs typeface="Segoe UI" pitchFamily="34" charset="-120"/>
              </a:rPr>
              <a:t>DEFAULT: UNSUPPORTED</a:t>
            </a:r>
            <a:endParaRPr lang="en-US" sz="2200" dirty="0"/>
          </a:p>
        </p:txBody>
      </p:sp>
      <p:sp>
        <p:nvSpPr>
          <p:cNvPr id="28" name="Text 25"/>
          <p:cNvSpPr/>
          <p:nvPr/>
        </p:nvSpPr>
        <p:spPr>
          <a:xfrm>
            <a:off x="12399264" y="4617720"/>
            <a:ext cx="4809744" cy="2926080"/>
          </a:xfrm>
          <a:prstGeom prst="rect">
            <a:avLst/>
          </a:prstGeom>
          <a:noFill/>
          <a:ln/>
        </p:spPr>
        <p:txBody>
          <a:bodyPr wrap="square" lIns="0" tIns="0" rIns="0" bIns="0" rtlCol="0" anchor="t"/>
          <a:lstStyle/>
          <a:p>
            <a:r>
              <a:rPr lang="en-US" sz="1600" dirty="0">
                <a:solidFill>
                  <a:srgbClr val="D0C8B8"/>
                </a:solidFill>
                <a:latin typeface="Segoe UI" pitchFamily="34" charset="0"/>
                <a:ea typeface="Segoe UI" pitchFamily="34" charset="-122"/>
                <a:cs typeface="Segoe UI" pitchFamily="34" charset="-120"/>
              </a:rPr>
              <a:t>A claim must earn SUPPORTED. Nothing passes because nobody objected. Absence of evidence is not conflicting evidence — the claim stays unproven.</a:t>
            </a:r>
            <a:endParaRPr lang="en-US" sz="1600" dirty="0"/>
          </a:p>
        </p:txBody>
      </p:sp>
      <p:sp>
        <p:nvSpPr>
          <p:cNvPr id="29" name="Text 26"/>
          <p:cNvSpPr/>
          <p:nvPr/>
        </p:nvSpPr>
        <p:spPr>
          <a:xfrm>
            <a:off x="950976" y="8229600"/>
            <a:ext cx="16386048" cy="329184"/>
          </a:xfrm>
          <a:prstGeom prst="rect">
            <a:avLst/>
          </a:prstGeom>
          <a:noFill/>
          <a:ln/>
        </p:spPr>
        <p:txBody>
          <a:bodyPr wrap="square" lIns="0" tIns="0" rIns="0" bIns="0" rtlCol="0" anchor="ctr"/>
          <a:lstStyle/>
          <a:p>
            <a:r>
              <a:rPr lang="en-US" sz="1600" dirty="0">
                <a:solidFill>
                  <a:srgbClr val="8892B0"/>
                </a:solidFill>
                <a:latin typeface="Segoe UI" pitchFamily="34" charset="0"/>
                <a:ea typeface="Segoe UI" pitchFamily="34" charset="-122"/>
                <a:cs typeface="Segoe UI" pitchFamily="34" charset="-120"/>
              </a:rPr>
              <a:t>We read the model's receipts, not the model's mind.  ·  Oversight becomes authorising actions.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12182A">
              <a:alpha val="30000"/>
            </a:srgbClr>
          </a:solidFill>
          <a:ln/>
        </p:spPr>
      </p:sp>
      <p:sp>
        <p:nvSpPr>
          <p:cNvPr id="3" name="Text 1"/>
          <p:cNvSpPr/>
          <p:nvPr/>
        </p:nvSpPr>
        <p:spPr>
          <a:xfrm>
            <a:off x="384048" y="402336"/>
            <a:ext cx="210312" cy="228600"/>
          </a:xfrm>
          <a:prstGeom prst="rect">
            <a:avLst/>
          </a:prstGeom>
          <a:noFill/>
          <a:ln/>
        </p:spPr>
        <p:txBody>
          <a:bodyPr wrap="square" lIns="0" tIns="0" rIns="0" bIns="0" rtlCol="0" anchor="ctr"/>
          <a:lstStyle/>
          <a:p>
            <a:r>
              <a:rPr lang="en-US" sz="1200" dirty="0">
                <a:solidFill>
                  <a:srgbClr val="C9A227"/>
                </a:solidFill>
                <a:latin typeface="Segoe UI" pitchFamily="34" charset="0"/>
                <a:ea typeface="Segoe UI" pitchFamily="34" charset="-122"/>
                <a:cs typeface="Segoe UI" pitchFamily="34" charset="-120"/>
              </a:rPr>
              <a:t>◢</a:t>
            </a:r>
            <a:endParaRPr lang="en-US" sz="1200" dirty="0"/>
          </a:p>
        </p:txBody>
      </p:sp>
      <p:sp>
        <p:nvSpPr>
          <p:cNvPr id="4" name="Text 2"/>
          <p:cNvSpPr/>
          <p:nvPr/>
        </p:nvSpPr>
        <p:spPr>
          <a:xfrm>
            <a:off x="621792" y="384048"/>
            <a:ext cx="3840480" cy="265176"/>
          </a:xfrm>
          <a:prstGeom prst="rect">
            <a:avLst/>
          </a:prstGeom>
          <a:noFill/>
          <a:ln/>
        </p:spPr>
        <p:txBody>
          <a:bodyPr wrap="square" lIns="0" tIns="0" rIns="0" bIns="0" rtlCol="0" anchor="ctr"/>
          <a:lstStyle/>
          <a:p>
            <a:r>
              <a:rPr lang="en-US" sz="1500" spc="150" kern="0" dirty="0">
                <a:solidFill>
                  <a:srgbClr val="F5F0EB"/>
                </a:solidFill>
                <a:latin typeface="Segoe UI" pitchFamily="34" charset="0"/>
                <a:ea typeface="Segoe UI" pitchFamily="34" charset="-122"/>
                <a:cs typeface="Segoe UI" pitchFamily="34" charset="-120"/>
              </a:rPr>
              <a:t>CONTROLPLANE//SYS</a:t>
            </a:r>
            <a:endParaRPr lang="en-US" sz="1500" dirty="0"/>
          </a:p>
        </p:txBody>
      </p:sp>
      <p:sp>
        <p:nvSpPr>
          <p:cNvPr id="5" name="Text 3"/>
          <p:cNvSpPr/>
          <p:nvPr/>
        </p:nvSpPr>
        <p:spPr>
          <a:xfrm>
            <a:off x="11521440" y="384048"/>
            <a:ext cx="6217920" cy="265176"/>
          </a:xfrm>
          <a:prstGeom prst="rect">
            <a:avLst/>
          </a:prstGeom>
          <a:noFill/>
          <a:ln/>
        </p:spPr>
        <p:txBody>
          <a:bodyPr wrap="square" lIns="0" tIns="0" rIns="0" bIns="0" rtlCol="0" anchor="ctr"/>
          <a:lstStyle/>
          <a:p>
            <a:pPr algn="r"/>
            <a:r>
              <a:rPr lang="en-US" sz="1500" spc="150" kern="0" dirty="0">
                <a:solidFill>
                  <a:srgbClr val="8892B0"/>
                </a:solidFill>
                <a:latin typeface="Segoe UI" pitchFamily="34" charset="0"/>
                <a:ea typeface="Segoe UI" pitchFamily="34" charset="-122"/>
                <a:cs typeface="Segoe UI" pitchFamily="34" charset="-120"/>
              </a:rPr>
              <a:t>03 // PRIMITIVE</a:t>
            </a:r>
            <a:endParaRPr lang="en-US" sz="1500" dirty="0"/>
          </a:p>
        </p:txBody>
      </p:sp>
      <p:sp>
        <p:nvSpPr>
          <p:cNvPr id="6" name="Text 4"/>
          <p:cNvSpPr/>
          <p:nvPr/>
        </p:nvSpPr>
        <p:spPr>
          <a:xfrm>
            <a:off x="17775936" y="402336"/>
            <a:ext cx="210312" cy="228600"/>
          </a:xfrm>
          <a:prstGeom prst="rect">
            <a:avLst/>
          </a:prstGeom>
          <a:noFill/>
          <a:ln/>
        </p:spPr>
        <p:txBody>
          <a:bodyPr wrap="square" lIns="0" tIns="0" rIns="0" bIns="0" rtlCol="0" anchor="ctr"/>
          <a:lstStyle/>
          <a:p>
            <a:r>
              <a:rPr lang="en-US" sz="1200" dirty="0">
                <a:solidFill>
                  <a:srgbClr val="C9A227"/>
                </a:solidFill>
                <a:latin typeface="Segoe UI" pitchFamily="34" charset="0"/>
                <a:ea typeface="Segoe UI" pitchFamily="34" charset="-122"/>
                <a:cs typeface="Segoe UI" pitchFamily="34" charset="-120"/>
              </a:rPr>
              <a:t>◣</a:t>
            </a:r>
            <a:endParaRPr lang="en-US" sz="1200" dirty="0"/>
          </a:p>
        </p:txBody>
      </p:sp>
      <p:sp>
        <p:nvSpPr>
          <p:cNvPr id="7" name="Shape 5"/>
          <p:cNvSpPr/>
          <p:nvPr/>
        </p:nvSpPr>
        <p:spPr>
          <a:xfrm>
            <a:off x="384048" y="9747504"/>
            <a:ext cx="91440" cy="91440"/>
          </a:xfrm>
          <a:prstGeom prst="rect">
            <a:avLst/>
          </a:prstGeom>
          <a:solidFill>
            <a:srgbClr val="C9A227"/>
          </a:solidFill>
          <a:ln/>
        </p:spPr>
      </p:sp>
      <p:sp>
        <p:nvSpPr>
          <p:cNvPr id="8" name="Text 6"/>
          <p:cNvSpPr/>
          <p:nvPr/>
        </p:nvSpPr>
        <p:spPr>
          <a:xfrm>
            <a:off x="566928" y="9683496"/>
            <a:ext cx="2194560" cy="265176"/>
          </a:xfrm>
          <a:prstGeom prst="rect">
            <a:avLst/>
          </a:prstGeom>
          <a:noFill/>
          <a:ln/>
        </p:spPr>
        <p:txBody>
          <a:bodyPr wrap="square" lIns="0" tIns="0" rIns="0" bIns="0" rtlCol="0" anchor="ctr"/>
          <a:lstStyle/>
          <a:p>
            <a:r>
              <a:rPr lang="en-US" sz="1500" dirty="0">
                <a:solidFill>
                  <a:srgbClr val="8892B0"/>
                </a:solidFill>
                <a:latin typeface="Segoe UI" pitchFamily="34" charset="0"/>
                <a:ea typeface="Segoe UI" pitchFamily="34" charset="-122"/>
                <a:cs typeface="Segoe UI" pitchFamily="34" charset="-120"/>
              </a:rPr>
              <a:t>ADMIT//PROVE</a:t>
            </a:r>
            <a:endParaRPr lang="en-US" sz="1500" dirty="0"/>
          </a:p>
        </p:txBody>
      </p:sp>
      <p:sp>
        <p:nvSpPr>
          <p:cNvPr id="9" name="Text 7"/>
          <p:cNvSpPr/>
          <p:nvPr/>
        </p:nvSpPr>
        <p:spPr>
          <a:xfrm>
            <a:off x="13350240" y="9683496"/>
            <a:ext cx="4480560" cy="265176"/>
          </a:xfrm>
          <a:prstGeom prst="rect">
            <a:avLst/>
          </a:prstGeom>
          <a:noFill/>
          <a:ln/>
        </p:spPr>
        <p:txBody>
          <a:bodyPr wrap="square" lIns="0" tIns="0" rIns="0" bIns="0" rtlCol="0" anchor="ctr"/>
          <a:lstStyle/>
          <a:p>
            <a:pPr algn="r"/>
            <a:r>
              <a:rPr lang="en-US" sz="1500" spc="150" kern="0" dirty="0">
                <a:solidFill>
                  <a:srgbClr val="8892B0"/>
                </a:solidFill>
                <a:latin typeface="Segoe UI" pitchFamily="34" charset="0"/>
                <a:ea typeface="Segoe UI" pitchFamily="34" charset="-122"/>
                <a:cs typeface="Segoe UI" pitchFamily="34" charset="-120"/>
              </a:rPr>
              <a:t>AIC.2026 · PS #1 · IITGN</a:t>
            </a:r>
            <a:endParaRPr lang="en-US" sz="1500" dirty="0"/>
          </a:p>
        </p:txBody>
      </p:sp>
      <p:sp>
        <p:nvSpPr>
          <p:cNvPr id="11" name="Text 8"/>
          <p:cNvSpPr/>
          <p:nvPr/>
        </p:nvSpPr>
        <p:spPr>
          <a:xfrm>
            <a:off x="950976" y="914400"/>
            <a:ext cx="9144000" cy="265176"/>
          </a:xfrm>
          <a:prstGeom prst="rect">
            <a:avLst/>
          </a:prstGeom>
          <a:noFill/>
          <a:ln/>
        </p:spPr>
        <p:txBody>
          <a:bodyPr wrap="square" lIns="0" tIns="0" rIns="0" bIns="0" rtlCol="0" anchor="ctr"/>
          <a:lstStyle/>
          <a:p>
            <a:pPr algn="l"/>
            <a:r>
              <a:rPr lang="en-US" sz="1500" spc="300" kern="0" dirty="0">
                <a:solidFill>
                  <a:srgbClr val="C9A227"/>
                </a:solidFill>
                <a:latin typeface="Segoe UI" pitchFamily="34" charset="0"/>
                <a:ea typeface="Segoe UI" pitchFamily="34" charset="-122"/>
                <a:cs typeface="Segoe UI" pitchFamily="34" charset="-120"/>
              </a:rPr>
              <a:t>03 · PRIMITIVE</a:t>
            </a:r>
            <a:endParaRPr lang="en-US" sz="1500" dirty="0"/>
          </a:p>
        </p:txBody>
      </p:sp>
      <p:sp>
        <p:nvSpPr>
          <p:cNvPr id="12" name="Text 9"/>
          <p:cNvSpPr/>
          <p:nvPr/>
        </p:nvSpPr>
        <p:spPr>
          <a:xfrm>
            <a:off x="950976" y="1225296"/>
            <a:ext cx="16367760" cy="566928"/>
          </a:xfrm>
          <a:prstGeom prst="rect">
            <a:avLst/>
          </a:prstGeom>
          <a:noFill/>
          <a:ln/>
        </p:spPr>
        <p:txBody>
          <a:bodyPr wrap="square" lIns="0" tIns="0" rIns="0" bIns="0" rtlCol="0" anchor="t"/>
          <a:lstStyle/>
          <a:p>
            <a:pPr algn="l"/>
            <a:r>
              <a:rPr lang="en-US" sz="3200" b="1" spc="-75" kern="0" dirty="0">
                <a:solidFill>
                  <a:srgbClr val="F5F0EB"/>
                </a:solidFill>
                <a:latin typeface="Segoe UI" pitchFamily="34" charset="0"/>
                <a:ea typeface="Segoe UI" pitchFamily="34" charset="-122"/>
                <a:cs typeface="Segoe UI" pitchFamily="34" charset="-120"/>
              </a:rPr>
              <a:t>AN AI RESPONSE IS A SET OF </a:t>
            </a:r>
            <a:pPr algn="l"/>
            <a:r>
              <a:rPr lang="en-US" sz="3200" b="1" spc="-75" kern="0" dirty="0">
                <a:solidFill>
                  <a:srgbClr val="C9A227"/>
                </a:solidFill>
                <a:latin typeface="Segoe UI" pitchFamily="34" charset="0"/>
                <a:ea typeface="Segoe UI" pitchFamily="34" charset="-122"/>
                <a:cs typeface="Segoe UI" pitchFamily="34" charset="-120"/>
              </a:rPr>
              <a:t>CLAIMS</a:t>
            </a:r>
            <a:pPr algn="l"/>
            <a:r>
              <a:rPr lang="en-US" sz="3200" b="1" spc="-75" kern="0" dirty="0">
                <a:solidFill>
                  <a:srgbClr val="F5F0EB"/>
                </a:solidFill>
                <a:latin typeface="Segoe UI" pitchFamily="34" charset="0"/>
                <a:ea typeface="Segoe UI" pitchFamily="34" charset="-122"/>
                <a:cs typeface="Segoe UI" pitchFamily="34" charset="-120"/>
              </a:rPr>
              <a:t>.</a:t>
            </a:r>
            <a:endParaRPr lang="en-US" sz="3200" dirty="0"/>
          </a:p>
        </p:txBody>
      </p:sp>
      <p:sp>
        <p:nvSpPr>
          <p:cNvPr id="13" name="Text 10"/>
          <p:cNvSpPr/>
          <p:nvPr/>
        </p:nvSpPr>
        <p:spPr>
          <a:xfrm>
            <a:off x="950976" y="1810512"/>
            <a:ext cx="16367760" cy="310896"/>
          </a:xfrm>
          <a:prstGeom prst="rect">
            <a:avLst/>
          </a:prstGeom>
          <a:noFill/>
          <a:ln/>
        </p:spPr>
        <p:txBody>
          <a:bodyPr wrap="square" lIns="0" tIns="0" rIns="0" bIns="0" rtlCol="0" anchor="ctr"/>
          <a:lstStyle/>
          <a:p>
            <a:r>
              <a:rPr lang="en-US" sz="1600" dirty="0">
                <a:solidFill>
                  <a:srgbClr val="D0C8B8"/>
                </a:solidFill>
                <a:latin typeface="Segoe UI" pitchFamily="34" charset="0"/>
                <a:ea typeface="Segoe UI" pitchFamily="34" charset="-122"/>
                <a:cs typeface="Segoe UI" pitchFamily="34" charset="-120"/>
              </a:rPr>
              <a:t>Not text to be scored. Claims requesting permission to act.</a:t>
            </a:r>
            <a:endParaRPr lang="en-US" sz="1600" dirty="0"/>
          </a:p>
        </p:txBody>
      </p:sp>
      <p:sp>
        <p:nvSpPr>
          <p:cNvPr id="14" name="Shape 11"/>
          <p:cNvSpPr/>
          <p:nvPr/>
        </p:nvSpPr>
        <p:spPr>
          <a:xfrm>
            <a:off x="950976" y="2267712"/>
            <a:ext cx="4041648" cy="2331720"/>
          </a:xfrm>
          <a:prstGeom prst="rect">
            <a:avLst/>
          </a:prstGeom>
          <a:solidFill>
            <a:srgbClr val="0F1525"/>
          </a:solidFill>
          <a:ln w="8636">
            <a:solidFill>
              <a:srgbClr val="2D3A52"/>
            </a:solidFill>
            <a:prstDash val="solid"/>
          </a:ln>
        </p:spPr>
      </p:sp>
      <p:sp>
        <p:nvSpPr>
          <p:cNvPr id="15" name="Text 12"/>
          <p:cNvSpPr/>
          <p:nvPr/>
        </p:nvSpPr>
        <p:spPr>
          <a:xfrm>
            <a:off x="1152144" y="2395728"/>
            <a:ext cx="1097280" cy="274320"/>
          </a:xfrm>
          <a:prstGeom prst="rect">
            <a:avLst/>
          </a:prstGeom>
          <a:noFill/>
          <a:ln/>
        </p:spPr>
        <p:txBody>
          <a:bodyPr wrap="square" lIns="0" tIns="0" rIns="0" bIns="0" rtlCol="0" anchor="ctr"/>
          <a:lstStyle/>
          <a:p>
            <a:r>
              <a:rPr lang="en-US" sz="1300" spc="150" kern="0" dirty="0">
                <a:solidFill>
                  <a:srgbClr val="C9A227"/>
                </a:solidFill>
                <a:latin typeface="Segoe UI" pitchFamily="34" charset="0"/>
                <a:ea typeface="Segoe UI" pitchFamily="34" charset="-122"/>
                <a:cs typeface="Segoe UI" pitchFamily="34" charset="-120"/>
              </a:rPr>
              <a:t>01</a:t>
            </a:r>
            <a:endParaRPr lang="en-US" sz="1300" dirty="0"/>
          </a:p>
        </p:txBody>
      </p:sp>
      <p:sp>
        <p:nvSpPr>
          <p:cNvPr id="16" name="Text 13"/>
          <p:cNvSpPr/>
          <p:nvPr/>
        </p:nvSpPr>
        <p:spPr>
          <a:xfrm>
            <a:off x="1152144" y="2688336"/>
            <a:ext cx="3639312" cy="438912"/>
          </a:xfrm>
          <a:prstGeom prst="rect">
            <a:avLst/>
          </a:prstGeom>
          <a:noFill/>
          <a:ln/>
        </p:spPr>
        <p:txBody>
          <a:bodyPr wrap="square" lIns="0" tIns="0" rIns="0" bIns="0" rtlCol="0" anchor="ctr"/>
          <a:lstStyle/>
          <a:p>
            <a:r>
              <a:rPr lang="en-US" sz="2600" b="1" dirty="0">
                <a:solidFill>
                  <a:srgbClr val="F5F0EB"/>
                </a:solidFill>
                <a:latin typeface="Segoe UI" pitchFamily="34" charset="0"/>
                <a:ea typeface="Segoe UI" pitchFamily="34" charset="-122"/>
                <a:cs typeface="Segoe UI" pitchFamily="34" charset="-120"/>
              </a:rPr>
              <a:t>STEP</a:t>
            </a:r>
            <a:endParaRPr lang="en-US" sz="2600" dirty="0"/>
          </a:p>
        </p:txBody>
      </p:sp>
      <p:sp>
        <p:nvSpPr>
          <p:cNvPr id="17" name="Text 14"/>
          <p:cNvSpPr/>
          <p:nvPr/>
        </p:nvSpPr>
        <p:spPr>
          <a:xfrm>
            <a:off x="1152144" y="3182112"/>
            <a:ext cx="3639312" cy="1097280"/>
          </a:xfrm>
          <a:prstGeom prst="rect">
            <a:avLst/>
          </a:prstGeom>
          <a:noFill/>
          <a:ln/>
        </p:spPr>
        <p:txBody>
          <a:bodyPr wrap="square" lIns="0" tIns="0" rIns="0" bIns="0" rtlCol="0" anchor="t"/>
          <a:lstStyle/>
          <a:p>
            <a:r>
              <a:rPr lang="en-US" sz="1500" dirty="0">
                <a:solidFill>
                  <a:srgbClr val="D0C8B8"/>
                </a:solidFill>
                <a:latin typeface="Segoe UI" pitchFamily="34" charset="0"/>
                <a:ea typeface="Segoe UI" pitchFamily="34" charset="-122"/>
                <a:cs typeface="Segoe UI" pitchFamily="34" charset="-120"/>
              </a:rPr>
              <a:t>Tool call, retrieval, model turn.</a:t>
            </a:r>
            <a:endParaRPr lang="en-US" sz="1500" dirty="0"/>
          </a:p>
        </p:txBody>
      </p:sp>
      <p:sp>
        <p:nvSpPr>
          <p:cNvPr id="18" name="Text 15"/>
          <p:cNvSpPr/>
          <p:nvPr/>
        </p:nvSpPr>
        <p:spPr>
          <a:xfrm>
            <a:off x="4864608" y="3063240"/>
            <a:ext cx="347472" cy="365760"/>
          </a:xfrm>
          <a:prstGeom prst="rect">
            <a:avLst/>
          </a:prstGeom>
          <a:noFill/>
          <a:ln/>
        </p:spPr>
        <p:txBody>
          <a:bodyPr wrap="square" lIns="0" tIns="0" rIns="0" bIns="0" rtlCol="0" anchor="ctr"/>
          <a:lstStyle/>
          <a:p>
            <a:r>
              <a:rPr lang="en-US" sz="1600" b="1" dirty="0">
                <a:solidFill>
                  <a:srgbClr val="C9A227"/>
                </a:solidFill>
                <a:latin typeface="Segoe UI" pitchFamily="34" charset="0"/>
                <a:ea typeface="Segoe UI" pitchFamily="34" charset="-122"/>
                <a:cs typeface="Segoe UI" pitchFamily="34" charset="-120"/>
              </a:rPr>
              <a:t>▶</a:t>
            </a:r>
            <a:endParaRPr lang="en-US" sz="1600" dirty="0"/>
          </a:p>
        </p:txBody>
      </p:sp>
      <p:sp>
        <p:nvSpPr>
          <p:cNvPr id="19" name="Shape 16"/>
          <p:cNvSpPr/>
          <p:nvPr/>
        </p:nvSpPr>
        <p:spPr>
          <a:xfrm>
            <a:off x="5230368" y="2267712"/>
            <a:ext cx="4041648" cy="2331720"/>
          </a:xfrm>
          <a:prstGeom prst="rect">
            <a:avLst/>
          </a:prstGeom>
          <a:solidFill>
            <a:srgbClr val="0F1525"/>
          </a:solidFill>
          <a:ln w="8636">
            <a:solidFill>
              <a:srgbClr val="2D3A52"/>
            </a:solidFill>
            <a:prstDash val="solid"/>
          </a:ln>
        </p:spPr>
      </p:sp>
      <p:sp>
        <p:nvSpPr>
          <p:cNvPr id="20" name="Text 17"/>
          <p:cNvSpPr/>
          <p:nvPr/>
        </p:nvSpPr>
        <p:spPr>
          <a:xfrm>
            <a:off x="5431536" y="2395728"/>
            <a:ext cx="1097280" cy="274320"/>
          </a:xfrm>
          <a:prstGeom prst="rect">
            <a:avLst/>
          </a:prstGeom>
          <a:noFill/>
          <a:ln/>
        </p:spPr>
        <p:txBody>
          <a:bodyPr wrap="square" lIns="0" tIns="0" rIns="0" bIns="0" rtlCol="0" anchor="ctr"/>
          <a:lstStyle/>
          <a:p>
            <a:r>
              <a:rPr lang="en-US" sz="1300" spc="150" kern="0" dirty="0">
                <a:solidFill>
                  <a:srgbClr val="C9A227"/>
                </a:solidFill>
                <a:latin typeface="Segoe UI" pitchFamily="34" charset="0"/>
                <a:ea typeface="Segoe UI" pitchFamily="34" charset="-122"/>
                <a:cs typeface="Segoe UI" pitchFamily="34" charset="-120"/>
              </a:rPr>
              <a:t>02</a:t>
            </a:r>
            <a:endParaRPr lang="en-US" sz="1300" dirty="0"/>
          </a:p>
        </p:txBody>
      </p:sp>
      <p:sp>
        <p:nvSpPr>
          <p:cNvPr id="21" name="Text 18"/>
          <p:cNvSpPr/>
          <p:nvPr/>
        </p:nvSpPr>
        <p:spPr>
          <a:xfrm>
            <a:off x="5431536" y="2688336"/>
            <a:ext cx="3639312" cy="438912"/>
          </a:xfrm>
          <a:prstGeom prst="rect">
            <a:avLst/>
          </a:prstGeom>
          <a:noFill/>
          <a:ln/>
        </p:spPr>
        <p:txBody>
          <a:bodyPr wrap="square" lIns="0" tIns="0" rIns="0" bIns="0" rtlCol="0" anchor="ctr"/>
          <a:lstStyle/>
          <a:p>
            <a:r>
              <a:rPr lang="en-US" sz="2600" b="1" dirty="0">
                <a:solidFill>
                  <a:srgbClr val="F5F0EB"/>
                </a:solidFill>
                <a:latin typeface="Segoe UI" pitchFamily="34" charset="0"/>
                <a:ea typeface="Segoe UI" pitchFamily="34" charset="-122"/>
                <a:cs typeface="Segoe UI" pitchFamily="34" charset="-120"/>
              </a:rPr>
              <a:t>SPAN</a:t>
            </a:r>
            <a:endParaRPr lang="en-US" sz="2600" dirty="0"/>
          </a:p>
        </p:txBody>
      </p:sp>
      <p:sp>
        <p:nvSpPr>
          <p:cNvPr id="22" name="Text 19"/>
          <p:cNvSpPr/>
          <p:nvPr/>
        </p:nvSpPr>
        <p:spPr>
          <a:xfrm>
            <a:off x="5431536" y="3182112"/>
            <a:ext cx="3639312" cy="1097280"/>
          </a:xfrm>
          <a:prstGeom prst="rect">
            <a:avLst/>
          </a:prstGeom>
          <a:noFill/>
          <a:ln/>
        </p:spPr>
        <p:txBody>
          <a:bodyPr wrap="square" lIns="0" tIns="0" rIns="0" bIns="0" rtlCol="0" anchor="t"/>
          <a:lstStyle/>
          <a:p>
            <a:r>
              <a:rPr lang="en-US" sz="1500" dirty="0">
                <a:solidFill>
                  <a:srgbClr val="D0C8B8"/>
                </a:solidFill>
                <a:latin typeface="Segoe UI" pitchFamily="34" charset="0"/>
                <a:ea typeface="Segoe UI" pitchFamily="34" charset="-122"/>
                <a:cs typeface="Segoe UI" pitchFamily="34" charset="-120"/>
              </a:rPr>
              <a:t>Chunk, tool row, DB record — source, ACL, hash, offsets.</a:t>
            </a:r>
            <a:endParaRPr lang="en-US" sz="1500" dirty="0"/>
          </a:p>
        </p:txBody>
      </p:sp>
      <p:sp>
        <p:nvSpPr>
          <p:cNvPr id="23" name="Text 20"/>
          <p:cNvSpPr/>
          <p:nvPr/>
        </p:nvSpPr>
        <p:spPr>
          <a:xfrm>
            <a:off x="9144000" y="3063240"/>
            <a:ext cx="347472" cy="365760"/>
          </a:xfrm>
          <a:prstGeom prst="rect">
            <a:avLst/>
          </a:prstGeom>
          <a:noFill/>
          <a:ln/>
        </p:spPr>
        <p:txBody>
          <a:bodyPr wrap="square" lIns="0" tIns="0" rIns="0" bIns="0" rtlCol="0" anchor="ctr"/>
          <a:lstStyle/>
          <a:p>
            <a:r>
              <a:rPr lang="en-US" sz="1600" b="1" dirty="0">
                <a:solidFill>
                  <a:srgbClr val="C9A227"/>
                </a:solidFill>
                <a:latin typeface="Segoe UI" pitchFamily="34" charset="0"/>
                <a:ea typeface="Segoe UI" pitchFamily="34" charset="-122"/>
                <a:cs typeface="Segoe UI" pitchFamily="34" charset="-120"/>
              </a:rPr>
              <a:t>▶</a:t>
            </a:r>
            <a:endParaRPr lang="en-US" sz="1600" dirty="0"/>
          </a:p>
        </p:txBody>
      </p:sp>
      <p:sp>
        <p:nvSpPr>
          <p:cNvPr id="24" name="Shape 21"/>
          <p:cNvSpPr/>
          <p:nvPr/>
        </p:nvSpPr>
        <p:spPr>
          <a:xfrm>
            <a:off x="9509760" y="2267712"/>
            <a:ext cx="4041648" cy="2331720"/>
          </a:xfrm>
          <a:prstGeom prst="rect">
            <a:avLst/>
          </a:prstGeom>
          <a:solidFill>
            <a:srgbClr val="0F1525"/>
          </a:solidFill>
          <a:ln w="8636">
            <a:solidFill>
              <a:srgbClr val="2D3A52"/>
            </a:solidFill>
            <a:prstDash val="solid"/>
          </a:ln>
        </p:spPr>
      </p:sp>
      <p:sp>
        <p:nvSpPr>
          <p:cNvPr id="25" name="Text 22"/>
          <p:cNvSpPr/>
          <p:nvPr/>
        </p:nvSpPr>
        <p:spPr>
          <a:xfrm>
            <a:off x="9710928" y="2395728"/>
            <a:ext cx="1097280" cy="274320"/>
          </a:xfrm>
          <a:prstGeom prst="rect">
            <a:avLst/>
          </a:prstGeom>
          <a:noFill/>
          <a:ln/>
        </p:spPr>
        <p:txBody>
          <a:bodyPr wrap="square" lIns="0" tIns="0" rIns="0" bIns="0" rtlCol="0" anchor="ctr"/>
          <a:lstStyle/>
          <a:p>
            <a:r>
              <a:rPr lang="en-US" sz="1300" spc="150" kern="0" dirty="0">
                <a:solidFill>
                  <a:srgbClr val="C9A227"/>
                </a:solidFill>
                <a:latin typeface="Segoe UI" pitchFamily="34" charset="0"/>
                <a:ea typeface="Segoe UI" pitchFamily="34" charset="-122"/>
                <a:cs typeface="Segoe UI" pitchFamily="34" charset="-120"/>
              </a:rPr>
              <a:t>03</a:t>
            </a:r>
            <a:endParaRPr lang="en-US" sz="1300" dirty="0"/>
          </a:p>
        </p:txBody>
      </p:sp>
      <p:sp>
        <p:nvSpPr>
          <p:cNvPr id="26" name="Text 23"/>
          <p:cNvSpPr/>
          <p:nvPr/>
        </p:nvSpPr>
        <p:spPr>
          <a:xfrm>
            <a:off x="9710928" y="2688336"/>
            <a:ext cx="3639312" cy="438912"/>
          </a:xfrm>
          <a:prstGeom prst="rect">
            <a:avLst/>
          </a:prstGeom>
          <a:noFill/>
          <a:ln/>
        </p:spPr>
        <p:txBody>
          <a:bodyPr wrap="square" lIns="0" tIns="0" rIns="0" bIns="0" rtlCol="0" anchor="ctr"/>
          <a:lstStyle/>
          <a:p>
            <a:r>
              <a:rPr lang="en-US" sz="2600" b="1" dirty="0">
                <a:solidFill>
                  <a:srgbClr val="F5F0EB"/>
                </a:solidFill>
                <a:latin typeface="Segoe UI" pitchFamily="34" charset="0"/>
                <a:ea typeface="Segoe UI" pitchFamily="34" charset="-122"/>
                <a:cs typeface="Segoe UI" pitchFamily="34" charset="-120"/>
              </a:rPr>
              <a:t>CLAIM</a:t>
            </a:r>
            <a:endParaRPr lang="en-US" sz="2600" dirty="0"/>
          </a:p>
        </p:txBody>
      </p:sp>
      <p:sp>
        <p:nvSpPr>
          <p:cNvPr id="27" name="Text 24"/>
          <p:cNvSpPr/>
          <p:nvPr/>
        </p:nvSpPr>
        <p:spPr>
          <a:xfrm>
            <a:off x="9710928" y="3182112"/>
            <a:ext cx="3639312" cy="1097280"/>
          </a:xfrm>
          <a:prstGeom prst="rect">
            <a:avLst/>
          </a:prstGeom>
          <a:noFill/>
          <a:ln/>
        </p:spPr>
        <p:txBody>
          <a:bodyPr wrap="square" lIns="0" tIns="0" rIns="0" bIns="0" rtlCol="0" anchor="t"/>
          <a:lstStyle/>
          <a:p>
            <a:r>
              <a:rPr lang="en-US" sz="1500" dirty="0">
                <a:solidFill>
                  <a:srgbClr val="D0C8B8"/>
                </a:solidFill>
                <a:latin typeface="Segoe UI" pitchFamily="34" charset="0"/>
                <a:ea typeface="Segoe UI" pitchFamily="34" charset="-122"/>
                <a:cs typeface="Segoe UI" pitchFamily="34" charset="-120"/>
              </a:rPr>
              <a:t>Typed atomic proposition from the output stream.</a:t>
            </a:r>
            <a:endParaRPr lang="en-US" sz="1500" dirty="0"/>
          </a:p>
        </p:txBody>
      </p:sp>
      <p:sp>
        <p:nvSpPr>
          <p:cNvPr id="28" name="Text 25"/>
          <p:cNvSpPr/>
          <p:nvPr/>
        </p:nvSpPr>
        <p:spPr>
          <a:xfrm>
            <a:off x="13423392" y="3063240"/>
            <a:ext cx="347472" cy="365760"/>
          </a:xfrm>
          <a:prstGeom prst="rect">
            <a:avLst/>
          </a:prstGeom>
          <a:noFill/>
          <a:ln/>
        </p:spPr>
        <p:txBody>
          <a:bodyPr wrap="square" lIns="0" tIns="0" rIns="0" bIns="0" rtlCol="0" anchor="ctr"/>
          <a:lstStyle/>
          <a:p>
            <a:r>
              <a:rPr lang="en-US" sz="1600" b="1" dirty="0">
                <a:solidFill>
                  <a:srgbClr val="C9A227"/>
                </a:solidFill>
                <a:latin typeface="Segoe UI" pitchFamily="34" charset="0"/>
                <a:ea typeface="Segoe UI" pitchFamily="34" charset="-122"/>
                <a:cs typeface="Segoe UI" pitchFamily="34" charset="-120"/>
              </a:rPr>
              <a:t>▶</a:t>
            </a:r>
            <a:endParaRPr lang="en-US" sz="1600" dirty="0"/>
          </a:p>
        </p:txBody>
      </p:sp>
      <p:sp>
        <p:nvSpPr>
          <p:cNvPr id="29" name="Shape 26"/>
          <p:cNvSpPr/>
          <p:nvPr/>
        </p:nvSpPr>
        <p:spPr>
          <a:xfrm>
            <a:off x="13789152" y="2267712"/>
            <a:ext cx="4041648" cy="2331720"/>
          </a:xfrm>
          <a:prstGeom prst="rect">
            <a:avLst/>
          </a:prstGeom>
          <a:solidFill>
            <a:srgbClr val="0F1525"/>
          </a:solidFill>
          <a:ln w="13970">
            <a:solidFill>
              <a:srgbClr val="C9A227"/>
            </a:solidFill>
            <a:prstDash val="solid"/>
          </a:ln>
        </p:spPr>
      </p:sp>
      <p:sp>
        <p:nvSpPr>
          <p:cNvPr id="30" name="Text 27"/>
          <p:cNvSpPr/>
          <p:nvPr/>
        </p:nvSpPr>
        <p:spPr>
          <a:xfrm>
            <a:off x="13990320" y="2395728"/>
            <a:ext cx="1097280" cy="274320"/>
          </a:xfrm>
          <a:prstGeom prst="rect">
            <a:avLst/>
          </a:prstGeom>
          <a:noFill/>
          <a:ln/>
        </p:spPr>
        <p:txBody>
          <a:bodyPr wrap="square" lIns="0" tIns="0" rIns="0" bIns="0" rtlCol="0" anchor="ctr"/>
          <a:lstStyle/>
          <a:p>
            <a:r>
              <a:rPr lang="en-US" sz="1300" spc="150" kern="0" dirty="0">
                <a:solidFill>
                  <a:srgbClr val="C9A227"/>
                </a:solidFill>
                <a:latin typeface="Segoe UI" pitchFamily="34" charset="0"/>
                <a:ea typeface="Segoe UI" pitchFamily="34" charset="-122"/>
                <a:cs typeface="Segoe UI" pitchFamily="34" charset="-120"/>
              </a:rPr>
              <a:t>04</a:t>
            </a:r>
            <a:endParaRPr lang="en-US" sz="1300" dirty="0"/>
          </a:p>
        </p:txBody>
      </p:sp>
      <p:sp>
        <p:nvSpPr>
          <p:cNvPr id="31" name="Text 28"/>
          <p:cNvSpPr/>
          <p:nvPr/>
        </p:nvSpPr>
        <p:spPr>
          <a:xfrm>
            <a:off x="13990320" y="2688336"/>
            <a:ext cx="3639312" cy="438912"/>
          </a:xfrm>
          <a:prstGeom prst="rect">
            <a:avLst/>
          </a:prstGeom>
          <a:noFill/>
          <a:ln/>
        </p:spPr>
        <p:txBody>
          <a:bodyPr wrap="square" lIns="0" tIns="0" rIns="0" bIns="0" rtlCol="0" anchor="ctr"/>
          <a:lstStyle/>
          <a:p>
            <a:r>
              <a:rPr lang="en-US" sz="2600" b="1" dirty="0">
                <a:solidFill>
                  <a:srgbClr val="F5F0EB"/>
                </a:solidFill>
                <a:latin typeface="Segoe UI" pitchFamily="34" charset="0"/>
                <a:ea typeface="Segoe UI" pitchFamily="34" charset="-122"/>
                <a:cs typeface="Segoe UI" pitchFamily="34" charset="-120"/>
              </a:rPr>
              <a:t>ACTION</a:t>
            </a:r>
            <a:endParaRPr lang="en-US" sz="2600" dirty="0"/>
          </a:p>
        </p:txBody>
      </p:sp>
      <p:sp>
        <p:nvSpPr>
          <p:cNvPr id="32" name="Text 29"/>
          <p:cNvSpPr/>
          <p:nvPr/>
        </p:nvSpPr>
        <p:spPr>
          <a:xfrm>
            <a:off x="13990320" y="3182112"/>
            <a:ext cx="3639312" cy="1097280"/>
          </a:xfrm>
          <a:prstGeom prst="rect">
            <a:avLst/>
          </a:prstGeom>
          <a:noFill/>
          <a:ln/>
        </p:spPr>
        <p:txBody>
          <a:bodyPr wrap="square" lIns="0" tIns="0" rIns="0" bIns="0" rtlCol="0" anchor="t"/>
          <a:lstStyle/>
          <a:p>
            <a:r>
              <a:rPr lang="en-US" sz="1500" dirty="0">
                <a:solidFill>
                  <a:srgbClr val="D0C8B8"/>
                </a:solidFill>
                <a:latin typeface="Segoe UI" pitchFamily="34" charset="0"/>
                <a:ea typeface="Segoe UI" pitchFamily="34" charset="-122"/>
                <a:cs typeface="Segoe UI" pitchFamily="34" charset="-120"/>
              </a:rPr>
              <a:t>Pending side effect: tool + args + irreversibility.</a:t>
            </a:r>
            <a:endParaRPr lang="en-US" sz="1500" dirty="0"/>
          </a:p>
        </p:txBody>
      </p:sp>
      <p:sp>
        <p:nvSpPr>
          <p:cNvPr id="33" name="Shape 30"/>
          <p:cNvSpPr/>
          <p:nvPr/>
        </p:nvSpPr>
        <p:spPr>
          <a:xfrm>
            <a:off x="950976" y="4791456"/>
            <a:ext cx="5394960" cy="2148840"/>
          </a:xfrm>
          <a:prstGeom prst="rect">
            <a:avLst/>
          </a:prstGeom>
          <a:solidFill>
            <a:srgbClr val="0F1525"/>
          </a:solidFill>
          <a:ln w="8636">
            <a:solidFill>
              <a:srgbClr val="1E2A3D"/>
            </a:solidFill>
            <a:prstDash val="solid"/>
          </a:ln>
        </p:spPr>
      </p:sp>
      <p:sp>
        <p:nvSpPr>
          <p:cNvPr id="34" name="Text 31"/>
          <p:cNvSpPr/>
          <p:nvPr/>
        </p:nvSpPr>
        <p:spPr>
          <a:xfrm>
            <a:off x="1207008" y="4956048"/>
            <a:ext cx="4882896" cy="329184"/>
          </a:xfrm>
          <a:prstGeom prst="rect">
            <a:avLst/>
          </a:prstGeom>
          <a:noFill/>
          <a:ln/>
        </p:spPr>
        <p:txBody>
          <a:bodyPr wrap="square" lIns="0" tIns="0" rIns="0" bIns="0" rtlCol="0" anchor="ctr"/>
          <a:lstStyle/>
          <a:p>
            <a:r>
              <a:rPr lang="en-US" sz="1500" b="1" spc="140" kern="0" dirty="0">
                <a:solidFill>
                  <a:srgbClr val="C9A227"/>
                </a:solidFill>
                <a:latin typeface="Segoe UI" pitchFamily="34" charset="0"/>
                <a:ea typeface="Segoe UI" pitchFamily="34" charset="-122"/>
                <a:cs typeface="Segoe UI" pitchFamily="34" charset="-120"/>
              </a:rPr>
              <a:t>→  PERFORMANCE</a:t>
            </a:r>
            <a:endParaRPr lang="en-US" sz="1500" dirty="0"/>
          </a:p>
        </p:txBody>
      </p:sp>
      <p:sp>
        <p:nvSpPr>
          <p:cNvPr id="35" name="Text 32"/>
          <p:cNvSpPr/>
          <p:nvPr/>
        </p:nvSpPr>
        <p:spPr>
          <a:xfrm>
            <a:off x="1207008" y="5376672"/>
            <a:ext cx="4882896" cy="1188720"/>
          </a:xfrm>
          <a:prstGeom prst="rect">
            <a:avLst/>
          </a:prstGeom>
          <a:noFill/>
          <a:ln/>
        </p:spPr>
        <p:txBody>
          <a:bodyPr wrap="square" lIns="0" tIns="0" rIns="0" bIns="0" rtlCol="0" anchor="t"/>
          <a:lstStyle/>
          <a:p>
            <a:r>
              <a:rPr lang="en-US" sz="1800" dirty="0">
                <a:solidFill>
                  <a:srgbClr val="F5F0EB"/>
                </a:solidFill>
                <a:latin typeface="Segoe UI" pitchFamily="34" charset="0"/>
                <a:ea typeface="Segoe UI" pitchFamily="34" charset="-122"/>
                <a:cs typeface="Segoe UI" pitchFamily="34" charset="-120"/>
              </a:rPr>
              <a:t>Does each claim bind to a span?</a:t>
            </a:r>
            <a:endParaRPr lang="en-US" sz="1800" dirty="0"/>
          </a:p>
        </p:txBody>
      </p:sp>
      <p:sp>
        <p:nvSpPr>
          <p:cNvPr id="36" name="Shape 33"/>
          <p:cNvSpPr/>
          <p:nvPr/>
        </p:nvSpPr>
        <p:spPr>
          <a:xfrm>
            <a:off x="6528816" y="4791456"/>
            <a:ext cx="5394960" cy="2148840"/>
          </a:xfrm>
          <a:prstGeom prst="rect">
            <a:avLst/>
          </a:prstGeom>
          <a:solidFill>
            <a:srgbClr val="0F1525"/>
          </a:solidFill>
          <a:ln w="8636">
            <a:solidFill>
              <a:srgbClr val="1E2A3D"/>
            </a:solidFill>
            <a:prstDash val="solid"/>
          </a:ln>
        </p:spPr>
      </p:sp>
      <p:sp>
        <p:nvSpPr>
          <p:cNvPr id="37" name="Text 34"/>
          <p:cNvSpPr/>
          <p:nvPr/>
        </p:nvSpPr>
        <p:spPr>
          <a:xfrm>
            <a:off x="6784848" y="4956048"/>
            <a:ext cx="4882896" cy="329184"/>
          </a:xfrm>
          <a:prstGeom prst="rect">
            <a:avLst/>
          </a:prstGeom>
          <a:noFill/>
          <a:ln/>
        </p:spPr>
        <p:txBody>
          <a:bodyPr wrap="square" lIns="0" tIns="0" rIns="0" bIns="0" rtlCol="0" anchor="ctr"/>
          <a:lstStyle/>
          <a:p>
            <a:r>
              <a:rPr lang="en-US" sz="1500" b="1" spc="140" kern="0" dirty="0">
                <a:solidFill>
                  <a:srgbClr val="C9A227"/>
                </a:solidFill>
                <a:latin typeface="Segoe UI" pitchFamily="34" charset="0"/>
                <a:ea typeface="Segoe UI" pitchFamily="34" charset="-122"/>
                <a:cs typeface="Segoe UI" pitchFamily="34" charset="-120"/>
              </a:rPr>
              <a:t>←  COST</a:t>
            </a:r>
            <a:endParaRPr lang="en-US" sz="1500" dirty="0"/>
          </a:p>
        </p:txBody>
      </p:sp>
      <p:sp>
        <p:nvSpPr>
          <p:cNvPr id="38" name="Text 35"/>
          <p:cNvSpPr/>
          <p:nvPr/>
        </p:nvSpPr>
        <p:spPr>
          <a:xfrm>
            <a:off x="6784848" y="5376672"/>
            <a:ext cx="4882896" cy="1188720"/>
          </a:xfrm>
          <a:prstGeom prst="rect">
            <a:avLst/>
          </a:prstGeom>
          <a:noFill/>
          <a:ln/>
        </p:spPr>
        <p:txBody>
          <a:bodyPr wrap="square" lIns="0" tIns="0" rIns="0" bIns="0" rtlCol="0" anchor="t"/>
          <a:lstStyle/>
          <a:p>
            <a:r>
              <a:rPr lang="en-US" sz="1800" dirty="0">
                <a:solidFill>
                  <a:srgbClr val="F5F0EB"/>
                </a:solidFill>
                <a:latin typeface="Segoe UI" pitchFamily="34" charset="0"/>
                <a:ea typeface="Segoe UI" pitchFamily="34" charset="-122"/>
                <a:cs typeface="Segoe UI" pitchFamily="34" charset="-120"/>
              </a:rPr>
              <a:t>Did each step ground any accepted claim?</a:t>
            </a:r>
            <a:endParaRPr lang="en-US" sz="1800" dirty="0"/>
          </a:p>
        </p:txBody>
      </p:sp>
      <p:sp>
        <p:nvSpPr>
          <p:cNvPr id="39" name="Shape 36"/>
          <p:cNvSpPr/>
          <p:nvPr/>
        </p:nvSpPr>
        <p:spPr>
          <a:xfrm>
            <a:off x="12106656" y="4791456"/>
            <a:ext cx="5394960" cy="2148840"/>
          </a:xfrm>
          <a:prstGeom prst="rect">
            <a:avLst/>
          </a:prstGeom>
          <a:solidFill>
            <a:srgbClr val="0F1525"/>
          </a:solidFill>
          <a:ln w="8636">
            <a:solidFill>
              <a:srgbClr val="1E2A3D"/>
            </a:solidFill>
            <a:prstDash val="solid"/>
          </a:ln>
        </p:spPr>
      </p:sp>
      <p:sp>
        <p:nvSpPr>
          <p:cNvPr id="40" name="Text 37"/>
          <p:cNvSpPr/>
          <p:nvPr/>
        </p:nvSpPr>
        <p:spPr>
          <a:xfrm>
            <a:off x="12362688" y="4956048"/>
            <a:ext cx="4882896" cy="329184"/>
          </a:xfrm>
          <a:prstGeom prst="rect">
            <a:avLst/>
          </a:prstGeom>
          <a:noFill/>
          <a:ln/>
        </p:spPr>
        <p:txBody>
          <a:bodyPr wrap="square" lIns="0" tIns="0" rIns="0" bIns="0" rtlCol="0" anchor="ctr"/>
          <a:lstStyle/>
          <a:p>
            <a:r>
              <a:rPr lang="en-US" sz="1500" b="1" spc="140" kern="0" dirty="0">
                <a:solidFill>
                  <a:srgbClr val="C9A227"/>
                </a:solidFill>
                <a:latin typeface="Segoe UI" pitchFamily="34" charset="0"/>
                <a:ea typeface="Segoe UI" pitchFamily="34" charset="-122"/>
                <a:cs typeface="Segoe UI" pitchFamily="34" charset="-120"/>
              </a:rPr>
              <a:t>≡  RESPONSIBILITY</a:t>
            </a:r>
            <a:endParaRPr lang="en-US" sz="1500" dirty="0"/>
          </a:p>
        </p:txBody>
      </p:sp>
      <p:sp>
        <p:nvSpPr>
          <p:cNvPr id="41" name="Text 38"/>
          <p:cNvSpPr/>
          <p:nvPr/>
        </p:nvSpPr>
        <p:spPr>
          <a:xfrm>
            <a:off x="12362688" y="5376672"/>
            <a:ext cx="4882896" cy="1188720"/>
          </a:xfrm>
          <a:prstGeom prst="rect">
            <a:avLst/>
          </a:prstGeom>
          <a:noFill/>
          <a:ln/>
        </p:spPr>
        <p:txBody>
          <a:bodyPr wrap="square" lIns="0" tIns="0" rIns="0" bIns="0" rtlCol="0" anchor="t"/>
          <a:lstStyle/>
          <a:p>
            <a:r>
              <a:rPr lang="en-US" sz="1800" dirty="0">
                <a:solidFill>
                  <a:srgbClr val="F5F0EB"/>
                </a:solidFill>
                <a:latin typeface="Segoe UI" pitchFamily="34" charset="0"/>
                <a:ea typeface="Segoe UI" pitchFamily="34" charset="-122"/>
                <a:cs typeface="Segoe UI" pitchFamily="34" charset="-120"/>
              </a:rPr>
              <a:t>Is the caller entitled to every span a claim binds to?</a:t>
            </a:r>
            <a:endParaRPr lang="en-US" sz="1800" dirty="0"/>
          </a:p>
        </p:txBody>
      </p:sp>
      <p:sp>
        <p:nvSpPr>
          <p:cNvPr id="42" name="Shape 39"/>
          <p:cNvSpPr/>
          <p:nvPr/>
        </p:nvSpPr>
        <p:spPr>
          <a:xfrm>
            <a:off x="950976" y="7114032"/>
            <a:ext cx="16386048" cy="2212848"/>
          </a:xfrm>
          <a:prstGeom prst="rect">
            <a:avLst/>
          </a:prstGeom>
          <a:solidFill>
            <a:srgbClr val="0F1525"/>
          </a:solidFill>
          <a:ln w="12700">
            <a:solidFill>
              <a:srgbClr val="C9A227"/>
            </a:solidFill>
            <a:prstDash val="solid"/>
          </a:ln>
        </p:spPr>
      </p:sp>
      <p:sp>
        <p:nvSpPr>
          <p:cNvPr id="43" name="Text 40"/>
          <p:cNvSpPr/>
          <p:nvPr/>
        </p:nvSpPr>
        <p:spPr>
          <a:xfrm>
            <a:off x="1243584" y="7278624"/>
            <a:ext cx="15819120" cy="292608"/>
          </a:xfrm>
          <a:prstGeom prst="rect">
            <a:avLst/>
          </a:prstGeom>
          <a:noFill/>
          <a:ln/>
        </p:spPr>
        <p:txBody>
          <a:bodyPr wrap="square" lIns="0" tIns="0" rIns="0" bIns="0" rtlCol="0" anchor="ctr"/>
          <a:lstStyle/>
          <a:p>
            <a:r>
              <a:rPr lang="en-US" sz="1400" spc="180" kern="0" dirty="0">
                <a:solidFill>
                  <a:srgbClr val="C9A227"/>
                </a:solidFill>
                <a:latin typeface="Segoe UI" pitchFamily="34" charset="0"/>
                <a:ea typeface="Segoe UI" pitchFamily="34" charset="-122"/>
                <a:cs typeface="Segoe UI" pitchFamily="34" charset="-120"/>
              </a:rPr>
              <a:t>KEYSTONE  ·  PROVENANCE RECORDER</a:t>
            </a:r>
            <a:endParaRPr lang="en-US" sz="1400" dirty="0"/>
          </a:p>
        </p:txBody>
      </p:sp>
      <p:sp>
        <p:nvSpPr>
          <p:cNvPr id="44" name="Text 41"/>
          <p:cNvSpPr/>
          <p:nvPr/>
        </p:nvSpPr>
        <p:spPr>
          <a:xfrm>
            <a:off x="1243584" y="7626096"/>
            <a:ext cx="15819120" cy="438912"/>
          </a:xfrm>
          <a:prstGeom prst="rect">
            <a:avLst/>
          </a:prstGeom>
          <a:noFill/>
          <a:ln/>
        </p:spPr>
        <p:txBody>
          <a:bodyPr wrap="square" lIns="0" tIns="0" rIns="0" bIns="0" rtlCol="0" anchor="ctr"/>
          <a:lstStyle/>
          <a:p>
            <a:r>
              <a:rPr lang="en-US" sz="2200" b="1" dirty="0">
                <a:solidFill>
                  <a:srgbClr val="F5F0EB"/>
                </a:solidFill>
                <a:latin typeface="Segoe UI" pitchFamily="34" charset="0"/>
                <a:ea typeface="Segoe UI" pitchFamily="34" charset="-122"/>
                <a:cs typeface="Segoe UI" pitchFamily="34" charset="-120"/>
              </a:rPr>
              <a:t>Everywhere else that's three products. Here it's three questions on one graph.</a:t>
            </a:r>
            <a:endParaRPr lang="en-US" sz="2200" dirty="0"/>
          </a:p>
        </p:txBody>
      </p:sp>
      <p:sp>
        <p:nvSpPr>
          <p:cNvPr id="45" name="Text 42"/>
          <p:cNvSpPr/>
          <p:nvPr/>
        </p:nvSpPr>
        <p:spPr>
          <a:xfrm>
            <a:off x="1243584" y="8138160"/>
            <a:ext cx="15819120" cy="868680"/>
          </a:xfrm>
          <a:prstGeom prst="rect">
            <a:avLst/>
          </a:prstGeom>
          <a:noFill/>
          <a:ln/>
        </p:spPr>
        <p:txBody>
          <a:bodyPr wrap="square" lIns="0" tIns="0" rIns="0" bIns="0" rtlCol="0" anchor="ctr"/>
          <a:lstStyle/>
          <a:p>
            <a:r>
              <a:rPr lang="en-US" sz="1600" dirty="0">
                <a:solidFill>
                  <a:srgbClr val="D0C8B8"/>
                </a:solidFill>
                <a:latin typeface="Segoe UI" pitchFamily="34" charset="0"/>
                <a:ea typeface="Segoe UI" pitchFamily="34" charset="-122"/>
                <a:cs typeface="Segoe UI" pitchFamily="34" charset="-120"/>
              </a:rPr>
              <a:t>Hooks context assembly, not the model. Spans freeze before generation. The model has no channel to declare a binding. Actuators: Block · Edit · Escalate · Pass.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12182A">
              <a:alpha val="30000"/>
            </a:srgbClr>
          </a:solidFill>
          <a:ln/>
        </p:spPr>
      </p:sp>
      <p:sp>
        <p:nvSpPr>
          <p:cNvPr id="3" name="Text 1"/>
          <p:cNvSpPr/>
          <p:nvPr/>
        </p:nvSpPr>
        <p:spPr>
          <a:xfrm>
            <a:off x="384048" y="402336"/>
            <a:ext cx="210312" cy="228600"/>
          </a:xfrm>
          <a:prstGeom prst="rect">
            <a:avLst/>
          </a:prstGeom>
          <a:noFill/>
          <a:ln/>
        </p:spPr>
        <p:txBody>
          <a:bodyPr wrap="square" lIns="0" tIns="0" rIns="0" bIns="0" rtlCol="0" anchor="ctr"/>
          <a:lstStyle/>
          <a:p>
            <a:r>
              <a:rPr lang="en-US" sz="1200" dirty="0">
                <a:solidFill>
                  <a:srgbClr val="C9A227"/>
                </a:solidFill>
                <a:latin typeface="Segoe UI" pitchFamily="34" charset="0"/>
                <a:ea typeface="Segoe UI" pitchFamily="34" charset="-122"/>
                <a:cs typeface="Segoe UI" pitchFamily="34" charset="-120"/>
              </a:rPr>
              <a:t>◢</a:t>
            </a:r>
            <a:endParaRPr lang="en-US" sz="1200" dirty="0"/>
          </a:p>
        </p:txBody>
      </p:sp>
      <p:sp>
        <p:nvSpPr>
          <p:cNvPr id="4" name="Text 2"/>
          <p:cNvSpPr/>
          <p:nvPr/>
        </p:nvSpPr>
        <p:spPr>
          <a:xfrm>
            <a:off x="621792" y="384048"/>
            <a:ext cx="3840480" cy="265176"/>
          </a:xfrm>
          <a:prstGeom prst="rect">
            <a:avLst/>
          </a:prstGeom>
          <a:noFill/>
          <a:ln/>
        </p:spPr>
        <p:txBody>
          <a:bodyPr wrap="square" lIns="0" tIns="0" rIns="0" bIns="0" rtlCol="0" anchor="ctr"/>
          <a:lstStyle/>
          <a:p>
            <a:r>
              <a:rPr lang="en-US" sz="1500" spc="150" kern="0" dirty="0">
                <a:solidFill>
                  <a:srgbClr val="F5F0EB"/>
                </a:solidFill>
                <a:latin typeface="Segoe UI" pitchFamily="34" charset="0"/>
                <a:ea typeface="Segoe UI" pitchFamily="34" charset="-122"/>
                <a:cs typeface="Segoe UI" pitchFamily="34" charset="-120"/>
              </a:rPr>
              <a:t>CONTROLPLANE//SYS</a:t>
            </a:r>
            <a:endParaRPr lang="en-US" sz="1500" dirty="0"/>
          </a:p>
        </p:txBody>
      </p:sp>
      <p:sp>
        <p:nvSpPr>
          <p:cNvPr id="5" name="Text 3"/>
          <p:cNvSpPr/>
          <p:nvPr/>
        </p:nvSpPr>
        <p:spPr>
          <a:xfrm>
            <a:off x="11521440" y="384048"/>
            <a:ext cx="6217920" cy="265176"/>
          </a:xfrm>
          <a:prstGeom prst="rect">
            <a:avLst/>
          </a:prstGeom>
          <a:noFill/>
          <a:ln/>
        </p:spPr>
        <p:txBody>
          <a:bodyPr wrap="square" lIns="0" tIns="0" rIns="0" bIns="0" rtlCol="0" anchor="ctr"/>
          <a:lstStyle/>
          <a:p>
            <a:pPr algn="r"/>
            <a:r>
              <a:rPr lang="en-US" sz="1500" spc="150" kern="0" dirty="0">
                <a:solidFill>
                  <a:srgbClr val="8892B0"/>
                </a:solidFill>
                <a:latin typeface="Segoe UI" pitchFamily="34" charset="0"/>
                <a:ea typeface="Segoe UI" pitchFamily="34" charset="-122"/>
                <a:cs typeface="Segoe UI" pitchFamily="34" charset="-120"/>
              </a:rPr>
              <a:t>04 // DEMO 01</a:t>
            </a:r>
            <a:endParaRPr lang="en-US" sz="1500" dirty="0"/>
          </a:p>
        </p:txBody>
      </p:sp>
      <p:sp>
        <p:nvSpPr>
          <p:cNvPr id="6" name="Text 4"/>
          <p:cNvSpPr/>
          <p:nvPr/>
        </p:nvSpPr>
        <p:spPr>
          <a:xfrm>
            <a:off x="17775936" y="402336"/>
            <a:ext cx="210312" cy="228600"/>
          </a:xfrm>
          <a:prstGeom prst="rect">
            <a:avLst/>
          </a:prstGeom>
          <a:noFill/>
          <a:ln/>
        </p:spPr>
        <p:txBody>
          <a:bodyPr wrap="square" lIns="0" tIns="0" rIns="0" bIns="0" rtlCol="0" anchor="ctr"/>
          <a:lstStyle/>
          <a:p>
            <a:r>
              <a:rPr lang="en-US" sz="1200" dirty="0">
                <a:solidFill>
                  <a:srgbClr val="C9A227"/>
                </a:solidFill>
                <a:latin typeface="Segoe UI" pitchFamily="34" charset="0"/>
                <a:ea typeface="Segoe UI" pitchFamily="34" charset="-122"/>
                <a:cs typeface="Segoe UI" pitchFamily="34" charset="-120"/>
              </a:rPr>
              <a:t>◣</a:t>
            </a:r>
            <a:endParaRPr lang="en-US" sz="1200" dirty="0"/>
          </a:p>
        </p:txBody>
      </p:sp>
      <p:sp>
        <p:nvSpPr>
          <p:cNvPr id="7" name="Shape 5"/>
          <p:cNvSpPr/>
          <p:nvPr/>
        </p:nvSpPr>
        <p:spPr>
          <a:xfrm>
            <a:off x="384048" y="9747504"/>
            <a:ext cx="91440" cy="91440"/>
          </a:xfrm>
          <a:prstGeom prst="rect">
            <a:avLst/>
          </a:prstGeom>
          <a:solidFill>
            <a:srgbClr val="C9A227"/>
          </a:solidFill>
          <a:ln/>
        </p:spPr>
      </p:sp>
      <p:sp>
        <p:nvSpPr>
          <p:cNvPr id="8" name="Text 6"/>
          <p:cNvSpPr/>
          <p:nvPr/>
        </p:nvSpPr>
        <p:spPr>
          <a:xfrm>
            <a:off x="566928" y="9683496"/>
            <a:ext cx="2194560" cy="265176"/>
          </a:xfrm>
          <a:prstGeom prst="rect">
            <a:avLst/>
          </a:prstGeom>
          <a:noFill/>
          <a:ln/>
        </p:spPr>
        <p:txBody>
          <a:bodyPr wrap="square" lIns="0" tIns="0" rIns="0" bIns="0" rtlCol="0" anchor="ctr"/>
          <a:lstStyle/>
          <a:p>
            <a:r>
              <a:rPr lang="en-US" sz="1500" dirty="0">
                <a:solidFill>
                  <a:srgbClr val="8892B0"/>
                </a:solidFill>
                <a:latin typeface="Segoe UI" pitchFamily="34" charset="0"/>
                <a:ea typeface="Segoe UI" pitchFamily="34" charset="-122"/>
                <a:cs typeface="Segoe UI" pitchFamily="34" charset="-120"/>
              </a:rPr>
              <a:t>ADMIT//PROVE</a:t>
            </a:r>
            <a:endParaRPr lang="en-US" sz="1500" dirty="0"/>
          </a:p>
        </p:txBody>
      </p:sp>
      <p:sp>
        <p:nvSpPr>
          <p:cNvPr id="9" name="Text 7"/>
          <p:cNvSpPr/>
          <p:nvPr/>
        </p:nvSpPr>
        <p:spPr>
          <a:xfrm>
            <a:off x="13350240" y="9683496"/>
            <a:ext cx="4480560" cy="265176"/>
          </a:xfrm>
          <a:prstGeom prst="rect">
            <a:avLst/>
          </a:prstGeom>
          <a:noFill/>
          <a:ln/>
        </p:spPr>
        <p:txBody>
          <a:bodyPr wrap="square" lIns="0" tIns="0" rIns="0" bIns="0" rtlCol="0" anchor="ctr"/>
          <a:lstStyle/>
          <a:p>
            <a:pPr algn="r"/>
            <a:r>
              <a:rPr lang="en-US" sz="1500" spc="150" kern="0" dirty="0">
                <a:solidFill>
                  <a:srgbClr val="8892B0"/>
                </a:solidFill>
                <a:latin typeface="Segoe UI" pitchFamily="34" charset="0"/>
                <a:ea typeface="Segoe UI" pitchFamily="34" charset="-122"/>
                <a:cs typeface="Segoe UI" pitchFamily="34" charset="-120"/>
              </a:rPr>
              <a:t>AIC.2026 · PS #1 · IITGN</a:t>
            </a:r>
            <a:endParaRPr lang="en-US" sz="1500" dirty="0"/>
          </a:p>
        </p:txBody>
      </p:sp>
      <p:sp>
        <p:nvSpPr>
          <p:cNvPr id="11" name="Text 8"/>
          <p:cNvSpPr/>
          <p:nvPr/>
        </p:nvSpPr>
        <p:spPr>
          <a:xfrm>
            <a:off x="950976" y="914400"/>
            <a:ext cx="16367760" cy="265176"/>
          </a:xfrm>
          <a:prstGeom prst="rect">
            <a:avLst/>
          </a:prstGeom>
          <a:noFill/>
          <a:ln/>
        </p:spPr>
        <p:txBody>
          <a:bodyPr wrap="square" lIns="0" tIns="0" rIns="0" bIns="0" rtlCol="0" anchor="ctr"/>
          <a:lstStyle/>
          <a:p>
            <a:pPr algn="l"/>
            <a:r>
              <a:rPr lang="en-US" sz="1500" spc="300" kern="0" dirty="0">
                <a:solidFill>
                  <a:srgbClr val="C9A227"/>
                </a:solidFill>
                <a:latin typeface="Segoe UI" pitchFamily="34" charset="0"/>
                <a:ea typeface="Segoe UI" pitchFamily="34" charset="-122"/>
                <a:cs typeface="Segoe UI" pitchFamily="34" charset="-120"/>
              </a:rPr>
              <a:t>04 · DEMO 01 / 03  ·  python3 examples/refund_trace_demo.py</a:t>
            </a:r>
            <a:endParaRPr lang="en-US" sz="1500" dirty="0"/>
          </a:p>
        </p:txBody>
      </p:sp>
      <p:sp>
        <p:nvSpPr>
          <p:cNvPr id="12" name="Text 9"/>
          <p:cNvSpPr/>
          <p:nvPr/>
        </p:nvSpPr>
        <p:spPr>
          <a:xfrm>
            <a:off x="950976" y="1225296"/>
            <a:ext cx="16367760" cy="566928"/>
          </a:xfrm>
          <a:prstGeom prst="rect">
            <a:avLst/>
          </a:prstGeom>
          <a:noFill/>
          <a:ln/>
        </p:spPr>
        <p:txBody>
          <a:bodyPr wrap="square" lIns="0" tIns="0" rIns="0" bIns="0" rtlCol="0" anchor="t"/>
          <a:lstStyle/>
          <a:p>
            <a:pPr algn="l"/>
            <a:r>
              <a:rPr lang="en-US" sz="3200" b="1" spc="-75" kern="0" dirty="0">
                <a:solidFill>
                  <a:srgbClr val="F5F0EB"/>
                </a:solidFill>
                <a:latin typeface="Segoe UI" pitchFamily="34" charset="0"/>
                <a:ea typeface="Segoe UI" pitchFamily="34" charset="-122"/>
                <a:cs typeface="Segoe UI" pitchFamily="34" charset="-120"/>
              </a:rPr>
              <a:t>NOT LOW CONFIDENCE. </a:t>
            </a:r>
            <a:pPr algn="l"/>
            <a:r>
              <a:rPr lang="en-US" sz="3200" b="1" spc="-75" kern="0" dirty="0">
                <a:solidFill>
                  <a:srgbClr val="C9A227"/>
                </a:solidFill>
                <a:latin typeface="Segoe UI" pitchFamily="34" charset="0"/>
                <a:ea typeface="Segoe UI" pitchFamily="34" charset="-122"/>
                <a:cs typeface="Segoe UI" pitchFamily="34" charset="-120"/>
              </a:rPr>
              <a:t>UNPROVEN</a:t>
            </a:r>
            <a:pPr algn="l"/>
            <a:r>
              <a:rPr lang="en-US" sz="3200" b="1" spc="-75" kern="0" dirty="0">
                <a:solidFill>
                  <a:srgbClr val="F5F0EB"/>
                </a:solidFill>
                <a:latin typeface="Segoe UI" pitchFamily="34" charset="0"/>
                <a:ea typeface="Segoe UI" pitchFamily="34" charset="-122"/>
                <a:cs typeface="Segoe UI" pitchFamily="34" charset="-120"/>
              </a:rPr>
              <a:t>.</a:t>
            </a:r>
            <a:endParaRPr lang="en-US" sz="3200" dirty="0"/>
          </a:p>
        </p:txBody>
      </p:sp>
      <p:sp>
        <p:nvSpPr>
          <p:cNvPr id="13" name="Shape 10"/>
          <p:cNvSpPr/>
          <p:nvPr/>
        </p:nvSpPr>
        <p:spPr>
          <a:xfrm>
            <a:off x="950976" y="1920240"/>
            <a:ext cx="7818120" cy="3246120"/>
          </a:xfrm>
          <a:prstGeom prst="rect">
            <a:avLst/>
          </a:prstGeom>
          <a:solidFill>
            <a:srgbClr val="0F1525"/>
          </a:solidFill>
          <a:ln w="8636">
            <a:solidFill>
              <a:srgbClr val="2D3A52"/>
            </a:solidFill>
            <a:prstDash val="solid"/>
          </a:ln>
        </p:spPr>
      </p:sp>
      <p:sp>
        <p:nvSpPr>
          <p:cNvPr id="14" name="Shape 11"/>
          <p:cNvSpPr/>
          <p:nvPr/>
        </p:nvSpPr>
        <p:spPr>
          <a:xfrm>
            <a:off x="960120" y="2359152"/>
            <a:ext cx="7799832" cy="9144"/>
          </a:xfrm>
          <a:prstGeom prst="rect">
            <a:avLst/>
          </a:prstGeom>
          <a:solidFill>
            <a:srgbClr val="1E2A3D"/>
          </a:solidFill>
          <a:ln/>
        </p:spPr>
      </p:sp>
      <p:sp>
        <p:nvSpPr>
          <p:cNvPr id="15" name="Text 12"/>
          <p:cNvSpPr/>
          <p:nvPr/>
        </p:nvSpPr>
        <p:spPr>
          <a:xfrm>
            <a:off x="1115568" y="1993392"/>
            <a:ext cx="4020617" cy="292608"/>
          </a:xfrm>
          <a:prstGeom prst="rect">
            <a:avLst/>
          </a:prstGeom>
          <a:noFill/>
          <a:ln/>
        </p:spPr>
        <p:txBody>
          <a:bodyPr wrap="square" lIns="0" tIns="0" rIns="0" bIns="0" rtlCol="0" anchor="ctr"/>
          <a:lstStyle/>
          <a:p>
            <a:r>
              <a:rPr lang="en-US" sz="1300" spc="120" kern="0" dirty="0">
                <a:solidFill>
                  <a:srgbClr val="8892B0"/>
                </a:solidFill>
                <a:latin typeface="Segoe UI" pitchFamily="34" charset="0"/>
                <a:ea typeface="Segoe UI" pitchFamily="34" charset="-122"/>
                <a:cs typeface="Segoe UI" pitchFamily="34" charset="-120"/>
              </a:rPr>
              <a:t>▸ CLAIM  clause_72</a:t>
            </a:r>
            <a:endParaRPr lang="en-US" sz="1300" dirty="0"/>
          </a:p>
        </p:txBody>
      </p:sp>
      <p:sp>
        <p:nvSpPr>
          <p:cNvPr id="16" name="Text 13"/>
          <p:cNvSpPr/>
          <p:nvPr/>
        </p:nvSpPr>
        <p:spPr>
          <a:xfrm>
            <a:off x="5485486" y="1993392"/>
            <a:ext cx="3100730" cy="292608"/>
          </a:xfrm>
          <a:prstGeom prst="rect">
            <a:avLst/>
          </a:prstGeom>
          <a:noFill/>
          <a:ln/>
        </p:spPr>
        <p:txBody>
          <a:bodyPr wrap="square" lIns="0" tIns="0" rIns="0" bIns="0" rtlCol="0" anchor="ctr"/>
          <a:lstStyle/>
          <a:p>
            <a:pPr algn="r"/>
            <a:r>
              <a:rPr lang="en-US" sz="1300" spc="100" kern="0" dirty="0">
                <a:solidFill>
                  <a:srgbClr val="8892B0"/>
                </a:solidFill>
                <a:latin typeface="Segoe UI" pitchFamily="34" charset="0"/>
                <a:ea typeface="Segoe UI" pitchFamily="34" charset="-122"/>
                <a:cs typeface="Segoe UI" pitchFamily="34" charset="-120"/>
              </a:rPr>
              <a:t>kind=structural · categorical</a:t>
            </a:r>
            <a:endParaRPr lang="en-US" sz="1300" dirty="0"/>
          </a:p>
        </p:txBody>
      </p:sp>
      <p:sp>
        <p:nvSpPr>
          <p:cNvPr id="17" name="Text 14"/>
          <p:cNvSpPr/>
          <p:nvPr/>
        </p:nvSpPr>
        <p:spPr>
          <a:xfrm>
            <a:off x="1207008" y="2542032"/>
            <a:ext cx="7360920" cy="640080"/>
          </a:xfrm>
          <a:prstGeom prst="rect">
            <a:avLst/>
          </a:prstGeom>
          <a:noFill/>
          <a:ln/>
        </p:spPr>
        <p:txBody>
          <a:bodyPr wrap="square" lIns="0" tIns="0" rIns="0" bIns="0" rtlCol="0" anchor="ctr"/>
          <a:lstStyle/>
          <a:p>
            <a:r>
              <a:rPr lang="en-US" sz="2200" i="1" dirty="0">
                <a:solidFill>
                  <a:srgbClr val="F5F0EB"/>
                </a:solidFill>
                <a:latin typeface="Segoe UI" pitchFamily="34" charset="0"/>
                <a:ea typeface="Segoe UI" pitchFamily="34" charset="-122"/>
                <a:cs typeface="Segoe UI" pitchFamily="34" charset="-120"/>
              </a:rPr>
              <a:t>“Clause 7.2 permits this refund”</a:t>
            </a:r>
            <a:endParaRPr lang="en-US" sz="2200" dirty="0"/>
          </a:p>
        </p:txBody>
      </p:sp>
      <p:sp>
        <p:nvSpPr>
          <p:cNvPr id="18" name="Text 15"/>
          <p:cNvSpPr/>
          <p:nvPr/>
        </p:nvSpPr>
        <p:spPr>
          <a:xfrm>
            <a:off x="1207008" y="3218688"/>
            <a:ext cx="7360920" cy="292608"/>
          </a:xfrm>
          <a:prstGeom prst="rect">
            <a:avLst/>
          </a:prstGeom>
          <a:noFill/>
          <a:ln/>
        </p:spPr>
        <p:txBody>
          <a:bodyPr wrap="square" lIns="0" tIns="0" rIns="0" bIns="0" rtlCol="0" anchor="ctr"/>
          <a:lstStyle/>
          <a:p>
            <a:r>
              <a:rPr lang="en-US" sz="1500" dirty="0">
                <a:solidFill>
                  <a:srgbClr val="8892B0"/>
                </a:solidFill>
                <a:latin typeface="Segoe UI" pitchFamily="34" charset="0"/>
                <a:ea typeface="Segoe UI" pitchFamily="34" charset="-122"/>
                <a:cs typeface="Segoe UI" pitchFamily="34" charset="-120"/>
              </a:rPr>
              <a:t>Roles:  issue_refund,  show_text</a:t>
            </a:r>
            <a:endParaRPr lang="en-US" sz="1500" dirty="0"/>
          </a:p>
        </p:txBody>
      </p:sp>
      <p:sp>
        <p:nvSpPr>
          <p:cNvPr id="19" name="Text 16"/>
          <p:cNvSpPr/>
          <p:nvPr/>
        </p:nvSpPr>
        <p:spPr>
          <a:xfrm>
            <a:off x="1207008" y="3584448"/>
            <a:ext cx="7360920" cy="502920"/>
          </a:xfrm>
          <a:prstGeom prst="rect">
            <a:avLst/>
          </a:prstGeom>
          <a:noFill/>
          <a:ln/>
        </p:spPr>
        <p:txBody>
          <a:bodyPr wrap="square" lIns="0" tIns="0" rIns="0" bIns="0" rtlCol="0" anchor="ctr"/>
          <a:lstStyle/>
          <a:p>
            <a:r>
              <a:rPr lang="en-US" sz="1600" dirty="0">
                <a:solidFill>
                  <a:srgbClr val="D0C8B8"/>
                </a:solidFill>
                <a:latin typeface="Segoe UI" pitchFamily="34" charset="0"/>
                <a:ea typeface="Segoe UI" pitchFamily="34" charset="-122"/>
                <a:cs typeface="Segoe UI" pitchFamily="34" charset="-120"/>
              </a:rPr>
              <a:t>Five spans at context assembly. No span for clause 7.2.</a:t>
            </a:r>
            <a:endParaRPr lang="en-US" sz="1600" dirty="0"/>
          </a:p>
        </p:txBody>
      </p:sp>
      <p:sp>
        <p:nvSpPr>
          <p:cNvPr id="20" name="Text 17"/>
          <p:cNvSpPr/>
          <p:nvPr/>
        </p:nvSpPr>
        <p:spPr>
          <a:xfrm>
            <a:off x="1207008" y="4160520"/>
            <a:ext cx="7360920" cy="640080"/>
          </a:xfrm>
          <a:prstGeom prst="rect">
            <a:avLst/>
          </a:prstGeom>
          <a:noFill/>
          <a:ln/>
        </p:spPr>
        <p:txBody>
          <a:bodyPr wrap="square" lIns="0" tIns="0" rIns="0" bIns="0" rtlCol="0" anchor="ctr"/>
          <a:lstStyle/>
          <a:p>
            <a:r>
              <a:rPr lang="en-US" sz="1600" b="1" dirty="0">
                <a:solidFill>
                  <a:srgbClr val="C9A227"/>
                </a:solidFill>
                <a:latin typeface="SF Mono" pitchFamily="34" charset="0"/>
                <a:ea typeface="SF Mono" pitchFamily="34" charset="-122"/>
                <a:cs typeface="SF Mono" pitchFamily="34" charset="-120"/>
              </a:rPr>
              <a:t>VERDICT   UNSUPPORTED    spans=(none)</a:t>
            </a:r>
            <a:endParaRPr lang="en-US" sz="1600" dirty="0"/>
          </a:p>
        </p:txBody>
      </p:sp>
      <p:sp>
        <p:nvSpPr>
          <p:cNvPr id="21" name="Shape 18"/>
          <p:cNvSpPr/>
          <p:nvPr/>
        </p:nvSpPr>
        <p:spPr>
          <a:xfrm>
            <a:off x="8961120" y="1920240"/>
            <a:ext cx="8375904" cy="3246120"/>
          </a:xfrm>
          <a:prstGeom prst="rect">
            <a:avLst/>
          </a:prstGeom>
          <a:solidFill>
            <a:srgbClr val="0F1525"/>
          </a:solidFill>
          <a:ln w="8636">
            <a:solidFill>
              <a:srgbClr val="2D3A52"/>
            </a:solidFill>
            <a:prstDash val="solid"/>
          </a:ln>
        </p:spPr>
      </p:sp>
      <p:sp>
        <p:nvSpPr>
          <p:cNvPr id="22" name="Shape 19"/>
          <p:cNvSpPr/>
          <p:nvPr/>
        </p:nvSpPr>
        <p:spPr>
          <a:xfrm>
            <a:off x="8970264" y="2359152"/>
            <a:ext cx="8357616" cy="9144"/>
          </a:xfrm>
          <a:prstGeom prst="rect">
            <a:avLst/>
          </a:prstGeom>
          <a:solidFill>
            <a:srgbClr val="1E2A3D"/>
          </a:solidFill>
          <a:ln/>
        </p:spPr>
      </p:sp>
      <p:sp>
        <p:nvSpPr>
          <p:cNvPr id="23" name="Text 20"/>
          <p:cNvSpPr/>
          <p:nvPr/>
        </p:nvSpPr>
        <p:spPr>
          <a:xfrm>
            <a:off x="9125712" y="1993392"/>
            <a:ext cx="4321820" cy="292608"/>
          </a:xfrm>
          <a:prstGeom prst="rect">
            <a:avLst/>
          </a:prstGeom>
          <a:noFill/>
          <a:ln/>
        </p:spPr>
        <p:txBody>
          <a:bodyPr wrap="square" lIns="0" tIns="0" rIns="0" bIns="0" rtlCol="0" anchor="ctr"/>
          <a:lstStyle/>
          <a:p>
            <a:r>
              <a:rPr lang="en-US" sz="1300" spc="120" kern="0" dirty="0">
                <a:solidFill>
                  <a:srgbClr val="8892B0"/>
                </a:solidFill>
                <a:latin typeface="Segoe UI" pitchFamily="34" charset="0"/>
                <a:ea typeface="Segoe UI" pitchFamily="34" charset="-122"/>
                <a:cs typeface="Segoe UI" pitchFamily="34" charset="-120"/>
              </a:rPr>
              <a:t>▸ SPANS AT ASSEMBLY</a:t>
            </a:r>
            <a:endParaRPr lang="en-US" sz="1300" dirty="0"/>
          </a:p>
        </p:txBody>
      </p:sp>
      <p:sp>
        <p:nvSpPr>
          <p:cNvPr id="24" name="Text 21"/>
          <p:cNvSpPr/>
          <p:nvPr/>
        </p:nvSpPr>
        <p:spPr>
          <a:xfrm>
            <a:off x="13819144" y="1993392"/>
            <a:ext cx="3335000" cy="292608"/>
          </a:xfrm>
          <a:prstGeom prst="rect">
            <a:avLst/>
          </a:prstGeom>
          <a:noFill/>
          <a:ln/>
        </p:spPr>
        <p:txBody>
          <a:bodyPr wrap="square" lIns="0" tIns="0" rIns="0" bIns="0" rtlCol="0" anchor="ctr"/>
          <a:lstStyle/>
          <a:p>
            <a:pPr algn="r"/>
            <a:r>
              <a:rPr lang="en-US" sz="1300" spc="100" kern="0" dirty="0">
                <a:solidFill>
                  <a:srgbClr val="8892B0"/>
                </a:solidFill>
                <a:latin typeface="Segoe UI" pitchFamily="34" charset="0"/>
                <a:ea typeface="Segoe UI" pitchFamily="34" charset="-122"/>
                <a:cs typeface="Segoe UI" pitchFamily="34" charset="-120"/>
              </a:rPr>
              <a:t>n=5</a:t>
            </a:r>
            <a:endParaRPr lang="en-US" sz="1300" dirty="0"/>
          </a:p>
        </p:txBody>
      </p:sp>
      <p:sp>
        <p:nvSpPr>
          <p:cNvPr id="25" name="Text 22"/>
          <p:cNvSpPr/>
          <p:nvPr/>
        </p:nvSpPr>
        <p:spPr>
          <a:xfrm>
            <a:off x="9189720" y="2487168"/>
            <a:ext cx="1234440" cy="384048"/>
          </a:xfrm>
          <a:prstGeom prst="rect">
            <a:avLst/>
          </a:prstGeom>
          <a:noFill/>
          <a:ln/>
        </p:spPr>
        <p:txBody>
          <a:bodyPr wrap="square" lIns="0" tIns="0" rIns="0" bIns="0" rtlCol="0" anchor="ctr"/>
          <a:lstStyle/>
          <a:p>
            <a:r>
              <a:rPr lang="en-US" sz="1300" dirty="0">
                <a:solidFill>
                  <a:srgbClr val="D4AF37"/>
                </a:solidFill>
                <a:latin typeface="SF Mono" pitchFamily="34" charset="0"/>
                <a:ea typeface="SF Mono" pitchFamily="34" charset="-122"/>
                <a:cs typeface="SF Mono" pitchFamily="34" charset="-120"/>
              </a:rPr>
              <a:t>span-1</a:t>
            </a:r>
            <a:endParaRPr lang="en-US" sz="1300" dirty="0"/>
          </a:p>
        </p:txBody>
      </p:sp>
      <p:sp>
        <p:nvSpPr>
          <p:cNvPr id="26" name="Text 23"/>
          <p:cNvSpPr/>
          <p:nvPr/>
        </p:nvSpPr>
        <p:spPr>
          <a:xfrm>
            <a:off x="10469880" y="2487168"/>
            <a:ext cx="4160520" cy="384048"/>
          </a:xfrm>
          <a:prstGeom prst="rect">
            <a:avLst/>
          </a:prstGeom>
          <a:noFill/>
          <a:ln/>
        </p:spPr>
        <p:txBody>
          <a:bodyPr wrap="square" lIns="0" tIns="0" rIns="0" bIns="0" rtlCol="0" anchor="ctr"/>
          <a:lstStyle/>
          <a:p>
            <a:r>
              <a:rPr lang="en-US" sz="1400" dirty="0">
                <a:solidFill>
                  <a:srgbClr val="F5F0EB"/>
                </a:solidFill>
                <a:latin typeface="Segoe UI" pitchFamily="34" charset="0"/>
                <a:ea typeface="Segoe UI" pitchFamily="34" charset="-122"/>
                <a:cs typeface="Segoe UI" pitchFamily="34" charset="-120"/>
              </a:rPr>
              <a:t>doc:vendor-agreement-v3</a:t>
            </a:r>
            <a:endParaRPr lang="en-US" sz="1400" dirty="0"/>
          </a:p>
        </p:txBody>
      </p:sp>
      <p:sp>
        <p:nvSpPr>
          <p:cNvPr id="27" name="Text 24"/>
          <p:cNvSpPr/>
          <p:nvPr/>
        </p:nvSpPr>
        <p:spPr>
          <a:xfrm>
            <a:off x="14676120" y="2487168"/>
            <a:ext cx="2423160" cy="384048"/>
          </a:xfrm>
          <a:prstGeom prst="rect">
            <a:avLst/>
          </a:prstGeom>
          <a:noFill/>
          <a:ln/>
        </p:spPr>
        <p:txBody>
          <a:bodyPr wrap="square" lIns="0" tIns="0" rIns="0" bIns="0" rtlCol="0" anchor="ctr"/>
          <a:lstStyle/>
          <a:p>
            <a:r>
              <a:rPr lang="en-US" sz="1300" dirty="0">
                <a:solidFill>
                  <a:srgbClr val="8892B0"/>
                </a:solidFill>
                <a:latin typeface="Segoe UI" pitchFamily="34" charset="0"/>
                <a:ea typeface="Segoe UI" pitchFamily="34" charset="-122"/>
                <a:cs typeface="Segoe UI" pitchFamily="34" charset="-120"/>
              </a:rPr>
              <a:t>vendor-public</a:t>
            </a:r>
            <a:endParaRPr lang="en-US" sz="1300" dirty="0"/>
          </a:p>
        </p:txBody>
      </p:sp>
      <p:sp>
        <p:nvSpPr>
          <p:cNvPr id="28" name="Text 25"/>
          <p:cNvSpPr/>
          <p:nvPr/>
        </p:nvSpPr>
        <p:spPr>
          <a:xfrm>
            <a:off x="9189720" y="2962656"/>
            <a:ext cx="1234440" cy="384048"/>
          </a:xfrm>
          <a:prstGeom prst="rect">
            <a:avLst/>
          </a:prstGeom>
          <a:noFill/>
          <a:ln/>
        </p:spPr>
        <p:txBody>
          <a:bodyPr wrap="square" lIns="0" tIns="0" rIns="0" bIns="0" rtlCol="0" anchor="ctr"/>
          <a:lstStyle/>
          <a:p>
            <a:r>
              <a:rPr lang="en-US" sz="1300" dirty="0">
                <a:solidFill>
                  <a:srgbClr val="D4AF37"/>
                </a:solidFill>
                <a:latin typeface="SF Mono" pitchFamily="34" charset="0"/>
                <a:ea typeface="SF Mono" pitchFamily="34" charset="-122"/>
                <a:cs typeface="SF Mono" pitchFamily="34" charset="-120"/>
              </a:rPr>
              <a:t>span-2</a:t>
            </a:r>
            <a:endParaRPr lang="en-US" sz="1300" dirty="0"/>
          </a:p>
        </p:txBody>
      </p:sp>
      <p:sp>
        <p:nvSpPr>
          <p:cNvPr id="29" name="Text 26"/>
          <p:cNvSpPr/>
          <p:nvPr/>
        </p:nvSpPr>
        <p:spPr>
          <a:xfrm>
            <a:off x="10469880" y="2962656"/>
            <a:ext cx="4160520" cy="384048"/>
          </a:xfrm>
          <a:prstGeom prst="rect">
            <a:avLst/>
          </a:prstGeom>
          <a:noFill/>
          <a:ln/>
        </p:spPr>
        <p:txBody>
          <a:bodyPr wrap="square" lIns="0" tIns="0" rIns="0" bIns="0" rtlCol="0" anchor="ctr"/>
          <a:lstStyle/>
          <a:p>
            <a:r>
              <a:rPr lang="en-US" sz="1400" dirty="0">
                <a:solidFill>
                  <a:srgbClr val="F5F0EB"/>
                </a:solidFill>
                <a:latin typeface="Segoe UI" pitchFamily="34" charset="0"/>
                <a:ea typeface="Segoe UI" pitchFamily="34" charset="-122"/>
                <a:cs typeface="Segoe UI" pitchFamily="34" charset="-120"/>
              </a:rPr>
              <a:t>db:orders  ·  ORD-9</a:t>
            </a:r>
            <a:endParaRPr lang="en-US" sz="1400" dirty="0"/>
          </a:p>
        </p:txBody>
      </p:sp>
      <p:sp>
        <p:nvSpPr>
          <p:cNvPr id="30" name="Text 27"/>
          <p:cNvSpPr/>
          <p:nvPr/>
        </p:nvSpPr>
        <p:spPr>
          <a:xfrm>
            <a:off x="14676120" y="2962656"/>
            <a:ext cx="2423160" cy="384048"/>
          </a:xfrm>
          <a:prstGeom prst="rect">
            <a:avLst/>
          </a:prstGeom>
          <a:noFill/>
          <a:ln/>
        </p:spPr>
        <p:txBody>
          <a:bodyPr wrap="square" lIns="0" tIns="0" rIns="0" bIns="0" rtlCol="0" anchor="ctr"/>
          <a:lstStyle/>
          <a:p>
            <a:r>
              <a:rPr lang="en-US" sz="1300" dirty="0">
                <a:solidFill>
                  <a:srgbClr val="8892B0"/>
                </a:solidFill>
                <a:latin typeface="Segoe UI" pitchFamily="34" charset="0"/>
                <a:ea typeface="Segoe UI" pitchFamily="34" charset="-122"/>
                <a:cs typeface="Segoe UI" pitchFamily="34" charset="-120"/>
              </a:rPr>
              <a:t>vendor-public</a:t>
            </a:r>
            <a:endParaRPr lang="en-US" sz="1300" dirty="0"/>
          </a:p>
        </p:txBody>
      </p:sp>
      <p:sp>
        <p:nvSpPr>
          <p:cNvPr id="31" name="Text 28"/>
          <p:cNvSpPr/>
          <p:nvPr/>
        </p:nvSpPr>
        <p:spPr>
          <a:xfrm>
            <a:off x="9189720" y="3438144"/>
            <a:ext cx="1234440" cy="384048"/>
          </a:xfrm>
          <a:prstGeom prst="rect">
            <a:avLst/>
          </a:prstGeom>
          <a:noFill/>
          <a:ln/>
        </p:spPr>
        <p:txBody>
          <a:bodyPr wrap="square" lIns="0" tIns="0" rIns="0" bIns="0" rtlCol="0" anchor="ctr"/>
          <a:lstStyle/>
          <a:p>
            <a:r>
              <a:rPr lang="en-US" sz="1300" dirty="0">
                <a:solidFill>
                  <a:srgbClr val="D4AF37"/>
                </a:solidFill>
                <a:latin typeface="SF Mono" pitchFamily="34" charset="0"/>
                <a:ea typeface="SF Mono" pitchFamily="34" charset="-122"/>
                <a:cs typeface="SF Mono" pitchFamily="34" charset="-120"/>
              </a:rPr>
              <a:t>span-3</a:t>
            </a:r>
            <a:endParaRPr lang="en-US" sz="1300" dirty="0"/>
          </a:p>
        </p:txBody>
      </p:sp>
      <p:sp>
        <p:nvSpPr>
          <p:cNvPr id="32" name="Text 29"/>
          <p:cNvSpPr/>
          <p:nvPr/>
        </p:nvSpPr>
        <p:spPr>
          <a:xfrm>
            <a:off x="10469880" y="3438144"/>
            <a:ext cx="4160520" cy="384048"/>
          </a:xfrm>
          <a:prstGeom prst="rect">
            <a:avLst/>
          </a:prstGeom>
          <a:noFill/>
          <a:ln/>
        </p:spPr>
        <p:txBody>
          <a:bodyPr wrap="square" lIns="0" tIns="0" rIns="0" bIns="0" rtlCol="0" anchor="ctr"/>
          <a:lstStyle/>
          <a:p>
            <a:r>
              <a:rPr lang="en-US" sz="1400" dirty="0">
                <a:solidFill>
                  <a:srgbClr val="F5F0EB"/>
                </a:solidFill>
                <a:latin typeface="Segoe UI" pitchFamily="34" charset="0"/>
                <a:ea typeface="Segoe UI" pitchFamily="34" charset="-122"/>
                <a:cs typeface="Segoe UI" pitchFamily="34" charset="-120"/>
              </a:rPr>
              <a:t>doc:hr-exception-desk</a:t>
            </a:r>
            <a:endParaRPr lang="en-US" sz="1400" dirty="0"/>
          </a:p>
        </p:txBody>
      </p:sp>
      <p:sp>
        <p:nvSpPr>
          <p:cNvPr id="33" name="Text 30"/>
          <p:cNvSpPr/>
          <p:nvPr/>
        </p:nvSpPr>
        <p:spPr>
          <a:xfrm>
            <a:off x="14676120" y="3438144"/>
            <a:ext cx="2423160" cy="384048"/>
          </a:xfrm>
          <a:prstGeom prst="rect">
            <a:avLst/>
          </a:prstGeom>
          <a:noFill/>
          <a:ln/>
        </p:spPr>
        <p:txBody>
          <a:bodyPr wrap="square" lIns="0" tIns="0" rIns="0" bIns="0" rtlCol="0" anchor="ctr"/>
          <a:lstStyle/>
          <a:p>
            <a:r>
              <a:rPr lang="en-US" sz="1300" dirty="0">
                <a:solidFill>
                  <a:srgbClr val="8892B0"/>
                </a:solidFill>
                <a:latin typeface="Segoe UI" pitchFamily="34" charset="0"/>
                <a:ea typeface="Segoe UI" pitchFamily="34" charset="-122"/>
                <a:cs typeface="Segoe UI" pitchFamily="34" charset="-120"/>
              </a:rPr>
              <a:t>hr-confidential</a:t>
            </a:r>
            <a:endParaRPr lang="en-US" sz="1300" dirty="0"/>
          </a:p>
        </p:txBody>
      </p:sp>
      <p:sp>
        <p:nvSpPr>
          <p:cNvPr id="34" name="Text 31"/>
          <p:cNvSpPr/>
          <p:nvPr/>
        </p:nvSpPr>
        <p:spPr>
          <a:xfrm>
            <a:off x="9189720" y="3913632"/>
            <a:ext cx="1234440" cy="384048"/>
          </a:xfrm>
          <a:prstGeom prst="rect">
            <a:avLst/>
          </a:prstGeom>
          <a:noFill/>
          <a:ln/>
        </p:spPr>
        <p:txBody>
          <a:bodyPr wrap="square" lIns="0" tIns="0" rIns="0" bIns="0" rtlCol="0" anchor="ctr"/>
          <a:lstStyle/>
          <a:p>
            <a:r>
              <a:rPr lang="en-US" sz="1300" dirty="0">
                <a:solidFill>
                  <a:srgbClr val="D4AF37"/>
                </a:solidFill>
                <a:latin typeface="SF Mono" pitchFamily="34" charset="0"/>
                <a:ea typeface="SF Mono" pitchFamily="34" charset="-122"/>
                <a:cs typeface="SF Mono" pitchFamily="34" charset="-120"/>
              </a:rPr>
              <a:t>span-4</a:t>
            </a:r>
            <a:endParaRPr lang="en-US" sz="1300" dirty="0"/>
          </a:p>
        </p:txBody>
      </p:sp>
      <p:sp>
        <p:nvSpPr>
          <p:cNvPr id="35" name="Text 32"/>
          <p:cNvSpPr/>
          <p:nvPr/>
        </p:nvSpPr>
        <p:spPr>
          <a:xfrm>
            <a:off x="10469880" y="3913632"/>
            <a:ext cx="4160520" cy="384048"/>
          </a:xfrm>
          <a:prstGeom prst="rect">
            <a:avLst/>
          </a:prstGeom>
          <a:noFill/>
          <a:ln/>
        </p:spPr>
        <p:txBody>
          <a:bodyPr wrap="square" lIns="0" tIns="0" rIns="0" bIns="0" rtlCol="0" anchor="ctr"/>
          <a:lstStyle/>
          <a:p>
            <a:r>
              <a:rPr lang="en-US" sz="1400" dirty="0">
                <a:solidFill>
                  <a:srgbClr val="F5F0EB"/>
                </a:solidFill>
                <a:latin typeface="Segoe UI" pitchFamily="34" charset="0"/>
                <a:ea typeface="Segoe UI" pitchFamily="34" charset="-122"/>
                <a:cs typeface="Segoe UI" pitchFamily="34" charset="-120"/>
              </a:rPr>
              <a:t>doc:faq</a:t>
            </a:r>
            <a:endParaRPr lang="en-US" sz="1400" dirty="0"/>
          </a:p>
        </p:txBody>
      </p:sp>
      <p:sp>
        <p:nvSpPr>
          <p:cNvPr id="36" name="Text 33"/>
          <p:cNvSpPr/>
          <p:nvPr/>
        </p:nvSpPr>
        <p:spPr>
          <a:xfrm>
            <a:off x="14676120" y="3913632"/>
            <a:ext cx="2423160" cy="384048"/>
          </a:xfrm>
          <a:prstGeom prst="rect">
            <a:avLst/>
          </a:prstGeom>
          <a:noFill/>
          <a:ln/>
        </p:spPr>
        <p:txBody>
          <a:bodyPr wrap="square" lIns="0" tIns="0" rIns="0" bIns="0" rtlCol="0" anchor="ctr"/>
          <a:lstStyle/>
          <a:p>
            <a:r>
              <a:rPr lang="en-US" sz="1300" dirty="0">
                <a:solidFill>
                  <a:srgbClr val="8892B0"/>
                </a:solidFill>
                <a:latin typeface="Segoe UI" pitchFamily="34" charset="0"/>
                <a:ea typeface="Segoe UI" pitchFamily="34" charset="-122"/>
                <a:cs typeface="Segoe UI" pitchFamily="34" charset="-120"/>
              </a:rPr>
              <a:t>vendor-public</a:t>
            </a:r>
            <a:endParaRPr lang="en-US" sz="1300" dirty="0"/>
          </a:p>
        </p:txBody>
      </p:sp>
      <p:sp>
        <p:nvSpPr>
          <p:cNvPr id="37" name="Text 34"/>
          <p:cNvSpPr/>
          <p:nvPr/>
        </p:nvSpPr>
        <p:spPr>
          <a:xfrm>
            <a:off x="9189720" y="4389120"/>
            <a:ext cx="1234440" cy="384048"/>
          </a:xfrm>
          <a:prstGeom prst="rect">
            <a:avLst/>
          </a:prstGeom>
          <a:noFill/>
          <a:ln/>
        </p:spPr>
        <p:txBody>
          <a:bodyPr wrap="square" lIns="0" tIns="0" rIns="0" bIns="0" rtlCol="0" anchor="ctr"/>
          <a:lstStyle/>
          <a:p>
            <a:r>
              <a:rPr lang="en-US" sz="1300" dirty="0">
                <a:solidFill>
                  <a:srgbClr val="D4AF37"/>
                </a:solidFill>
                <a:latin typeface="SF Mono" pitchFamily="34" charset="0"/>
                <a:ea typeface="SF Mono" pitchFamily="34" charset="-122"/>
                <a:cs typeface="SF Mono" pitchFamily="34" charset="-120"/>
              </a:rPr>
              <a:t>span-5</a:t>
            </a:r>
            <a:endParaRPr lang="en-US" sz="1300" dirty="0"/>
          </a:p>
        </p:txBody>
      </p:sp>
      <p:sp>
        <p:nvSpPr>
          <p:cNvPr id="38" name="Text 35"/>
          <p:cNvSpPr/>
          <p:nvPr/>
        </p:nvSpPr>
        <p:spPr>
          <a:xfrm>
            <a:off x="10469880" y="4389120"/>
            <a:ext cx="4160520" cy="384048"/>
          </a:xfrm>
          <a:prstGeom prst="rect">
            <a:avLst/>
          </a:prstGeom>
          <a:noFill/>
          <a:ln/>
        </p:spPr>
        <p:txBody>
          <a:bodyPr wrap="square" lIns="0" tIns="0" rIns="0" bIns="0" rtlCol="0" anchor="ctr"/>
          <a:lstStyle/>
          <a:p>
            <a:r>
              <a:rPr lang="en-US" sz="1400" dirty="0">
                <a:solidFill>
                  <a:srgbClr val="F5F0EB"/>
                </a:solidFill>
                <a:latin typeface="Segoe UI" pitchFamily="34" charset="0"/>
                <a:ea typeface="Segoe UI" pitchFamily="34" charset="-122"/>
                <a:cs typeface="Segoe UI" pitchFamily="34" charset="-120"/>
              </a:rPr>
              <a:t>db:crm  ·  T-441</a:t>
            </a:r>
            <a:endParaRPr lang="en-US" sz="1400" dirty="0"/>
          </a:p>
        </p:txBody>
      </p:sp>
      <p:sp>
        <p:nvSpPr>
          <p:cNvPr id="39" name="Text 36"/>
          <p:cNvSpPr/>
          <p:nvPr/>
        </p:nvSpPr>
        <p:spPr>
          <a:xfrm>
            <a:off x="14676120" y="4389120"/>
            <a:ext cx="2423160" cy="384048"/>
          </a:xfrm>
          <a:prstGeom prst="rect">
            <a:avLst/>
          </a:prstGeom>
          <a:noFill/>
          <a:ln/>
        </p:spPr>
        <p:txBody>
          <a:bodyPr wrap="square" lIns="0" tIns="0" rIns="0" bIns="0" rtlCol="0" anchor="ctr"/>
          <a:lstStyle/>
          <a:p>
            <a:r>
              <a:rPr lang="en-US" sz="1300" dirty="0">
                <a:solidFill>
                  <a:srgbClr val="8892B0"/>
                </a:solidFill>
                <a:latin typeface="Segoe UI" pitchFamily="34" charset="0"/>
                <a:ea typeface="Segoe UI" pitchFamily="34" charset="-122"/>
                <a:cs typeface="Segoe UI" pitchFamily="34" charset="-120"/>
              </a:rPr>
              <a:t>vendor-public</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50976" y="5349240"/>
          <a:ext cx="16386048" cy="1965960"/>
        </p:xfrm>
        <a:graphic>
          <a:graphicData uri="http://schemas.openxmlformats.org/drawingml/2006/table">
            <a:tbl>
              <a:tblPr/>
              <a:tblGrid>
                <a:gridCol w="7498080"/>
                <a:gridCol w="4023360"/>
                <a:gridCol w="4864608"/>
              </a:tblGrid>
              <a:tr h="655320">
                <a:tc>
                  <a:txBody>
                    <a:bodyPr/>
                    <a:lstStyle/>
                    <a:p>
                      <a:pPr algn="l"/>
                      <a:r>
                        <a:rPr lang="en-US" sz="1300" b="1" dirty="0">
                          <a:solidFill>
                            <a:srgbClr val="8892B0"/>
                          </a:solidFill>
                          <a:latin typeface="Segoe UI" pitchFamily="34" charset="0"/>
                          <a:ea typeface="Segoe UI" pitchFamily="34" charset="-122"/>
                          <a:cs typeface="Segoe UI" pitchFamily="34" charset="-120"/>
                        </a:rPr>
                        <a:t>claim_id</a:t>
                      </a:r>
                      <a:endParaRPr lang="en-US" sz="1300" dirty="0">
                        <a:latin typeface="Segoe UI" charset="0"/>
                        <a:ea typeface="Segoe UI" charset="0"/>
                        <a:cs typeface="Segoe UI" charset="0"/>
                      </a:endParaRPr>
                    </a:p>
                  </a:txBody>
                  <a:tcPr marL="101600" marR="101600" marT="88900" marB="88900" anchor="ctr">
                    <a:lnL w="6350" cap="flat" cmpd="sng" algn="ctr">
                      <a:solidFill>
                        <a:srgbClr val="1E2A3D"/>
                      </a:solidFill>
                      <a:prstDash val="solid"/>
                      <a:round/>
                      <a:headEnd type="none" w="med" len="med"/>
                      <a:tailEnd type="none" w="med" len="med"/>
                    </a:lnL>
                    <a:lnR w="6350" cap="flat" cmpd="sng" algn="ctr">
                      <a:solidFill>
                        <a:srgbClr val="1E2A3D"/>
                      </a:solidFill>
                      <a:prstDash val="solid"/>
                      <a:round/>
                      <a:headEnd type="none" w="med" len="med"/>
                      <a:tailEnd type="none" w="med" len="med"/>
                    </a:lnR>
                    <a:lnT w="6350" cap="flat" cmpd="sng" algn="ctr">
                      <a:solidFill>
                        <a:srgbClr val="1E2A3D"/>
                      </a:solidFill>
                      <a:prstDash val="solid"/>
                      <a:round/>
                      <a:headEnd type="none" w="med" len="med"/>
                      <a:tailEnd type="none" w="med" len="med"/>
                    </a:lnT>
                    <a:lnB w="6350" cap="flat" cmpd="sng" algn="ctr">
                      <a:solidFill>
                        <a:srgbClr val="1E2A3D"/>
                      </a:solidFill>
                      <a:prstDash val="solid"/>
                      <a:round/>
                      <a:headEnd type="none" w="med" len="med"/>
                      <a:tailEnd type="none" w="med" len="med"/>
                    </a:lnB>
                    <a:solidFill>
                      <a:srgbClr val="162032"/>
                    </a:solidFill>
                  </a:tcPr>
                </a:tc>
                <a:tc>
                  <a:txBody>
                    <a:bodyPr/>
                    <a:lstStyle/>
                    <a:p>
                      <a:pPr algn="l"/>
                      <a:r>
                        <a:rPr lang="en-US" sz="1300" b="1" dirty="0">
                          <a:solidFill>
                            <a:srgbClr val="8892B0"/>
                          </a:solidFill>
                          <a:latin typeface="Segoe UI" pitchFamily="34" charset="0"/>
                          <a:ea typeface="Segoe UI" pitchFamily="34" charset="-122"/>
                          <a:cs typeface="Segoe UI" pitchFamily="34" charset="-120"/>
                        </a:rPr>
                        <a:t>verdict</a:t>
                      </a:r>
                      <a:endParaRPr lang="en-US" sz="1300" dirty="0">
                        <a:latin typeface="Segoe UI" charset="0"/>
                        <a:ea typeface="Segoe UI" charset="0"/>
                        <a:cs typeface="Segoe UI" charset="0"/>
                      </a:endParaRPr>
                    </a:p>
                  </a:txBody>
                  <a:tcPr marL="101600" marR="101600" marT="88900" marB="88900" anchor="ctr">
                    <a:lnL w="6350" cap="flat" cmpd="sng" algn="ctr">
                      <a:solidFill>
                        <a:srgbClr val="1E2A3D"/>
                      </a:solidFill>
                      <a:prstDash val="solid"/>
                      <a:round/>
                      <a:headEnd type="none" w="med" len="med"/>
                      <a:tailEnd type="none" w="med" len="med"/>
                    </a:lnL>
                    <a:lnR w="6350" cap="flat" cmpd="sng" algn="ctr">
                      <a:solidFill>
                        <a:srgbClr val="1E2A3D"/>
                      </a:solidFill>
                      <a:prstDash val="solid"/>
                      <a:round/>
                      <a:headEnd type="none" w="med" len="med"/>
                      <a:tailEnd type="none" w="med" len="med"/>
                    </a:lnR>
                    <a:lnT w="6350" cap="flat" cmpd="sng" algn="ctr">
                      <a:solidFill>
                        <a:srgbClr val="1E2A3D"/>
                      </a:solidFill>
                      <a:prstDash val="solid"/>
                      <a:round/>
                      <a:headEnd type="none" w="med" len="med"/>
                      <a:tailEnd type="none" w="med" len="med"/>
                    </a:lnT>
                    <a:lnB w="6350" cap="flat" cmpd="sng" algn="ctr">
                      <a:solidFill>
                        <a:srgbClr val="1E2A3D"/>
                      </a:solidFill>
                      <a:prstDash val="solid"/>
                      <a:round/>
                      <a:headEnd type="none" w="med" len="med"/>
                      <a:tailEnd type="none" w="med" len="med"/>
                    </a:lnB>
                    <a:solidFill>
                      <a:srgbClr val="162032"/>
                    </a:solidFill>
                  </a:tcPr>
                </a:tc>
                <a:tc>
                  <a:txBody>
                    <a:bodyPr/>
                    <a:lstStyle/>
                    <a:p>
                      <a:pPr algn="l"/>
                      <a:r>
                        <a:rPr lang="en-US" sz="1300" b="1" dirty="0">
                          <a:solidFill>
                            <a:srgbClr val="8892B0"/>
                          </a:solidFill>
                          <a:latin typeface="Segoe UI" pitchFamily="34" charset="0"/>
                          <a:ea typeface="Segoe UI" pitchFamily="34" charset="-122"/>
                          <a:cs typeface="Segoe UI" pitchFamily="34" charset="-120"/>
                        </a:rPr>
                        <a:t>spans</a:t>
                      </a:r>
                      <a:endParaRPr lang="en-US" sz="1300" dirty="0">
                        <a:latin typeface="Segoe UI" charset="0"/>
                        <a:ea typeface="Segoe UI" charset="0"/>
                        <a:cs typeface="Segoe UI" charset="0"/>
                      </a:endParaRPr>
                    </a:p>
                  </a:txBody>
                  <a:tcPr marL="101600" marR="101600" marT="88900" marB="88900" anchor="ctr">
                    <a:lnL w="6350" cap="flat" cmpd="sng" algn="ctr">
                      <a:solidFill>
                        <a:srgbClr val="1E2A3D"/>
                      </a:solidFill>
                      <a:prstDash val="solid"/>
                      <a:round/>
                      <a:headEnd type="none" w="med" len="med"/>
                      <a:tailEnd type="none" w="med" len="med"/>
                    </a:lnL>
                    <a:lnR w="6350" cap="flat" cmpd="sng" algn="ctr">
                      <a:solidFill>
                        <a:srgbClr val="1E2A3D"/>
                      </a:solidFill>
                      <a:prstDash val="solid"/>
                      <a:round/>
                      <a:headEnd type="none" w="med" len="med"/>
                      <a:tailEnd type="none" w="med" len="med"/>
                    </a:lnR>
                    <a:lnT w="6350" cap="flat" cmpd="sng" algn="ctr">
                      <a:solidFill>
                        <a:srgbClr val="1E2A3D"/>
                      </a:solidFill>
                      <a:prstDash val="solid"/>
                      <a:round/>
                      <a:headEnd type="none" w="med" len="med"/>
                      <a:tailEnd type="none" w="med" len="med"/>
                    </a:lnT>
                    <a:lnB w="6350" cap="flat" cmpd="sng" algn="ctr">
                      <a:solidFill>
                        <a:srgbClr val="1E2A3D"/>
                      </a:solidFill>
                      <a:prstDash val="solid"/>
                      <a:round/>
                      <a:headEnd type="none" w="med" len="med"/>
                      <a:tailEnd type="none" w="med" len="med"/>
                    </a:lnB>
                    <a:solidFill>
                      <a:srgbClr val="162032"/>
                    </a:solidFill>
                  </a:tcPr>
                </a:tc>
              </a:tr>
              <a:tr h="655320">
                <a:tc>
                  <a:txBody>
                    <a:bodyPr/>
                    <a:lstStyle/>
                    <a:p>
                      <a:r>
                        <a:rPr lang="en-US" sz="1400" dirty="0">
                          <a:solidFill>
                            <a:srgbClr val="F5F0EB"/>
                          </a:solidFill>
                          <a:latin typeface="Segoe UI" pitchFamily="34" charset="0"/>
                          <a:ea typeface="Segoe UI" pitchFamily="34" charset="-122"/>
                          <a:cs typeface="Segoe UI" pitchFamily="34" charset="-120"/>
                        </a:rPr>
                        <a:t>approval · amount · order · vendor_41 · hr_side</a:t>
                      </a:r>
                      <a:endParaRPr lang="en-US" sz="1400" dirty="0">
                        <a:latin typeface="Segoe UI" charset="0"/>
                        <a:ea typeface="Segoe UI" charset="0"/>
                        <a:cs typeface="Segoe UI" charset="0"/>
                      </a:endParaRPr>
                    </a:p>
                  </a:txBody>
                  <a:tcPr marL="101600" marR="101600" marT="101600" marB="101600" anchor="ctr">
                    <a:lnL w="6350" cap="flat" cmpd="sng" algn="ctr">
                      <a:solidFill>
                        <a:srgbClr val="1E2A3D"/>
                      </a:solidFill>
                      <a:prstDash val="solid"/>
                      <a:round/>
                      <a:headEnd type="none" w="med" len="med"/>
                      <a:tailEnd type="none" w="med" len="med"/>
                    </a:lnL>
                    <a:lnR w="6350" cap="flat" cmpd="sng" algn="ctr">
                      <a:solidFill>
                        <a:srgbClr val="1E2A3D"/>
                      </a:solidFill>
                      <a:prstDash val="solid"/>
                      <a:round/>
                      <a:headEnd type="none" w="med" len="med"/>
                      <a:tailEnd type="none" w="med" len="med"/>
                    </a:lnR>
                    <a:lnT w="6350" cap="flat" cmpd="sng" algn="ctr">
                      <a:solidFill>
                        <a:srgbClr val="1E2A3D"/>
                      </a:solidFill>
                      <a:prstDash val="solid"/>
                      <a:round/>
                      <a:headEnd type="none" w="med" len="med"/>
                      <a:tailEnd type="none" w="med" len="med"/>
                    </a:lnT>
                    <a:lnB w="6350" cap="flat" cmpd="sng" algn="ctr">
                      <a:solidFill>
                        <a:srgbClr val="1E2A3D"/>
                      </a:solidFill>
                      <a:prstDash val="solid"/>
                      <a:round/>
                      <a:headEnd type="none" w="med" len="med"/>
                      <a:tailEnd type="none" w="med" len="med"/>
                    </a:lnB>
                    <a:solidFill>
                      <a:srgbClr val="0F1525"/>
                    </a:solidFill>
                  </a:tcPr>
                </a:tc>
                <a:tc>
                  <a:txBody>
                    <a:bodyPr/>
                    <a:lstStyle/>
                    <a:p>
                      <a:r>
                        <a:rPr lang="en-US" sz="1400" b="1" dirty="0">
                          <a:solidFill>
                            <a:srgbClr val="F5F0EB"/>
                          </a:solidFill>
                          <a:latin typeface="Segoe UI" pitchFamily="34" charset="0"/>
                          <a:ea typeface="Segoe UI" pitchFamily="34" charset="-122"/>
                          <a:cs typeface="Segoe UI" pitchFamily="34" charset="-120"/>
                        </a:rPr>
                        <a:t>SUPPORTED</a:t>
                      </a:r>
                      <a:endParaRPr lang="en-US" sz="1400" dirty="0">
                        <a:latin typeface="Segoe UI" charset="0"/>
                        <a:ea typeface="Segoe UI" charset="0"/>
                        <a:cs typeface="Segoe UI" charset="0"/>
                      </a:endParaRPr>
                    </a:p>
                  </a:txBody>
                  <a:tcPr marL="101600" marR="101600" marT="101600" marB="101600" anchor="ctr">
                    <a:lnL w="6350" cap="flat" cmpd="sng" algn="ctr">
                      <a:solidFill>
                        <a:srgbClr val="1E2A3D"/>
                      </a:solidFill>
                      <a:prstDash val="solid"/>
                      <a:round/>
                      <a:headEnd type="none" w="med" len="med"/>
                      <a:tailEnd type="none" w="med" len="med"/>
                    </a:lnL>
                    <a:lnR w="6350" cap="flat" cmpd="sng" algn="ctr">
                      <a:solidFill>
                        <a:srgbClr val="1E2A3D"/>
                      </a:solidFill>
                      <a:prstDash val="solid"/>
                      <a:round/>
                      <a:headEnd type="none" w="med" len="med"/>
                      <a:tailEnd type="none" w="med" len="med"/>
                    </a:lnR>
                    <a:lnT w="6350" cap="flat" cmpd="sng" algn="ctr">
                      <a:solidFill>
                        <a:srgbClr val="1E2A3D"/>
                      </a:solidFill>
                      <a:prstDash val="solid"/>
                      <a:round/>
                      <a:headEnd type="none" w="med" len="med"/>
                      <a:tailEnd type="none" w="med" len="med"/>
                    </a:lnT>
                    <a:lnB w="6350" cap="flat" cmpd="sng" algn="ctr">
                      <a:solidFill>
                        <a:srgbClr val="1E2A3D"/>
                      </a:solidFill>
                      <a:prstDash val="solid"/>
                      <a:round/>
                      <a:headEnd type="none" w="med" len="med"/>
                      <a:tailEnd type="none" w="med" len="med"/>
                    </a:lnB>
                    <a:solidFill>
                      <a:srgbClr val="0F1525"/>
                    </a:solidFill>
                  </a:tcPr>
                </a:tc>
                <a:tc>
                  <a:txBody>
                    <a:bodyPr/>
                    <a:lstStyle/>
                    <a:p>
                      <a:r>
                        <a:rPr lang="en-US" sz="1300" dirty="0">
                          <a:solidFill>
                            <a:srgbClr val="D0C8B8"/>
                          </a:solidFill>
                          <a:latin typeface="SF Mono" pitchFamily="34" charset="0"/>
                          <a:ea typeface="SF Mono" pitchFamily="34" charset="-122"/>
                          <a:cs typeface="SF Mono" pitchFamily="34" charset="-120"/>
                        </a:rPr>
                        <a:t>span-1 / span-2 / span-3</a:t>
                      </a:r>
                      <a:endParaRPr lang="en-US" sz="1300" dirty="0">
                        <a:latin typeface="SF Mono" charset="0"/>
                        <a:ea typeface="SF Mono" charset="0"/>
                        <a:cs typeface="SF Mono" charset="0"/>
                      </a:endParaRPr>
                    </a:p>
                  </a:txBody>
                  <a:tcPr marL="101600" marR="101600" marT="101600" marB="101600" anchor="ctr">
                    <a:lnL w="6350" cap="flat" cmpd="sng" algn="ctr">
                      <a:solidFill>
                        <a:srgbClr val="1E2A3D"/>
                      </a:solidFill>
                      <a:prstDash val="solid"/>
                      <a:round/>
                      <a:headEnd type="none" w="med" len="med"/>
                      <a:tailEnd type="none" w="med" len="med"/>
                    </a:lnL>
                    <a:lnR w="6350" cap="flat" cmpd="sng" algn="ctr">
                      <a:solidFill>
                        <a:srgbClr val="1E2A3D"/>
                      </a:solidFill>
                      <a:prstDash val="solid"/>
                      <a:round/>
                      <a:headEnd type="none" w="med" len="med"/>
                      <a:tailEnd type="none" w="med" len="med"/>
                    </a:lnR>
                    <a:lnT w="6350" cap="flat" cmpd="sng" algn="ctr">
                      <a:solidFill>
                        <a:srgbClr val="1E2A3D"/>
                      </a:solidFill>
                      <a:prstDash val="solid"/>
                      <a:round/>
                      <a:headEnd type="none" w="med" len="med"/>
                      <a:tailEnd type="none" w="med" len="med"/>
                    </a:lnT>
                    <a:lnB w="6350" cap="flat" cmpd="sng" algn="ctr">
                      <a:solidFill>
                        <a:srgbClr val="1E2A3D"/>
                      </a:solidFill>
                      <a:prstDash val="solid"/>
                      <a:round/>
                      <a:headEnd type="none" w="med" len="med"/>
                      <a:tailEnd type="none" w="med" len="med"/>
                    </a:lnB>
                    <a:solidFill>
                      <a:srgbClr val="0F1525"/>
                    </a:solidFill>
                  </a:tcPr>
                </a:tc>
              </a:tr>
              <a:tr h="655320">
                <a:tc>
                  <a:txBody>
                    <a:bodyPr/>
                    <a:lstStyle/>
                    <a:p>
                      <a:r>
                        <a:rPr lang="en-US" sz="1500" b="1" dirty="0">
                          <a:solidFill>
                            <a:srgbClr val="F5F0EB"/>
                          </a:solidFill>
                          <a:latin typeface="Segoe UI" pitchFamily="34" charset="0"/>
                          <a:ea typeface="Segoe UI" pitchFamily="34" charset="-122"/>
                          <a:cs typeface="Segoe UI" pitchFamily="34" charset="-120"/>
                        </a:rPr>
                        <a:t>clause_72</a:t>
                      </a:r>
                      <a:endParaRPr lang="en-US" sz="1500" dirty="0">
                        <a:latin typeface="Segoe UI" charset="0"/>
                        <a:ea typeface="Segoe UI" charset="0"/>
                        <a:cs typeface="Segoe UI" charset="0"/>
                      </a:endParaRPr>
                    </a:p>
                  </a:txBody>
                  <a:tcPr marL="101600" marR="101600" marT="101600" marB="101600" anchor="ctr">
                    <a:lnL w="6350" cap="flat" cmpd="sng" algn="ctr">
                      <a:solidFill>
                        <a:srgbClr val="1E2A3D"/>
                      </a:solidFill>
                      <a:prstDash val="solid"/>
                      <a:round/>
                      <a:headEnd type="none" w="med" len="med"/>
                      <a:tailEnd type="none" w="med" len="med"/>
                    </a:lnL>
                    <a:lnR w="6350" cap="flat" cmpd="sng" algn="ctr">
                      <a:solidFill>
                        <a:srgbClr val="1E2A3D"/>
                      </a:solidFill>
                      <a:prstDash val="solid"/>
                      <a:round/>
                      <a:headEnd type="none" w="med" len="med"/>
                      <a:tailEnd type="none" w="med" len="med"/>
                    </a:lnR>
                    <a:lnT w="6350" cap="flat" cmpd="sng" algn="ctr">
                      <a:solidFill>
                        <a:srgbClr val="1E2A3D"/>
                      </a:solidFill>
                      <a:prstDash val="solid"/>
                      <a:round/>
                      <a:headEnd type="none" w="med" len="med"/>
                      <a:tailEnd type="none" w="med" len="med"/>
                    </a:lnT>
                    <a:lnB w="6350" cap="flat" cmpd="sng" algn="ctr">
                      <a:solidFill>
                        <a:srgbClr val="1E2A3D"/>
                      </a:solidFill>
                      <a:prstDash val="solid"/>
                      <a:round/>
                      <a:headEnd type="none" w="med" len="med"/>
                      <a:tailEnd type="none" w="med" len="med"/>
                    </a:lnB>
                    <a:solidFill>
                      <a:srgbClr val="2A0C08"/>
                    </a:solidFill>
                  </a:tcPr>
                </a:tc>
                <a:tc>
                  <a:txBody>
                    <a:bodyPr/>
                    <a:lstStyle/>
                    <a:p>
                      <a:r>
                        <a:rPr lang="en-US" sz="1500" b="1" dirty="0">
                          <a:solidFill>
                            <a:srgbClr val="C9A227"/>
                          </a:solidFill>
                          <a:latin typeface="Segoe UI" pitchFamily="34" charset="0"/>
                          <a:ea typeface="Segoe UI" pitchFamily="34" charset="-122"/>
                          <a:cs typeface="Segoe UI" pitchFamily="34" charset="-120"/>
                        </a:rPr>
                        <a:t>UNSUPPORTED</a:t>
                      </a:r>
                      <a:endParaRPr lang="en-US" sz="1500" dirty="0">
                        <a:latin typeface="Segoe UI" charset="0"/>
                        <a:ea typeface="Segoe UI" charset="0"/>
                        <a:cs typeface="Segoe UI" charset="0"/>
                      </a:endParaRPr>
                    </a:p>
                  </a:txBody>
                  <a:tcPr marL="101600" marR="101600" marT="101600" marB="101600" anchor="ctr">
                    <a:lnL w="6350" cap="flat" cmpd="sng" algn="ctr">
                      <a:solidFill>
                        <a:srgbClr val="1E2A3D"/>
                      </a:solidFill>
                      <a:prstDash val="solid"/>
                      <a:round/>
                      <a:headEnd type="none" w="med" len="med"/>
                      <a:tailEnd type="none" w="med" len="med"/>
                    </a:lnL>
                    <a:lnR w="6350" cap="flat" cmpd="sng" algn="ctr">
                      <a:solidFill>
                        <a:srgbClr val="1E2A3D"/>
                      </a:solidFill>
                      <a:prstDash val="solid"/>
                      <a:round/>
                      <a:headEnd type="none" w="med" len="med"/>
                      <a:tailEnd type="none" w="med" len="med"/>
                    </a:lnR>
                    <a:lnT w="6350" cap="flat" cmpd="sng" algn="ctr">
                      <a:solidFill>
                        <a:srgbClr val="1E2A3D"/>
                      </a:solidFill>
                      <a:prstDash val="solid"/>
                      <a:round/>
                      <a:headEnd type="none" w="med" len="med"/>
                      <a:tailEnd type="none" w="med" len="med"/>
                    </a:lnT>
                    <a:lnB w="6350" cap="flat" cmpd="sng" algn="ctr">
                      <a:solidFill>
                        <a:srgbClr val="1E2A3D"/>
                      </a:solidFill>
                      <a:prstDash val="solid"/>
                      <a:round/>
                      <a:headEnd type="none" w="med" len="med"/>
                      <a:tailEnd type="none" w="med" len="med"/>
                    </a:lnB>
                    <a:solidFill>
                      <a:srgbClr val="2A0C08"/>
                    </a:solidFill>
                  </a:tcPr>
                </a:tc>
                <a:tc>
                  <a:txBody>
                    <a:bodyPr/>
                    <a:lstStyle/>
                    <a:p>
                      <a:r>
                        <a:rPr lang="en-US" sz="1500" b="1" dirty="0">
                          <a:solidFill>
                            <a:srgbClr val="C9A227"/>
                          </a:solidFill>
                          <a:latin typeface="SF Mono" pitchFamily="34" charset="0"/>
                          <a:ea typeface="SF Mono" pitchFamily="34" charset="-122"/>
                          <a:cs typeface="SF Mono" pitchFamily="34" charset="-120"/>
                        </a:rPr>
                        <a:t>(none)</a:t>
                      </a:r>
                      <a:endParaRPr lang="en-US" sz="1500" dirty="0">
                        <a:latin typeface="SF Mono" charset="0"/>
                        <a:ea typeface="SF Mono" charset="0"/>
                        <a:cs typeface="SF Mono" charset="0"/>
                      </a:endParaRPr>
                    </a:p>
                  </a:txBody>
                  <a:tcPr marL="101600" marR="101600" marT="101600" marB="101600" anchor="ctr">
                    <a:lnL w="6350" cap="flat" cmpd="sng" algn="ctr">
                      <a:solidFill>
                        <a:srgbClr val="1E2A3D"/>
                      </a:solidFill>
                      <a:prstDash val="solid"/>
                      <a:round/>
                      <a:headEnd type="none" w="med" len="med"/>
                      <a:tailEnd type="none" w="med" len="med"/>
                    </a:lnL>
                    <a:lnR w="6350" cap="flat" cmpd="sng" algn="ctr">
                      <a:solidFill>
                        <a:srgbClr val="1E2A3D"/>
                      </a:solidFill>
                      <a:prstDash val="solid"/>
                      <a:round/>
                      <a:headEnd type="none" w="med" len="med"/>
                      <a:tailEnd type="none" w="med" len="med"/>
                    </a:lnR>
                    <a:lnT w="6350" cap="flat" cmpd="sng" algn="ctr">
                      <a:solidFill>
                        <a:srgbClr val="1E2A3D"/>
                      </a:solidFill>
                      <a:prstDash val="solid"/>
                      <a:round/>
                      <a:headEnd type="none" w="med" len="med"/>
                      <a:tailEnd type="none" w="med" len="med"/>
                    </a:lnT>
                    <a:lnB w="6350" cap="flat" cmpd="sng" algn="ctr">
                      <a:solidFill>
                        <a:srgbClr val="1E2A3D"/>
                      </a:solidFill>
                      <a:prstDash val="solid"/>
                      <a:round/>
                      <a:headEnd type="none" w="med" len="med"/>
                      <a:tailEnd type="none" w="med" len="med"/>
                    </a:lnB>
                    <a:solidFill>
                      <a:srgbClr val="2A0C08"/>
                    </a:solidFill>
                  </a:tcPr>
                </a:tc>
              </a:tr>
            </a:tbl>
          </a:graphicData>
        </a:graphic>
      </p:graphicFrame>
      <p:sp>
        <p:nvSpPr>
          <p:cNvPr id="41" name="Text 37"/>
          <p:cNvSpPr/>
          <p:nvPr/>
        </p:nvSpPr>
        <p:spPr>
          <a:xfrm>
            <a:off x="950976" y="7498080"/>
            <a:ext cx="16386048" cy="365760"/>
          </a:xfrm>
          <a:prstGeom prst="rect">
            <a:avLst/>
          </a:prstGeom>
          <a:noFill/>
          <a:ln/>
        </p:spPr>
        <p:txBody>
          <a:bodyPr wrap="square" lIns="0" tIns="0" rIns="0" bIns="0" rtlCol="0" anchor="ctr"/>
          <a:lstStyle/>
          <a:p>
            <a:r>
              <a:rPr lang="en-US" sz="1600" dirty="0">
                <a:solidFill>
                  <a:srgbClr val="D0C8B8"/>
                </a:solidFill>
                <a:latin typeface="Segoe UI" pitchFamily="34" charset="0"/>
                <a:ea typeface="Segoe UI" pitchFamily="34" charset="-122"/>
                <a:cs typeface="Segoe UI" pitchFamily="34" charset="-120"/>
              </a:rPr>
              <a:t>Absence of evidence, not conflicting evidence — the claim stays UNSUPPORTED. Clause 7.2 does not exist.</a:t>
            </a:r>
            <a:endParaRPr lang="en-US" sz="1600" dirty="0"/>
          </a:p>
        </p:txBody>
      </p:sp>
      <p:sp>
        <p:nvSpPr>
          <p:cNvPr id="42" name="Text 38"/>
          <p:cNvSpPr/>
          <p:nvPr/>
        </p:nvSpPr>
        <p:spPr>
          <a:xfrm>
            <a:off x="950976" y="7882128"/>
            <a:ext cx="16386048" cy="329184"/>
          </a:xfrm>
          <a:prstGeom prst="rect">
            <a:avLst/>
          </a:prstGeom>
          <a:noFill/>
          <a:ln/>
        </p:spPr>
        <p:txBody>
          <a:bodyPr wrap="square" lIns="0" tIns="0" rIns="0" bIns="0" rtlCol="0" anchor="ctr"/>
          <a:lstStyle/>
          <a:p>
            <a:r>
              <a:rPr lang="en-US" sz="1600" dirty="0">
                <a:solidFill>
                  <a:srgbClr val="8892B0"/>
                </a:solidFill>
                <a:latin typeface="Segoe UI" pitchFamily="34" charset="0"/>
                <a:ea typeface="Segoe UI" pitchFamily="34" charset="-122"/>
                <a:cs typeface="Segoe UI" pitchFamily="34" charset="-120"/>
              </a:rPr>
              <a:t>The claim carries the burden of proof. Nothing passes because nobody objected.</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12182A">
              <a:alpha val="30000"/>
            </a:srgbClr>
          </a:solidFill>
          <a:ln/>
        </p:spPr>
      </p:sp>
      <p:sp>
        <p:nvSpPr>
          <p:cNvPr id="3" name="Text 1"/>
          <p:cNvSpPr/>
          <p:nvPr/>
        </p:nvSpPr>
        <p:spPr>
          <a:xfrm>
            <a:off x="384048" y="402336"/>
            <a:ext cx="210312" cy="228600"/>
          </a:xfrm>
          <a:prstGeom prst="rect">
            <a:avLst/>
          </a:prstGeom>
          <a:noFill/>
          <a:ln/>
        </p:spPr>
        <p:txBody>
          <a:bodyPr wrap="square" lIns="0" tIns="0" rIns="0" bIns="0" rtlCol="0" anchor="ctr"/>
          <a:lstStyle/>
          <a:p>
            <a:r>
              <a:rPr lang="en-US" sz="1200" dirty="0">
                <a:solidFill>
                  <a:srgbClr val="C9A227"/>
                </a:solidFill>
                <a:latin typeface="Segoe UI" pitchFamily="34" charset="0"/>
                <a:ea typeface="Segoe UI" pitchFamily="34" charset="-122"/>
                <a:cs typeface="Segoe UI" pitchFamily="34" charset="-120"/>
              </a:rPr>
              <a:t>◢</a:t>
            </a:r>
            <a:endParaRPr lang="en-US" sz="1200" dirty="0"/>
          </a:p>
        </p:txBody>
      </p:sp>
      <p:sp>
        <p:nvSpPr>
          <p:cNvPr id="4" name="Text 2"/>
          <p:cNvSpPr/>
          <p:nvPr/>
        </p:nvSpPr>
        <p:spPr>
          <a:xfrm>
            <a:off x="621792" y="384048"/>
            <a:ext cx="3840480" cy="265176"/>
          </a:xfrm>
          <a:prstGeom prst="rect">
            <a:avLst/>
          </a:prstGeom>
          <a:noFill/>
          <a:ln/>
        </p:spPr>
        <p:txBody>
          <a:bodyPr wrap="square" lIns="0" tIns="0" rIns="0" bIns="0" rtlCol="0" anchor="ctr"/>
          <a:lstStyle/>
          <a:p>
            <a:r>
              <a:rPr lang="en-US" sz="1500" spc="150" kern="0" dirty="0">
                <a:solidFill>
                  <a:srgbClr val="F5F0EB"/>
                </a:solidFill>
                <a:latin typeface="Segoe UI" pitchFamily="34" charset="0"/>
                <a:ea typeface="Segoe UI" pitchFamily="34" charset="-122"/>
                <a:cs typeface="Segoe UI" pitchFamily="34" charset="-120"/>
              </a:rPr>
              <a:t>CONTROLPLANE//SYS</a:t>
            </a:r>
            <a:endParaRPr lang="en-US" sz="1500" dirty="0"/>
          </a:p>
        </p:txBody>
      </p:sp>
      <p:sp>
        <p:nvSpPr>
          <p:cNvPr id="5" name="Text 3"/>
          <p:cNvSpPr/>
          <p:nvPr/>
        </p:nvSpPr>
        <p:spPr>
          <a:xfrm>
            <a:off x="11521440" y="384048"/>
            <a:ext cx="6217920" cy="265176"/>
          </a:xfrm>
          <a:prstGeom prst="rect">
            <a:avLst/>
          </a:prstGeom>
          <a:noFill/>
          <a:ln/>
        </p:spPr>
        <p:txBody>
          <a:bodyPr wrap="square" lIns="0" tIns="0" rIns="0" bIns="0" rtlCol="0" anchor="ctr"/>
          <a:lstStyle/>
          <a:p>
            <a:pPr algn="r"/>
            <a:r>
              <a:rPr lang="en-US" sz="1500" spc="150" kern="0" dirty="0">
                <a:solidFill>
                  <a:srgbClr val="8892B0"/>
                </a:solidFill>
                <a:latin typeface="Segoe UI" pitchFamily="34" charset="0"/>
                <a:ea typeface="Segoe UI" pitchFamily="34" charset="-122"/>
                <a:cs typeface="Segoe UI" pitchFamily="34" charset="-120"/>
              </a:rPr>
              <a:t>05 // DEMO 02</a:t>
            </a:r>
            <a:endParaRPr lang="en-US" sz="1500" dirty="0"/>
          </a:p>
        </p:txBody>
      </p:sp>
      <p:sp>
        <p:nvSpPr>
          <p:cNvPr id="6" name="Text 4"/>
          <p:cNvSpPr/>
          <p:nvPr/>
        </p:nvSpPr>
        <p:spPr>
          <a:xfrm>
            <a:off x="17775936" y="402336"/>
            <a:ext cx="210312" cy="228600"/>
          </a:xfrm>
          <a:prstGeom prst="rect">
            <a:avLst/>
          </a:prstGeom>
          <a:noFill/>
          <a:ln/>
        </p:spPr>
        <p:txBody>
          <a:bodyPr wrap="square" lIns="0" tIns="0" rIns="0" bIns="0" rtlCol="0" anchor="ctr"/>
          <a:lstStyle/>
          <a:p>
            <a:r>
              <a:rPr lang="en-US" sz="1200" dirty="0">
                <a:solidFill>
                  <a:srgbClr val="C9A227"/>
                </a:solidFill>
                <a:latin typeface="Segoe UI" pitchFamily="34" charset="0"/>
                <a:ea typeface="Segoe UI" pitchFamily="34" charset="-122"/>
                <a:cs typeface="Segoe UI" pitchFamily="34" charset="-120"/>
              </a:rPr>
              <a:t>◣</a:t>
            </a:r>
            <a:endParaRPr lang="en-US" sz="1200" dirty="0"/>
          </a:p>
        </p:txBody>
      </p:sp>
      <p:sp>
        <p:nvSpPr>
          <p:cNvPr id="7" name="Shape 5"/>
          <p:cNvSpPr/>
          <p:nvPr/>
        </p:nvSpPr>
        <p:spPr>
          <a:xfrm>
            <a:off x="384048" y="9747504"/>
            <a:ext cx="91440" cy="91440"/>
          </a:xfrm>
          <a:prstGeom prst="rect">
            <a:avLst/>
          </a:prstGeom>
          <a:solidFill>
            <a:srgbClr val="C9A227"/>
          </a:solidFill>
          <a:ln/>
        </p:spPr>
      </p:sp>
      <p:sp>
        <p:nvSpPr>
          <p:cNvPr id="8" name="Text 6"/>
          <p:cNvSpPr/>
          <p:nvPr/>
        </p:nvSpPr>
        <p:spPr>
          <a:xfrm>
            <a:off x="566928" y="9683496"/>
            <a:ext cx="2194560" cy="265176"/>
          </a:xfrm>
          <a:prstGeom prst="rect">
            <a:avLst/>
          </a:prstGeom>
          <a:noFill/>
          <a:ln/>
        </p:spPr>
        <p:txBody>
          <a:bodyPr wrap="square" lIns="0" tIns="0" rIns="0" bIns="0" rtlCol="0" anchor="ctr"/>
          <a:lstStyle/>
          <a:p>
            <a:r>
              <a:rPr lang="en-US" sz="1500" dirty="0">
                <a:solidFill>
                  <a:srgbClr val="8892B0"/>
                </a:solidFill>
                <a:latin typeface="Segoe UI" pitchFamily="34" charset="0"/>
                <a:ea typeface="Segoe UI" pitchFamily="34" charset="-122"/>
                <a:cs typeface="Segoe UI" pitchFamily="34" charset="-120"/>
              </a:rPr>
              <a:t>ADMIT//PROVE</a:t>
            </a:r>
            <a:endParaRPr lang="en-US" sz="1500" dirty="0"/>
          </a:p>
        </p:txBody>
      </p:sp>
      <p:sp>
        <p:nvSpPr>
          <p:cNvPr id="9" name="Text 7"/>
          <p:cNvSpPr/>
          <p:nvPr/>
        </p:nvSpPr>
        <p:spPr>
          <a:xfrm>
            <a:off x="13350240" y="9683496"/>
            <a:ext cx="4480560" cy="265176"/>
          </a:xfrm>
          <a:prstGeom prst="rect">
            <a:avLst/>
          </a:prstGeom>
          <a:noFill/>
          <a:ln/>
        </p:spPr>
        <p:txBody>
          <a:bodyPr wrap="square" lIns="0" tIns="0" rIns="0" bIns="0" rtlCol="0" anchor="ctr"/>
          <a:lstStyle/>
          <a:p>
            <a:pPr algn="r"/>
            <a:r>
              <a:rPr lang="en-US" sz="1500" spc="150" kern="0" dirty="0">
                <a:solidFill>
                  <a:srgbClr val="8892B0"/>
                </a:solidFill>
                <a:latin typeface="Segoe UI" pitchFamily="34" charset="0"/>
                <a:ea typeface="Segoe UI" pitchFamily="34" charset="-122"/>
                <a:cs typeface="Segoe UI" pitchFamily="34" charset="-120"/>
              </a:rPr>
              <a:t>AIC.2026 · PS #1 · IITGN</a:t>
            </a:r>
            <a:endParaRPr lang="en-US" sz="1500" dirty="0"/>
          </a:p>
        </p:txBody>
      </p:sp>
      <p:sp>
        <p:nvSpPr>
          <p:cNvPr id="11" name="Text 8"/>
          <p:cNvSpPr/>
          <p:nvPr/>
        </p:nvSpPr>
        <p:spPr>
          <a:xfrm>
            <a:off x="950976" y="914400"/>
            <a:ext cx="16367760" cy="265176"/>
          </a:xfrm>
          <a:prstGeom prst="rect">
            <a:avLst/>
          </a:prstGeom>
          <a:noFill/>
          <a:ln/>
        </p:spPr>
        <p:txBody>
          <a:bodyPr wrap="square" lIns="0" tIns="0" rIns="0" bIns="0" rtlCol="0" anchor="ctr"/>
          <a:lstStyle/>
          <a:p>
            <a:pPr algn="l"/>
            <a:r>
              <a:rPr lang="en-US" sz="1500" spc="300" kern="0" dirty="0">
                <a:solidFill>
                  <a:srgbClr val="C9A227"/>
                </a:solidFill>
                <a:latin typeface="Segoe UI" pitchFamily="34" charset="0"/>
                <a:ea typeface="Segoe UI" pitchFamily="34" charset="-122"/>
                <a:cs typeface="Segoe UI" pitchFamily="34" charset="-120"/>
              </a:rPr>
              <a:t>05 · DEMO 02 / 03  ·  ENTITLEMENT</a:t>
            </a:r>
            <a:endParaRPr lang="en-US" sz="1500" dirty="0"/>
          </a:p>
        </p:txBody>
      </p:sp>
      <p:sp>
        <p:nvSpPr>
          <p:cNvPr id="12" name="Text 9"/>
          <p:cNvSpPr/>
          <p:nvPr/>
        </p:nvSpPr>
        <p:spPr>
          <a:xfrm>
            <a:off x="950976" y="1225296"/>
            <a:ext cx="16367760" cy="566928"/>
          </a:xfrm>
          <a:prstGeom prst="rect">
            <a:avLst/>
          </a:prstGeom>
          <a:noFill/>
          <a:ln/>
        </p:spPr>
        <p:txBody>
          <a:bodyPr wrap="square" lIns="0" tIns="0" rIns="0" bIns="0" rtlCol="0" anchor="t"/>
          <a:lstStyle/>
          <a:p>
            <a:pPr algn="l"/>
            <a:r>
              <a:rPr lang="en-US" sz="3200" b="1" spc="-75" kern="0" dirty="0">
                <a:solidFill>
                  <a:srgbClr val="F5F0EB"/>
                </a:solidFill>
                <a:latin typeface="Segoe UI" pitchFamily="34" charset="0"/>
                <a:ea typeface="Segoe UI" pitchFamily="34" charset="-122"/>
                <a:cs typeface="Segoe UI" pitchFamily="34" charset="-120"/>
              </a:rPr>
              <a:t>RETRIEVAL IS NOT </a:t>
            </a:r>
            <a:pPr algn="l"/>
            <a:r>
              <a:rPr lang="en-US" sz="3200" b="1" spc="-75" kern="0" dirty="0">
                <a:solidFill>
                  <a:srgbClr val="C9A227"/>
                </a:solidFill>
                <a:latin typeface="Segoe UI" pitchFamily="34" charset="0"/>
                <a:ea typeface="Segoe UI" pitchFamily="34" charset="-122"/>
                <a:cs typeface="Segoe UI" pitchFamily="34" charset="-120"/>
              </a:rPr>
              <a:t>PERMISSION</a:t>
            </a:r>
            <a:pPr algn="l"/>
            <a:r>
              <a:rPr lang="en-US" sz="3200" b="1" spc="-75" kern="0" dirty="0">
                <a:solidFill>
                  <a:srgbClr val="F5F0EB"/>
                </a:solidFill>
                <a:latin typeface="Segoe UI" pitchFamily="34" charset="0"/>
                <a:ea typeface="Segoe UI" pitchFamily="34" charset="-122"/>
                <a:cs typeface="Segoe UI" pitchFamily="34" charset="-120"/>
              </a:rPr>
              <a:t>.</a:t>
            </a:r>
            <a:endParaRPr lang="en-US" sz="3200" dirty="0"/>
          </a:p>
        </p:txBody>
      </p:sp>
      <p:sp>
        <p:nvSpPr>
          <p:cNvPr id="13" name="Shape 10"/>
          <p:cNvSpPr/>
          <p:nvPr/>
        </p:nvSpPr>
        <p:spPr>
          <a:xfrm>
            <a:off x="950976" y="1938528"/>
            <a:ext cx="8275320" cy="4160520"/>
          </a:xfrm>
          <a:prstGeom prst="rect">
            <a:avLst/>
          </a:prstGeom>
          <a:solidFill>
            <a:srgbClr val="0F1525"/>
          </a:solidFill>
          <a:ln w="8636">
            <a:solidFill>
              <a:srgbClr val="2D3A52"/>
            </a:solidFill>
            <a:prstDash val="solid"/>
          </a:ln>
        </p:spPr>
      </p:sp>
      <p:sp>
        <p:nvSpPr>
          <p:cNvPr id="14" name="Shape 11"/>
          <p:cNvSpPr/>
          <p:nvPr/>
        </p:nvSpPr>
        <p:spPr>
          <a:xfrm>
            <a:off x="960120" y="2377440"/>
            <a:ext cx="8257032" cy="9144"/>
          </a:xfrm>
          <a:prstGeom prst="rect">
            <a:avLst/>
          </a:prstGeom>
          <a:solidFill>
            <a:srgbClr val="1E2A3D"/>
          </a:solidFill>
          <a:ln/>
        </p:spPr>
      </p:sp>
      <p:sp>
        <p:nvSpPr>
          <p:cNvPr id="15" name="Text 12"/>
          <p:cNvSpPr/>
          <p:nvPr/>
        </p:nvSpPr>
        <p:spPr>
          <a:xfrm>
            <a:off x="1115568" y="2011680"/>
            <a:ext cx="4267505" cy="292608"/>
          </a:xfrm>
          <a:prstGeom prst="rect">
            <a:avLst/>
          </a:prstGeom>
          <a:noFill/>
          <a:ln/>
        </p:spPr>
        <p:txBody>
          <a:bodyPr wrap="square" lIns="0" tIns="0" rIns="0" bIns="0" rtlCol="0" anchor="ctr"/>
          <a:lstStyle/>
          <a:p>
            <a:r>
              <a:rPr lang="en-US" sz="1300" spc="120" kern="0" dirty="0">
                <a:solidFill>
                  <a:srgbClr val="8892B0"/>
                </a:solidFill>
                <a:latin typeface="Segoe UI" pitchFamily="34" charset="0"/>
                <a:ea typeface="Segoe UI" pitchFamily="34" charset="-122"/>
                <a:cs typeface="Segoe UI" pitchFamily="34" charset="-120"/>
              </a:rPr>
              <a:t>▸ PENDING ACTION  show_text</a:t>
            </a:r>
            <a:endParaRPr lang="en-US" sz="1300" dirty="0"/>
          </a:p>
        </p:txBody>
      </p:sp>
      <p:sp>
        <p:nvSpPr>
          <p:cNvPr id="16" name="Text 13"/>
          <p:cNvSpPr/>
          <p:nvPr/>
        </p:nvSpPr>
        <p:spPr>
          <a:xfrm>
            <a:off x="5750662" y="2011680"/>
            <a:ext cx="3292754" cy="292608"/>
          </a:xfrm>
          <a:prstGeom prst="rect">
            <a:avLst/>
          </a:prstGeom>
          <a:noFill/>
          <a:ln/>
        </p:spPr>
        <p:txBody>
          <a:bodyPr wrap="square" lIns="0" tIns="0" rIns="0" bIns="0" rtlCol="0" anchor="ctr"/>
          <a:lstStyle/>
          <a:p>
            <a:pPr algn="r"/>
            <a:r>
              <a:rPr lang="en-US" sz="1300" spc="100" kern="0" dirty="0">
                <a:solidFill>
                  <a:srgbClr val="8892B0"/>
                </a:solidFill>
                <a:latin typeface="Segoe UI" pitchFamily="34" charset="0"/>
                <a:ea typeface="Segoe UI" pitchFamily="34" charset="-122"/>
                <a:cs typeface="Segoe UI" pitchFamily="34" charset="-120"/>
              </a:rPr>
              <a:t>R1  ·  user-visible</a:t>
            </a:r>
            <a:endParaRPr lang="en-US" sz="1300" dirty="0"/>
          </a:p>
        </p:txBody>
      </p:sp>
      <p:sp>
        <p:nvSpPr>
          <p:cNvPr id="17" name="Text 14"/>
          <p:cNvSpPr/>
          <p:nvPr/>
        </p:nvSpPr>
        <p:spPr>
          <a:xfrm>
            <a:off x="1243584" y="2542032"/>
            <a:ext cx="7726680" cy="329184"/>
          </a:xfrm>
          <a:prstGeom prst="rect">
            <a:avLst/>
          </a:prstGeom>
          <a:noFill/>
          <a:ln/>
        </p:spPr>
        <p:txBody>
          <a:bodyPr wrap="square" lIns="0" tIns="0" rIns="0" bIns="0" rtlCol="0" anchor="ctr"/>
          <a:lstStyle/>
          <a:p>
            <a:r>
              <a:rPr lang="en-US" sz="1800" dirty="0">
                <a:solidFill>
                  <a:srgbClr val="F5F0EB"/>
                </a:solidFill>
                <a:latin typeface="Segoe UI" pitchFamily="34" charset="0"/>
                <a:ea typeface="Segoe UI" pitchFamily="34" charset="-122"/>
                <a:cs typeface="Segoe UI" pitchFamily="34" charset="-120"/>
              </a:rPr>
              <a:t>Show text to the customer</a:t>
            </a:r>
            <a:endParaRPr lang="en-US" sz="1800" dirty="0"/>
          </a:p>
        </p:txBody>
      </p:sp>
      <p:sp>
        <p:nvSpPr>
          <p:cNvPr id="18" name="Text 15"/>
          <p:cNvSpPr/>
          <p:nvPr/>
        </p:nvSpPr>
        <p:spPr>
          <a:xfrm>
            <a:off x="1243584" y="2944368"/>
            <a:ext cx="7726680" cy="777240"/>
          </a:xfrm>
          <a:prstGeom prst="rect">
            <a:avLst/>
          </a:prstGeom>
          <a:noFill/>
          <a:ln/>
        </p:spPr>
        <p:txBody>
          <a:bodyPr wrap="square" lIns="0" tIns="0" rIns="0" bIns="0" rtlCol="0" anchor="ctr"/>
          <a:lstStyle/>
          <a:p>
            <a:r>
              <a:rPr lang="en-US" sz="1600" dirty="0">
                <a:solidFill>
                  <a:srgbClr val="D0C8B8"/>
                </a:solidFill>
                <a:latin typeface="Segoe UI" pitchFamily="34" charset="0"/>
                <a:ea typeface="Segoe UI" pitchFamily="34" charset="-122"/>
                <a:cs typeface="Segoe UI" pitchFamily="34" charset="-120"/>
              </a:rPr>
              <a:t>Claim hr_side is SUPPORTED via span-3. The fact is in the evidence. The caller is not entitled to it.</a:t>
            </a:r>
            <a:endParaRPr lang="en-US" sz="1600" dirty="0"/>
          </a:p>
        </p:txBody>
      </p:sp>
      <p:sp>
        <p:nvSpPr>
          <p:cNvPr id="19" name="Text 16"/>
          <p:cNvSpPr/>
          <p:nvPr/>
        </p:nvSpPr>
        <p:spPr>
          <a:xfrm>
            <a:off x="1243584" y="3794760"/>
            <a:ext cx="1554480" cy="384048"/>
          </a:xfrm>
          <a:prstGeom prst="rect">
            <a:avLst/>
          </a:prstGeom>
          <a:noFill/>
          <a:ln/>
        </p:spPr>
        <p:txBody>
          <a:bodyPr wrap="square" lIns="0" tIns="0" rIns="0" bIns="0" rtlCol="0" anchor="ctr"/>
          <a:lstStyle/>
          <a:p>
            <a:r>
              <a:rPr lang="en-US" sz="1300" b="1" spc="100" kern="0" dirty="0">
                <a:solidFill>
                  <a:srgbClr val="C9A227"/>
                </a:solidFill>
                <a:latin typeface="Segoe UI" pitchFamily="34" charset="0"/>
                <a:ea typeface="Segoe UI" pitchFamily="34" charset="-122"/>
                <a:cs typeface="Segoe UI" pitchFamily="34" charset="-120"/>
              </a:rPr>
              <a:t>CLAIM</a:t>
            </a:r>
            <a:endParaRPr lang="en-US" sz="1300" dirty="0"/>
          </a:p>
        </p:txBody>
      </p:sp>
      <p:sp>
        <p:nvSpPr>
          <p:cNvPr id="20" name="Text 17"/>
          <p:cNvSpPr/>
          <p:nvPr/>
        </p:nvSpPr>
        <p:spPr>
          <a:xfrm>
            <a:off x="2834640" y="3794760"/>
            <a:ext cx="6126480" cy="384048"/>
          </a:xfrm>
          <a:prstGeom prst="rect">
            <a:avLst/>
          </a:prstGeom>
          <a:noFill/>
          <a:ln/>
        </p:spPr>
        <p:txBody>
          <a:bodyPr wrap="square" lIns="0" tIns="0" rIns="0" bIns="0" rtlCol="0" anchor="ctr"/>
          <a:lstStyle/>
          <a:p>
            <a:r>
              <a:rPr lang="en-US" sz="1400" dirty="0">
                <a:solidFill>
                  <a:srgbClr val="F5F0EB"/>
                </a:solidFill>
                <a:latin typeface="Segoe UI" pitchFamily="34" charset="0"/>
                <a:ea typeface="Segoe UI" pitchFamily="34" charset="-122"/>
                <a:cs typeface="Segoe UI" pitchFamily="34" charset="-120"/>
              </a:rPr>
              <a:t>hr_side  ·  “customer account flagged for goodwill override”</a:t>
            </a:r>
            <a:endParaRPr lang="en-US" sz="1400" dirty="0"/>
          </a:p>
        </p:txBody>
      </p:sp>
      <p:sp>
        <p:nvSpPr>
          <p:cNvPr id="21" name="Text 18"/>
          <p:cNvSpPr/>
          <p:nvPr/>
        </p:nvSpPr>
        <p:spPr>
          <a:xfrm>
            <a:off x="1243584" y="4270248"/>
            <a:ext cx="1554480" cy="384048"/>
          </a:xfrm>
          <a:prstGeom prst="rect">
            <a:avLst/>
          </a:prstGeom>
          <a:noFill/>
          <a:ln/>
        </p:spPr>
        <p:txBody>
          <a:bodyPr wrap="square" lIns="0" tIns="0" rIns="0" bIns="0" rtlCol="0" anchor="ctr"/>
          <a:lstStyle/>
          <a:p>
            <a:r>
              <a:rPr lang="en-US" sz="1300" b="1" spc="100" kern="0" dirty="0">
                <a:solidFill>
                  <a:srgbClr val="C9A227"/>
                </a:solidFill>
                <a:latin typeface="Segoe UI" pitchFamily="34" charset="0"/>
                <a:ea typeface="Segoe UI" pitchFamily="34" charset="-122"/>
                <a:cs typeface="Segoe UI" pitchFamily="34" charset="-120"/>
              </a:rPr>
              <a:t>SOURCE</a:t>
            </a:r>
            <a:endParaRPr lang="en-US" sz="1300" dirty="0"/>
          </a:p>
        </p:txBody>
      </p:sp>
      <p:sp>
        <p:nvSpPr>
          <p:cNvPr id="22" name="Text 19"/>
          <p:cNvSpPr/>
          <p:nvPr/>
        </p:nvSpPr>
        <p:spPr>
          <a:xfrm>
            <a:off x="2834640" y="4270248"/>
            <a:ext cx="6126480" cy="384048"/>
          </a:xfrm>
          <a:prstGeom prst="rect">
            <a:avLst/>
          </a:prstGeom>
          <a:noFill/>
          <a:ln/>
        </p:spPr>
        <p:txBody>
          <a:bodyPr wrap="square" lIns="0" tIns="0" rIns="0" bIns="0" rtlCol="0" anchor="ctr"/>
          <a:lstStyle/>
          <a:p>
            <a:r>
              <a:rPr lang="en-US" sz="1400" dirty="0">
                <a:solidFill>
                  <a:srgbClr val="F5F0EB"/>
                </a:solidFill>
                <a:latin typeface="Segoe UI" pitchFamily="34" charset="0"/>
                <a:ea typeface="Segoe UI" pitchFamily="34" charset="-122"/>
                <a:cs typeface="Segoe UI" pitchFamily="34" charset="-120"/>
              </a:rPr>
              <a:t>doc:hr-exception-desk  ·  ACL {hr-confidential}</a:t>
            </a:r>
            <a:endParaRPr lang="en-US" sz="1400" dirty="0"/>
          </a:p>
        </p:txBody>
      </p:sp>
      <p:sp>
        <p:nvSpPr>
          <p:cNvPr id="23" name="Text 20"/>
          <p:cNvSpPr/>
          <p:nvPr/>
        </p:nvSpPr>
        <p:spPr>
          <a:xfrm>
            <a:off x="1243584" y="4745736"/>
            <a:ext cx="1554480" cy="384048"/>
          </a:xfrm>
          <a:prstGeom prst="rect">
            <a:avLst/>
          </a:prstGeom>
          <a:noFill/>
          <a:ln/>
        </p:spPr>
        <p:txBody>
          <a:bodyPr wrap="square" lIns="0" tIns="0" rIns="0" bIns="0" rtlCol="0" anchor="ctr"/>
          <a:lstStyle/>
          <a:p>
            <a:r>
              <a:rPr lang="en-US" sz="1300" b="1" spc="100" kern="0" dirty="0">
                <a:solidFill>
                  <a:srgbClr val="C9A227"/>
                </a:solidFill>
                <a:latin typeface="Segoe UI" pitchFamily="34" charset="0"/>
                <a:ea typeface="Segoe UI" pitchFamily="34" charset="-122"/>
                <a:cs typeface="Segoe UI" pitchFamily="34" charset="-120"/>
              </a:rPr>
              <a:t>PRINCIPAL</a:t>
            </a:r>
            <a:endParaRPr lang="en-US" sz="1300" dirty="0"/>
          </a:p>
        </p:txBody>
      </p:sp>
      <p:sp>
        <p:nvSpPr>
          <p:cNvPr id="24" name="Text 21"/>
          <p:cNvSpPr/>
          <p:nvPr/>
        </p:nvSpPr>
        <p:spPr>
          <a:xfrm>
            <a:off x="2834640" y="4745736"/>
            <a:ext cx="6126480" cy="384048"/>
          </a:xfrm>
          <a:prstGeom prst="rect">
            <a:avLst/>
          </a:prstGeom>
          <a:noFill/>
          <a:ln/>
        </p:spPr>
        <p:txBody>
          <a:bodyPr wrap="square" lIns="0" tIns="0" rIns="0" bIns="0" rtlCol="0" anchor="ctr"/>
          <a:lstStyle/>
          <a:p>
            <a:r>
              <a:rPr lang="en-US" sz="1400" dirty="0">
                <a:solidFill>
                  <a:srgbClr val="F5F0EB"/>
                </a:solidFill>
                <a:latin typeface="Segoe UI" pitchFamily="34" charset="0"/>
                <a:ea typeface="Segoe UI" pitchFamily="34" charset="-122"/>
                <a:cs typeface="Segoe UI" pitchFamily="34" charset="-120"/>
              </a:rPr>
              <a:t>cs-agent-17  ·  clearance {vendor-public}</a:t>
            </a:r>
            <a:endParaRPr lang="en-US" sz="1400" dirty="0"/>
          </a:p>
        </p:txBody>
      </p:sp>
      <p:sp>
        <p:nvSpPr>
          <p:cNvPr id="25" name="Text 22"/>
          <p:cNvSpPr/>
          <p:nvPr/>
        </p:nvSpPr>
        <p:spPr>
          <a:xfrm>
            <a:off x="1243584" y="5221224"/>
            <a:ext cx="1554480" cy="384048"/>
          </a:xfrm>
          <a:prstGeom prst="rect">
            <a:avLst/>
          </a:prstGeom>
          <a:noFill/>
          <a:ln/>
        </p:spPr>
        <p:txBody>
          <a:bodyPr wrap="square" lIns="0" tIns="0" rIns="0" bIns="0" rtlCol="0" anchor="ctr"/>
          <a:lstStyle/>
          <a:p>
            <a:r>
              <a:rPr lang="en-US" sz="1300" b="1" spc="100" kern="0" dirty="0">
                <a:solidFill>
                  <a:srgbClr val="C9A227"/>
                </a:solidFill>
                <a:latin typeface="Segoe UI" pitchFamily="34" charset="0"/>
                <a:ea typeface="Segoe UI" pitchFamily="34" charset="-122"/>
                <a:cs typeface="Segoe UI" pitchFamily="34" charset="-120"/>
              </a:rPr>
              <a:t>CHECK</a:t>
            </a:r>
            <a:endParaRPr lang="en-US" sz="1300" dirty="0"/>
          </a:p>
        </p:txBody>
      </p:sp>
      <p:sp>
        <p:nvSpPr>
          <p:cNvPr id="26" name="Text 23"/>
          <p:cNvSpPr/>
          <p:nvPr/>
        </p:nvSpPr>
        <p:spPr>
          <a:xfrm>
            <a:off x="2834640" y="5221224"/>
            <a:ext cx="6126480" cy="384048"/>
          </a:xfrm>
          <a:prstGeom prst="rect">
            <a:avLst/>
          </a:prstGeom>
          <a:noFill/>
          <a:ln/>
        </p:spPr>
        <p:txBody>
          <a:bodyPr wrap="square" lIns="0" tIns="0" rIns="0" bIns="0" rtlCol="0" anchor="ctr"/>
          <a:lstStyle/>
          <a:p>
            <a:r>
              <a:rPr lang="en-US" sz="1400" dirty="0">
                <a:solidFill>
                  <a:srgbClr val="F5F0EB"/>
                </a:solidFill>
                <a:latin typeface="Segoe UI" pitchFamily="34" charset="0"/>
                <a:ea typeface="Segoe UI" pitchFamily="34" charset="-122"/>
                <a:cs typeface="Segoe UI" pitchFamily="34" charset="-120"/>
              </a:rPr>
              <a:t>span ACL is not a subset of caller clearance</a:t>
            </a:r>
            <a:endParaRPr lang="en-US" sz="1400" dirty="0"/>
          </a:p>
        </p:txBody>
      </p:sp>
      <p:sp>
        <p:nvSpPr>
          <p:cNvPr id="27" name="Shape 24"/>
          <p:cNvSpPr/>
          <p:nvPr/>
        </p:nvSpPr>
        <p:spPr>
          <a:xfrm>
            <a:off x="9436608" y="1938528"/>
            <a:ext cx="7900416" cy="4160520"/>
          </a:xfrm>
          <a:prstGeom prst="rect">
            <a:avLst/>
          </a:prstGeom>
          <a:solidFill>
            <a:srgbClr val="0F1525"/>
          </a:solidFill>
          <a:ln w="13970">
            <a:solidFill>
              <a:srgbClr val="C9A227"/>
            </a:solidFill>
            <a:prstDash val="solid"/>
          </a:ln>
        </p:spPr>
      </p:sp>
      <p:sp>
        <p:nvSpPr>
          <p:cNvPr id="28" name="Shape 25"/>
          <p:cNvSpPr/>
          <p:nvPr/>
        </p:nvSpPr>
        <p:spPr>
          <a:xfrm>
            <a:off x="9436608" y="1938528"/>
            <a:ext cx="7900416" cy="41148"/>
          </a:xfrm>
          <a:prstGeom prst="rect">
            <a:avLst/>
          </a:prstGeom>
          <a:solidFill>
            <a:srgbClr val="C9A227"/>
          </a:solidFill>
          <a:ln/>
        </p:spPr>
      </p:sp>
      <p:sp>
        <p:nvSpPr>
          <p:cNvPr id="29" name="Text 26"/>
          <p:cNvSpPr/>
          <p:nvPr/>
        </p:nvSpPr>
        <p:spPr>
          <a:xfrm>
            <a:off x="9729216" y="2121408"/>
            <a:ext cx="7360920" cy="274320"/>
          </a:xfrm>
          <a:prstGeom prst="rect">
            <a:avLst/>
          </a:prstGeom>
          <a:noFill/>
          <a:ln/>
        </p:spPr>
        <p:txBody>
          <a:bodyPr wrap="square" lIns="0" tIns="0" rIns="0" bIns="0" rtlCol="0" anchor="ctr"/>
          <a:lstStyle/>
          <a:p>
            <a:r>
              <a:rPr lang="en-US" sz="1300" spc="200" kern="0" dirty="0">
                <a:solidFill>
                  <a:srgbClr val="8892B0"/>
                </a:solidFill>
                <a:latin typeface="Segoe UI" pitchFamily="34" charset="0"/>
                <a:ea typeface="Segoe UI" pitchFamily="34" charset="-122"/>
                <a:cs typeface="Segoe UI" pitchFamily="34" charset="-120"/>
              </a:rPr>
              <a:t>ENTITLEMENT</a:t>
            </a:r>
            <a:endParaRPr lang="en-US" sz="1300" dirty="0"/>
          </a:p>
        </p:txBody>
      </p:sp>
      <p:sp>
        <p:nvSpPr>
          <p:cNvPr id="30" name="Text 27"/>
          <p:cNvSpPr/>
          <p:nvPr/>
        </p:nvSpPr>
        <p:spPr>
          <a:xfrm>
            <a:off x="9729216" y="2450592"/>
            <a:ext cx="7360920" cy="640080"/>
          </a:xfrm>
          <a:prstGeom prst="rect">
            <a:avLst/>
          </a:prstGeom>
          <a:noFill/>
          <a:ln/>
        </p:spPr>
        <p:txBody>
          <a:bodyPr wrap="square" lIns="0" tIns="0" rIns="0" bIns="0" rtlCol="0" anchor="ctr"/>
          <a:lstStyle/>
          <a:p>
            <a:r>
              <a:rPr lang="en-US" sz="3600" b="1" dirty="0">
                <a:solidFill>
                  <a:srgbClr val="C9A227"/>
                </a:solidFill>
                <a:latin typeface="Segoe UI" pitchFamily="34" charset="0"/>
                <a:ea typeface="Segoe UI" pitchFamily="34" charset="-122"/>
                <a:cs typeface="Segoe UI" pitchFamily="34" charset="-120"/>
              </a:rPr>
              <a:t>VIOLATION</a:t>
            </a:r>
            <a:endParaRPr lang="en-US" sz="3600" dirty="0"/>
          </a:p>
        </p:txBody>
      </p:sp>
      <p:sp>
        <p:nvSpPr>
          <p:cNvPr id="31" name="Text 28"/>
          <p:cNvSpPr/>
          <p:nvPr/>
        </p:nvSpPr>
        <p:spPr>
          <a:xfrm>
            <a:off x="9729216" y="3182112"/>
            <a:ext cx="7360920" cy="365760"/>
          </a:xfrm>
          <a:prstGeom prst="rect">
            <a:avLst/>
          </a:prstGeom>
          <a:noFill/>
          <a:ln/>
        </p:spPr>
        <p:txBody>
          <a:bodyPr wrap="square" lIns="0" tIns="0" rIns="0" bIns="0" rtlCol="0" anchor="ctr"/>
          <a:lstStyle/>
          <a:p>
            <a:r>
              <a:rPr lang="en-US" sz="1600" dirty="0">
                <a:solidFill>
                  <a:srgbClr val="D4AF37"/>
                </a:solidFill>
                <a:latin typeface="Segoe UI" pitchFamily="34" charset="0"/>
                <a:ea typeface="Segoe UI" pitchFamily="34" charset="-122"/>
                <a:cs typeface="Segoe UI" pitchFamily="34" charset="-120"/>
              </a:rPr>
              <a:t>R1  ×  Contradicted / entitlement violation</a:t>
            </a:r>
            <a:endParaRPr lang="en-US" sz="1600" dirty="0"/>
          </a:p>
        </p:txBody>
      </p:sp>
      <p:sp>
        <p:nvSpPr>
          <p:cNvPr id="32" name="Text 29"/>
          <p:cNvSpPr/>
          <p:nvPr/>
        </p:nvSpPr>
        <p:spPr>
          <a:xfrm>
            <a:off x="9729216" y="3749040"/>
            <a:ext cx="7360920" cy="256032"/>
          </a:xfrm>
          <a:prstGeom prst="rect">
            <a:avLst/>
          </a:prstGeom>
          <a:noFill/>
          <a:ln/>
        </p:spPr>
        <p:txBody>
          <a:bodyPr wrap="square" lIns="0" tIns="0" rIns="0" bIns="0" rtlCol="0" anchor="ctr"/>
          <a:lstStyle/>
          <a:p>
            <a:r>
              <a:rPr lang="en-US" sz="1300" spc="200" kern="0" dirty="0">
                <a:solidFill>
                  <a:srgbClr val="8892B0"/>
                </a:solidFill>
                <a:latin typeface="Segoe UI" pitchFamily="34" charset="0"/>
                <a:ea typeface="Segoe UI" pitchFamily="34" charset="-122"/>
                <a:cs typeface="Segoe UI" pitchFamily="34" charset="-120"/>
              </a:rPr>
              <a:t>ACTUATOR</a:t>
            </a:r>
            <a:endParaRPr lang="en-US" sz="1300" dirty="0"/>
          </a:p>
        </p:txBody>
      </p:sp>
      <p:sp>
        <p:nvSpPr>
          <p:cNvPr id="33" name="Text 30"/>
          <p:cNvSpPr/>
          <p:nvPr/>
        </p:nvSpPr>
        <p:spPr>
          <a:xfrm>
            <a:off x="9729216" y="4041648"/>
            <a:ext cx="7360920" cy="530352"/>
          </a:xfrm>
          <a:prstGeom prst="rect">
            <a:avLst/>
          </a:prstGeom>
          <a:noFill/>
          <a:ln/>
        </p:spPr>
        <p:txBody>
          <a:bodyPr wrap="square" lIns="0" tIns="0" rIns="0" bIns="0" rtlCol="0" anchor="ctr"/>
          <a:lstStyle/>
          <a:p>
            <a:r>
              <a:rPr lang="en-US" sz="3200" b="1" dirty="0">
                <a:solidFill>
                  <a:srgbClr val="F5F0EB"/>
                </a:solidFill>
                <a:latin typeface="Segoe UI" pitchFamily="34" charset="0"/>
                <a:ea typeface="Segoe UI" pitchFamily="34" charset="-122"/>
                <a:cs typeface="Segoe UI" pitchFamily="34" charset="-120"/>
              </a:rPr>
              <a:t>Edit</a:t>
            </a:r>
            <a:endParaRPr lang="en-US" sz="3200" dirty="0"/>
          </a:p>
        </p:txBody>
      </p:sp>
      <p:sp>
        <p:nvSpPr>
          <p:cNvPr id="34" name="Text 31"/>
          <p:cNvSpPr/>
          <p:nvPr/>
        </p:nvSpPr>
        <p:spPr>
          <a:xfrm>
            <a:off x="9729216" y="4681728"/>
            <a:ext cx="7360920" cy="1051560"/>
          </a:xfrm>
          <a:prstGeom prst="rect">
            <a:avLst/>
          </a:prstGeom>
          <a:noFill/>
          <a:ln/>
        </p:spPr>
        <p:txBody>
          <a:bodyPr wrap="square" lIns="0" tIns="0" rIns="0" bIns="0" rtlCol="0" anchor="t"/>
          <a:lstStyle/>
          <a:p>
            <a:r>
              <a:rPr lang="en-US" sz="1600" dirty="0">
                <a:solidFill>
                  <a:srgbClr val="D0C8B8"/>
                </a:solidFill>
                <a:latin typeface="Segoe UI" pitchFamily="34" charset="0"/>
                <a:ea typeface="Segoe UI" pitchFamily="34" charset="-122"/>
                <a:cs typeface="Segoe UI" pitchFamily="34" charset="-120"/>
              </a:rPr>
              <a:t>Unentitled span stripped. Surgical, never generative. Driving claims: hr_side, clause_72.</a:t>
            </a:r>
            <a:endParaRPr lang="en-US" sz="1600" dirty="0"/>
          </a:p>
        </p:txBody>
      </p:sp>
      <p:sp>
        <p:nvSpPr>
          <p:cNvPr id="35" name="Shape 32"/>
          <p:cNvSpPr/>
          <p:nvPr/>
        </p:nvSpPr>
        <p:spPr>
          <a:xfrm>
            <a:off x="950976" y="6309360"/>
            <a:ext cx="16386048" cy="3017520"/>
          </a:xfrm>
          <a:prstGeom prst="rect">
            <a:avLst/>
          </a:prstGeom>
          <a:solidFill>
            <a:srgbClr val="0F1525"/>
          </a:solidFill>
          <a:ln w="8636">
            <a:solidFill>
              <a:srgbClr val="1E2A3D"/>
            </a:solidFill>
            <a:prstDash val="solid"/>
          </a:ln>
        </p:spPr>
      </p:sp>
      <p:sp>
        <p:nvSpPr>
          <p:cNvPr id="36" name="Text 33"/>
          <p:cNvSpPr/>
          <p:nvPr/>
        </p:nvSpPr>
        <p:spPr>
          <a:xfrm>
            <a:off x="1280160" y="6510528"/>
            <a:ext cx="15727680" cy="365760"/>
          </a:xfrm>
          <a:prstGeom prst="rect">
            <a:avLst/>
          </a:prstGeom>
          <a:noFill/>
          <a:ln/>
        </p:spPr>
        <p:txBody>
          <a:bodyPr wrap="square" lIns="0" tIns="0" rIns="0" bIns="0" rtlCol="0" anchor="ctr"/>
          <a:lstStyle/>
          <a:p>
            <a:r>
              <a:rPr lang="en-US" sz="1800" b="1" dirty="0">
                <a:solidFill>
                  <a:srgbClr val="F5F0EB"/>
                </a:solidFill>
                <a:latin typeface="Segoe UI" pitchFamily="34" charset="0"/>
                <a:ea typeface="Segoe UI" pitchFamily="34" charset="-122"/>
                <a:cs typeface="Segoe UI" pitchFamily="34" charset="-120"/>
              </a:rPr>
              <a:t>OUTPUT-ONLY CHECKERS NEVER CARRY WHO IS ASKING.</a:t>
            </a:r>
            <a:endParaRPr lang="en-US" sz="1800" dirty="0"/>
          </a:p>
        </p:txBody>
      </p:sp>
      <p:sp>
        <p:nvSpPr>
          <p:cNvPr id="37" name="Text 34"/>
          <p:cNvSpPr/>
          <p:nvPr/>
        </p:nvSpPr>
        <p:spPr>
          <a:xfrm>
            <a:off x="1280160" y="6967728"/>
            <a:ext cx="15727680" cy="777240"/>
          </a:xfrm>
          <a:prstGeom prst="rect">
            <a:avLst/>
          </a:prstGeom>
          <a:noFill/>
          <a:ln/>
        </p:spPr>
        <p:txBody>
          <a:bodyPr wrap="square" lIns="0" tIns="0" rIns="0" bIns="0" rtlCol="0" anchor="ctr"/>
          <a:lstStyle/>
          <a:p>
            <a:r>
              <a:rPr lang="en-US" sz="1600" dirty="0">
                <a:solidFill>
                  <a:srgbClr val="D0C8B8"/>
                </a:solidFill>
                <a:latin typeface="Segoe UI" pitchFamily="34" charset="0"/>
                <a:ea typeface="Segoe UI" pitchFamily="34" charset="-122"/>
                <a:cs typeface="Segoe UI" pitchFamily="34" charset="-120"/>
              </a:rPr>
              <a:t>Deterministic entitlement check — set-membership on ACL ⊆ clearance. We do not fix their IAM. We stop the model silently bypassing the rights the source already carries.</a:t>
            </a:r>
            <a:endParaRPr lang="en-US" sz="1600" dirty="0"/>
          </a:p>
        </p:txBody>
      </p:sp>
      <p:sp>
        <p:nvSpPr>
          <p:cNvPr id="38" name="Text 35"/>
          <p:cNvSpPr/>
          <p:nvPr/>
        </p:nvSpPr>
        <p:spPr>
          <a:xfrm>
            <a:off x="1280160" y="7818120"/>
            <a:ext cx="15727680" cy="1051560"/>
          </a:xfrm>
          <a:prstGeom prst="rect">
            <a:avLst/>
          </a:prstGeom>
          <a:noFill/>
          <a:ln/>
        </p:spPr>
        <p:txBody>
          <a:bodyPr wrap="square" lIns="0" tIns="0" rIns="0" bIns="0" rtlCol="0" anchor="t"/>
          <a:lstStyle/>
          <a:p>
            <a:r>
              <a:rPr lang="en-US" sz="1600" dirty="0">
                <a:solidFill>
                  <a:srgbClr val="8892B0"/>
                </a:solidFill>
                <a:latin typeface="Segoe UI" pitchFamily="34" charset="0"/>
                <a:ea typeface="Segoe UI" pitchFamily="34" charset="-122"/>
                <a:cs typeface="Segoe UI" pitchFamily="34" charset="-120"/>
              </a:rPr>
              <a:t>Same string. Fine for one caller. A breach for another. Identity-blind tools cannot see this incident.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12182A">
              <a:alpha val="30000"/>
            </a:srgbClr>
          </a:solidFill>
          <a:ln/>
        </p:spPr>
      </p:sp>
      <p:sp>
        <p:nvSpPr>
          <p:cNvPr id="3" name="Text 1"/>
          <p:cNvSpPr/>
          <p:nvPr/>
        </p:nvSpPr>
        <p:spPr>
          <a:xfrm>
            <a:off x="384048" y="402336"/>
            <a:ext cx="210312" cy="228600"/>
          </a:xfrm>
          <a:prstGeom prst="rect">
            <a:avLst/>
          </a:prstGeom>
          <a:noFill/>
          <a:ln/>
        </p:spPr>
        <p:txBody>
          <a:bodyPr wrap="square" lIns="0" tIns="0" rIns="0" bIns="0" rtlCol="0" anchor="ctr"/>
          <a:lstStyle/>
          <a:p>
            <a:r>
              <a:rPr lang="en-US" sz="1200" dirty="0">
                <a:solidFill>
                  <a:srgbClr val="C9A227"/>
                </a:solidFill>
                <a:latin typeface="Segoe UI" pitchFamily="34" charset="0"/>
                <a:ea typeface="Segoe UI" pitchFamily="34" charset="-122"/>
                <a:cs typeface="Segoe UI" pitchFamily="34" charset="-120"/>
              </a:rPr>
              <a:t>◢</a:t>
            </a:r>
            <a:endParaRPr lang="en-US" sz="1200" dirty="0"/>
          </a:p>
        </p:txBody>
      </p:sp>
      <p:sp>
        <p:nvSpPr>
          <p:cNvPr id="4" name="Text 2"/>
          <p:cNvSpPr/>
          <p:nvPr/>
        </p:nvSpPr>
        <p:spPr>
          <a:xfrm>
            <a:off x="621792" y="384048"/>
            <a:ext cx="3840480" cy="265176"/>
          </a:xfrm>
          <a:prstGeom prst="rect">
            <a:avLst/>
          </a:prstGeom>
          <a:noFill/>
          <a:ln/>
        </p:spPr>
        <p:txBody>
          <a:bodyPr wrap="square" lIns="0" tIns="0" rIns="0" bIns="0" rtlCol="0" anchor="ctr"/>
          <a:lstStyle/>
          <a:p>
            <a:r>
              <a:rPr lang="en-US" sz="1500" spc="150" kern="0" dirty="0">
                <a:solidFill>
                  <a:srgbClr val="F5F0EB"/>
                </a:solidFill>
                <a:latin typeface="Segoe UI" pitchFamily="34" charset="0"/>
                <a:ea typeface="Segoe UI" pitchFamily="34" charset="-122"/>
                <a:cs typeface="Segoe UI" pitchFamily="34" charset="-120"/>
              </a:rPr>
              <a:t>CONTROLPLANE//SYS</a:t>
            </a:r>
            <a:endParaRPr lang="en-US" sz="1500" dirty="0"/>
          </a:p>
        </p:txBody>
      </p:sp>
      <p:sp>
        <p:nvSpPr>
          <p:cNvPr id="5" name="Text 3"/>
          <p:cNvSpPr/>
          <p:nvPr/>
        </p:nvSpPr>
        <p:spPr>
          <a:xfrm>
            <a:off x="11521440" y="384048"/>
            <a:ext cx="6217920" cy="265176"/>
          </a:xfrm>
          <a:prstGeom prst="rect">
            <a:avLst/>
          </a:prstGeom>
          <a:noFill/>
          <a:ln/>
        </p:spPr>
        <p:txBody>
          <a:bodyPr wrap="square" lIns="0" tIns="0" rIns="0" bIns="0" rtlCol="0" anchor="ctr"/>
          <a:lstStyle/>
          <a:p>
            <a:pPr algn="r"/>
            <a:r>
              <a:rPr lang="en-US" sz="1500" spc="150" kern="0" dirty="0">
                <a:solidFill>
                  <a:srgbClr val="8892B0"/>
                </a:solidFill>
                <a:latin typeface="Segoe UI" pitchFamily="34" charset="0"/>
                <a:ea typeface="Segoe UI" pitchFamily="34" charset="-122"/>
                <a:cs typeface="Segoe UI" pitchFamily="34" charset="-120"/>
              </a:rPr>
              <a:t>06 // DEMO 03</a:t>
            </a:r>
            <a:endParaRPr lang="en-US" sz="1500" dirty="0"/>
          </a:p>
        </p:txBody>
      </p:sp>
      <p:sp>
        <p:nvSpPr>
          <p:cNvPr id="6" name="Text 4"/>
          <p:cNvSpPr/>
          <p:nvPr/>
        </p:nvSpPr>
        <p:spPr>
          <a:xfrm>
            <a:off x="17775936" y="402336"/>
            <a:ext cx="210312" cy="228600"/>
          </a:xfrm>
          <a:prstGeom prst="rect">
            <a:avLst/>
          </a:prstGeom>
          <a:noFill/>
          <a:ln/>
        </p:spPr>
        <p:txBody>
          <a:bodyPr wrap="square" lIns="0" tIns="0" rIns="0" bIns="0" rtlCol="0" anchor="ctr"/>
          <a:lstStyle/>
          <a:p>
            <a:r>
              <a:rPr lang="en-US" sz="1200" dirty="0">
                <a:solidFill>
                  <a:srgbClr val="C9A227"/>
                </a:solidFill>
                <a:latin typeface="Segoe UI" pitchFamily="34" charset="0"/>
                <a:ea typeface="Segoe UI" pitchFamily="34" charset="-122"/>
                <a:cs typeface="Segoe UI" pitchFamily="34" charset="-120"/>
              </a:rPr>
              <a:t>◣</a:t>
            </a:r>
            <a:endParaRPr lang="en-US" sz="1200" dirty="0"/>
          </a:p>
        </p:txBody>
      </p:sp>
      <p:sp>
        <p:nvSpPr>
          <p:cNvPr id="7" name="Shape 5"/>
          <p:cNvSpPr/>
          <p:nvPr/>
        </p:nvSpPr>
        <p:spPr>
          <a:xfrm>
            <a:off x="384048" y="9747504"/>
            <a:ext cx="91440" cy="91440"/>
          </a:xfrm>
          <a:prstGeom prst="rect">
            <a:avLst/>
          </a:prstGeom>
          <a:solidFill>
            <a:srgbClr val="C9A227"/>
          </a:solidFill>
          <a:ln/>
        </p:spPr>
      </p:sp>
      <p:sp>
        <p:nvSpPr>
          <p:cNvPr id="8" name="Text 6"/>
          <p:cNvSpPr/>
          <p:nvPr/>
        </p:nvSpPr>
        <p:spPr>
          <a:xfrm>
            <a:off x="566928" y="9683496"/>
            <a:ext cx="2194560" cy="265176"/>
          </a:xfrm>
          <a:prstGeom prst="rect">
            <a:avLst/>
          </a:prstGeom>
          <a:noFill/>
          <a:ln/>
        </p:spPr>
        <p:txBody>
          <a:bodyPr wrap="square" lIns="0" tIns="0" rIns="0" bIns="0" rtlCol="0" anchor="ctr"/>
          <a:lstStyle/>
          <a:p>
            <a:r>
              <a:rPr lang="en-US" sz="1500" dirty="0">
                <a:solidFill>
                  <a:srgbClr val="8892B0"/>
                </a:solidFill>
                <a:latin typeface="Segoe UI" pitchFamily="34" charset="0"/>
                <a:ea typeface="Segoe UI" pitchFamily="34" charset="-122"/>
                <a:cs typeface="Segoe UI" pitchFamily="34" charset="-120"/>
              </a:rPr>
              <a:t>ADMIT//PROVE</a:t>
            </a:r>
            <a:endParaRPr lang="en-US" sz="1500" dirty="0"/>
          </a:p>
        </p:txBody>
      </p:sp>
      <p:sp>
        <p:nvSpPr>
          <p:cNvPr id="9" name="Text 7"/>
          <p:cNvSpPr/>
          <p:nvPr/>
        </p:nvSpPr>
        <p:spPr>
          <a:xfrm>
            <a:off x="13350240" y="9683496"/>
            <a:ext cx="4480560" cy="265176"/>
          </a:xfrm>
          <a:prstGeom prst="rect">
            <a:avLst/>
          </a:prstGeom>
          <a:noFill/>
          <a:ln/>
        </p:spPr>
        <p:txBody>
          <a:bodyPr wrap="square" lIns="0" tIns="0" rIns="0" bIns="0" rtlCol="0" anchor="ctr"/>
          <a:lstStyle/>
          <a:p>
            <a:pPr algn="r"/>
            <a:r>
              <a:rPr lang="en-US" sz="1500" spc="150" kern="0" dirty="0">
                <a:solidFill>
                  <a:srgbClr val="8892B0"/>
                </a:solidFill>
                <a:latin typeface="Segoe UI" pitchFamily="34" charset="0"/>
                <a:ea typeface="Segoe UI" pitchFamily="34" charset="-122"/>
                <a:cs typeface="Segoe UI" pitchFamily="34" charset="-120"/>
              </a:rPr>
              <a:t>AIC.2026 · PS #1 · IITGN</a:t>
            </a:r>
            <a:endParaRPr lang="en-US" sz="1500" dirty="0"/>
          </a:p>
        </p:txBody>
      </p:sp>
      <p:sp>
        <p:nvSpPr>
          <p:cNvPr id="11" name="Text 8"/>
          <p:cNvSpPr/>
          <p:nvPr/>
        </p:nvSpPr>
        <p:spPr>
          <a:xfrm>
            <a:off x="950976" y="914400"/>
            <a:ext cx="16367760" cy="265176"/>
          </a:xfrm>
          <a:prstGeom prst="rect">
            <a:avLst/>
          </a:prstGeom>
          <a:noFill/>
          <a:ln/>
        </p:spPr>
        <p:txBody>
          <a:bodyPr wrap="square" lIns="0" tIns="0" rIns="0" bIns="0" rtlCol="0" anchor="ctr"/>
          <a:lstStyle/>
          <a:p>
            <a:pPr algn="l"/>
            <a:r>
              <a:rPr lang="en-US" sz="1500" spc="300" kern="0" dirty="0">
                <a:solidFill>
                  <a:srgbClr val="C9A227"/>
                </a:solidFill>
                <a:latin typeface="Segoe UI" pitchFamily="34" charset="0"/>
                <a:ea typeface="Segoe UI" pitchFamily="34" charset="-122"/>
                <a:cs typeface="Segoe UI" pitchFamily="34" charset="-120"/>
              </a:rPr>
              <a:t>06 · DEMO 03 / 03  ·  INTERLOCK  ·  RESOLUTION OF SLIDE 02</a:t>
            </a:r>
            <a:endParaRPr lang="en-US" sz="1500" dirty="0"/>
          </a:p>
        </p:txBody>
      </p:sp>
      <p:sp>
        <p:nvSpPr>
          <p:cNvPr id="12" name="Text 9"/>
          <p:cNvSpPr/>
          <p:nvPr/>
        </p:nvSpPr>
        <p:spPr>
          <a:xfrm>
            <a:off x="950976" y="1225296"/>
            <a:ext cx="16367760" cy="566928"/>
          </a:xfrm>
          <a:prstGeom prst="rect">
            <a:avLst/>
          </a:prstGeom>
          <a:noFill/>
          <a:ln/>
        </p:spPr>
        <p:txBody>
          <a:bodyPr wrap="square" lIns="0" tIns="0" rIns="0" bIns="0" rtlCol="0" anchor="t"/>
          <a:lstStyle/>
          <a:p>
            <a:pPr algn="l"/>
            <a:r>
              <a:rPr lang="en-US" sz="3200" b="1" spc="-75" kern="0" dirty="0">
                <a:solidFill>
                  <a:srgbClr val="F5F0EB"/>
                </a:solidFill>
                <a:latin typeface="Segoe UI" pitchFamily="34" charset="0"/>
                <a:ea typeface="Segoe UI" pitchFamily="34" charset="-122"/>
                <a:cs typeface="Segoe UI" pitchFamily="34" charset="-120"/>
              </a:rPr>
              <a:t>PROOF SCALES WITH </a:t>
            </a:r>
            <a:pPr algn="l"/>
            <a:r>
              <a:rPr lang="en-US" sz="3200" b="1" spc="-75" kern="0" dirty="0">
                <a:solidFill>
                  <a:srgbClr val="C9A227"/>
                </a:solidFill>
                <a:latin typeface="Segoe UI" pitchFamily="34" charset="0"/>
                <a:ea typeface="Segoe UI" pitchFamily="34" charset="-122"/>
                <a:cs typeface="Segoe UI" pitchFamily="34" charset="-120"/>
              </a:rPr>
              <a:t>CONSEQUENCE</a:t>
            </a:r>
            <a:pPr algn="l"/>
            <a:r>
              <a:rPr lang="en-US" sz="3200" b="1" spc="-75" kern="0" dirty="0">
                <a:solidFill>
                  <a:srgbClr val="F5F0EB"/>
                </a:solidFill>
                <a:latin typeface="Segoe UI" pitchFamily="34" charset="0"/>
                <a:ea typeface="Segoe UI" pitchFamily="34" charset="-122"/>
                <a:cs typeface="Segoe UI" pitchFamily="34" charset="-120"/>
              </a:rPr>
              <a:t>.</a:t>
            </a:r>
            <a:endParaRPr lang="en-US" sz="3200" dirty="0"/>
          </a:p>
        </p:txBody>
      </p:sp>
      <p:sp>
        <p:nvSpPr>
          <p:cNvPr id="13" name="Shape 10"/>
          <p:cNvSpPr/>
          <p:nvPr/>
        </p:nvSpPr>
        <p:spPr>
          <a:xfrm>
            <a:off x="950976" y="1938528"/>
            <a:ext cx="8275320" cy="5074920"/>
          </a:xfrm>
          <a:prstGeom prst="rect">
            <a:avLst/>
          </a:prstGeom>
          <a:solidFill>
            <a:srgbClr val="0F1525"/>
          </a:solidFill>
          <a:ln w="8636">
            <a:solidFill>
              <a:srgbClr val="2D3A52"/>
            </a:solidFill>
            <a:prstDash val="solid"/>
          </a:ln>
        </p:spPr>
      </p:sp>
      <p:sp>
        <p:nvSpPr>
          <p:cNvPr id="14" name="Shape 11"/>
          <p:cNvSpPr/>
          <p:nvPr/>
        </p:nvSpPr>
        <p:spPr>
          <a:xfrm>
            <a:off x="960120" y="2377440"/>
            <a:ext cx="8257032" cy="9144"/>
          </a:xfrm>
          <a:prstGeom prst="rect">
            <a:avLst/>
          </a:prstGeom>
          <a:solidFill>
            <a:srgbClr val="1E2A3D"/>
          </a:solidFill>
          <a:ln/>
        </p:spPr>
      </p:sp>
      <p:sp>
        <p:nvSpPr>
          <p:cNvPr id="15" name="Text 12"/>
          <p:cNvSpPr/>
          <p:nvPr/>
        </p:nvSpPr>
        <p:spPr>
          <a:xfrm>
            <a:off x="1115568" y="2011680"/>
            <a:ext cx="4267505" cy="292608"/>
          </a:xfrm>
          <a:prstGeom prst="rect">
            <a:avLst/>
          </a:prstGeom>
          <a:noFill/>
          <a:ln/>
        </p:spPr>
        <p:txBody>
          <a:bodyPr wrap="square" lIns="0" tIns="0" rIns="0" bIns="0" rtlCol="0" anchor="ctr"/>
          <a:lstStyle/>
          <a:p>
            <a:r>
              <a:rPr lang="en-US" sz="1300" spc="120" kern="0" dirty="0">
                <a:solidFill>
                  <a:srgbClr val="8892B0"/>
                </a:solidFill>
                <a:latin typeface="Segoe UI" pitchFamily="34" charset="0"/>
                <a:ea typeface="Segoe UI" pitchFamily="34" charset="-122"/>
                <a:cs typeface="Segoe UI" pitchFamily="34" charset="-120"/>
              </a:rPr>
              <a:t>▸ PENDING ACTION  issue_refund</a:t>
            </a:r>
            <a:endParaRPr lang="en-US" sz="1300" dirty="0"/>
          </a:p>
        </p:txBody>
      </p:sp>
      <p:sp>
        <p:nvSpPr>
          <p:cNvPr id="16" name="Text 13"/>
          <p:cNvSpPr/>
          <p:nvPr/>
        </p:nvSpPr>
        <p:spPr>
          <a:xfrm>
            <a:off x="5750662" y="2011680"/>
            <a:ext cx="3292754" cy="292608"/>
          </a:xfrm>
          <a:prstGeom prst="rect">
            <a:avLst/>
          </a:prstGeom>
          <a:noFill/>
          <a:ln/>
        </p:spPr>
        <p:txBody>
          <a:bodyPr wrap="square" lIns="0" tIns="0" rIns="0" bIns="0" rtlCol="0" anchor="ctr"/>
          <a:lstStyle/>
          <a:p>
            <a:pPr algn="r"/>
            <a:r>
              <a:rPr lang="en-US" sz="1300" spc="100" kern="0" dirty="0">
                <a:solidFill>
                  <a:srgbClr val="8892B0"/>
                </a:solidFill>
                <a:latin typeface="Segoe UI" pitchFamily="34" charset="0"/>
                <a:ea typeface="Segoe UI" pitchFamily="34" charset="-122"/>
                <a:cs typeface="Segoe UI" pitchFamily="34" charset="-120"/>
              </a:rPr>
              <a:t>R3  ·  irreversible</a:t>
            </a:r>
            <a:endParaRPr lang="en-US" sz="1300" dirty="0"/>
          </a:p>
        </p:txBody>
      </p:sp>
      <p:sp>
        <p:nvSpPr>
          <p:cNvPr id="17" name="Text 14"/>
          <p:cNvSpPr/>
          <p:nvPr/>
        </p:nvSpPr>
        <p:spPr>
          <a:xfrm>
            <a:off x="1243584" y="2542032"/>
            <a:ext cx="7726680" cy="365760"/>
          </a:xfrm>
          <a:prstGeom prst="rect">
            <a:avLst/>
          </a:prstGeom>
          <a:noFill/>
          <a:ln/>
        </p:spPr>
        <p:txBody>
          <a:bodyPr wrap="square" lIns="0" tIns="0" rIns="0" bIns="0" rtlCol="0" anchor="ctr"/>
          <a:lstStyle/>
          <a:p>
            <a:r>
              <a:rPr lang="en-US" sz="1800" dirty="0">
                <a:solidFill>
                  <a:srgbClr val="F5F0EB"/>
                </a:solidFill>
                <a:latin typeface="Segoe UI" pitchFamily="34" charset="0"/>
                <a:ea typeface="Segoe UI" pitchFamily="34" charset="-122"/>
                <a:cs typeface="Segoe UI" pitchFamily="34" charset="-120"/>
              </a:rPr>
              <a:t>Issue the refund  ·  ₹1,84,000  ·  ORD-9</a:t>
            </a:r>
            <a:endParaRPr lang="en-US" sz="1800" dirty="0"/>
          </a:p>
        </p:txBody>
      </p:sp>
      <p:sp>
        <p:nvSpPr>
          <p:cNvPr id="18" name="Text 15"/>
          <p:cNvSpPr/>
          <p:nvPr/>
        </p:nvSpPr>
        <p:spPr>
          <a:xfrm>
            <a:off x="1243584" y="3035808"/>
            <a:ext cx="1691640" cy="502920"/>
          </a:xfrm>
          <a:prstGeom prst="rect">
            <a:avLst/>
          </a:prstGeom>
          <a:noFill/>
          <a:ln/>
        </p:spPr>
        <p:txBody>
          <a:bodyPr wrap="square" lIns="0" tIns="0" rIns="0" bIns="0" rtlCol="0" anchor="ctr"/>
          <a:lstStyle/>
          <a:p>
            <a:r>
              <a:rPr lang="en-US" sz="1300" b="1" spc="100" kern="0" dirty="0">
                <a:solidFill>
                  <a:srgbClr val="C9A227"/>
                </a:solidFill>
                <a:latin typeface="Segoe UI" pitchFamily="34" charset="0"/>
                <a:ea typeface="Segoe UI" pitchFamily="34" charset="-122"/>
                <a:cs typeface="Segoe UI" pitchFamily="34" charset="-120"/>
              </a:rPr>
              <a:t>DRIVING</a:t>
            </a:r>
            <a:endParaRPr lang="en-US" sz="1300" dirty="0"/>
          </a:p>
        </p:txBody>
      </p:sp>
      <p:sp>
        <p:nvSpPr>
          <p:cNvPr id="19" name="Text 16"/>
          <p:cNvSpPr/>
          <p:nvPr/>
        </p:nvSpPr>
        <p:spPr>
          <a:xfrm>
            <a:off x="2999232" y="3035808"/>
            <a:ext cx="5943600" cy="502920"/>
          </a:xfrm>
          <a:prstGeom prst="rect">
            <a:avLst/>
          </a:prstGeom>
          <a:noFill/>
          <a:ln/>
        </p:spPr>
        <p:txBody>
          <a:bodyPr wrap="square" lIns="0" tIns="0" rIns="0" bIns="0" rtlCol="0" anchor="ctr"/>
          <a:lstStyle/>
          <a:p>
            <a:r>
              <a:rPr lang="en-US" sz="1500" dirty="0">
                <a:solidFill>
                  <a:srgbClr val="F5F0EB"/>
                </a:solidFill>
                <a:latin typeface="Segoe UI" pitchFamily="34" charset="0"/>
                <a:ea typeface="Segoe UI" pitchFamily="34" charset="-122"/>
                <a:cs typeface="Segoe UI" pitchFamily="34" charset="-120"/>
              </a:rPr>
              <a:t>clause_72  ·  UNSUPPORTED  ·  categorical</a:t>
            </a:r>
            <a:endParaRPr lang="en-US" sz="1500" dirty="0"/>
          </a:p>
        </p:txBody>
      </p:sp>
      <p:sp>
        <p:nvSpPr>
          <p:cNvPr id="20" name="Text 17"/>
          <p:cNvSpPr/>
          <p:nvPr/>
        </p:nvSpPr>
        <p:spPr>
          <a:xfrm>
            <a:off x="1243584" y="3694176"/>
            <a:ext cx="1691640" cy="502920"/>
          </a:xfrm>
          <a:prstGeom prst="rect">
            <a:avLst/>
          </a:prstGeom>
          <a:noFill/>
          <a:ln/>
        </p:spPr>
        <p:txBody>
          <a:bodyPr wrap="square" lIns="0" tIns="0" rIns="0" bIns="0" rtlCol="0" anchor="ctr"/>
          <a:lstStyle/>
          <a:p>
            <a:r>
              <a:rPr lang="en-US" sz="1300" b="1" spc="100" kern="0" dirty="0">
                <a:solidFill>
                  <a:srgbClr val="C9A227"/>
                </a:solidFill>
                <a:latin typeface="Segoe UI" pitchFamily="34" charset="0"/>
                <a:ea typeface="Segoe UI" pitchFamily="34" charset="-122"/>
                <a:cs typeface="Segoe UI" pitchFamily="34" charset="-120"/>
              </a:rPr>
              <a:t>CELL</a:t>
            </a:r>
            <a:endParaRPr lang="en-US" sz="1300" dirty="0"/>
          </a:p>
        </p:txBody>
      </p:sp>
      <p:sp>
        <p:nvSpPr>
          <p:cNvPr id="21" name="Text 18"/>
          <p:cNvSpPr/>
          <p:nvPr/>
        </p:nvSpPr>
        <p:spPr>
          <a:xfrm>
            <a:off x="2999232" y="3694176"/>
            <a:ext cx="5943600" cy="502920"/>
          </a:xfrm>
          <a:prstGeom prst="rect">
            <a:avLst/>
          </a:prstGeom>
          <a:noFill/>
          <a:ln/>
        </p:spPr>
        <p:txBody>
          <a:bodyPr wrap="square" lIns="0" tIns="0" rIns="0" bIns="0" rtlCol="0" anchor="ctr"/>
          <a:lstStyle/>
          <a:p>
            <a:r>
              <a:rPr lang="en-US" sz="1500" dirty="0">
                <a:solidFill>
                  <a:srgbClr val="F5F0EB"/>
                </a:solidFill>
                <a:latin typeface="Segoe UI" pitchFamily="34" charset="0"/>
                <a:ea typeface="Segoe UI" pitchFamily="34" charset="-122"/>
                <a:cs typeface="Segoe UI" pitchFamily="34" charset="-120"/>
              </a:rPr>
              <a:t>R3 × Unsupported + categorical</a:t>
            </a:r>
            <a:endParaRPr lang="en-US" sz="1500" dirty="0"/>
          </a:p>
        </p:txBody>
      </p:sp>
      <p:sp>
        <p:nvSpPr>
          <p:cNvPr id="22" name="Text 19"/>
          <p:cNvSpPr/>
          <p:nvPr/>
        </p:nvSpPr>
        <p:spPr>
          <a:xfrm>
            <a:off x="1243584" y="4352544"/>
            <a:ext cx="1691640" cy="502920"/>
          </a:xfrm>
          <a:prstGeom prst="rect">
            <a:avLst/>
          </a:prstGeom>
          <a:noFill/>
          <a:ln/>
        </p:spPr>
        <p:txBody>
          <a:bodyPr wrap="square" lIns="0" tIns="0" rIns="0" bIns="0" rtlCol="0" anchor="ctr"/>
          <a:lstStyle/>
          <a:p>
            <a:r>
              <a:rPr lang="en-US" sz="1300" b="1" spc="100" kern="0" dirty="0">
                <a:solidFill>
                  <a:srgbClr val="C9A227"/>
                </a:solidFill>
                <a:latin typeface="Segoe UI" pitchFamily="34" charset="0"/>
                <a:ea typeface="Segoe UI" pitchFamily="34" charset="-122"/>
                <a:cs typeface="Segoe UI" pitchFamily="34" charset="-120"/>
              </a:rPr>
              <a:t>ACTUATOR</a:t>
            </a:r>
            <a:endParaRPr lang="en-US" sz="1300" dirty="0"/>
          </a:p>
        </p:txBody>
      </p:sp>
      <p:sp>
        <p:nvSpPr>
          <p:cNvPr id="23" name="Text 20"/>
          <p:cNvSpPr/>
          <p:nvPr/>
        </p:nvSpPr>
        <p:spPr>
          <a:xfrm>
            <a:off x="2999232" y="4352544"/>
            <a:ext cx="5943600" cy="502920"/>
          </a:xfrm>
          <a:prstGeom prst="rect">
            <a:avLst/>
          </a:prstGeom>
          <a:noFill/>
          <a:ln/>
        </p:spPr>
        <p:txBody>
          <a:bodyPr wrap="square" lIns="0" tIns="0" rIns="0" bIns="0" rtlCol="0" anchor="ctr"/>
          <a:lstStyle/>
          <a:p>
            <a:r>
              <a:rPr lang="en-US" sz="1500" dirty="0">
                <a:solidFill>
                  <a:srgbClr val="F5F0EB"/>
                </a:solidFill>
                <a:latin typeface="Segoe UI" pitchFamily="34" charset="0"/>
                <a:ea typeface="Segoe UI" pitchFamily="34" charset="-122"/>
                <a:cs typeface="Segoe UI" pitchFamily="34" charset="-120"/>
              </a:rPr>
              <a:t>Escalate  ·  held with the evidence packet</a:t>
            </a:r>
            <a:endParaRPr lang="en-US" sz="1500" dirty="0"/>
          </a:p>
        </p:txBody>
      </p:sp>
      <p:sp>
        <p:nvSpPr>
          <p:cNvPr id="24" name="Text 21"/>
          <p:cNvSpPr/>
          <p:nvPr/>
        </p:nvSpPr>
        <p:spPr>
          <a:xfrm>
            <a:off x="1243584" y="5010912"/>
            <a:ext cx="1691640" cy="502920"/>
          </a:xfrm>
          <a:prstGeom prst="rect">
            <a:avLst/>
          </a:prstGeom>
          <a:noFill/>
          <a:ln/>
        </p:spPr>
        <p:txBody>
          <a:bodyPr wrap="square" lIns="0" tIns="0" rIns="0" bIns="0" rtlCol="0" anchor="ctr"/>
          <a:lstStyle/>
          <a:p>
            <a:r>
              <a:rPr lang="en-US" sz="1300" b="1" spc="100" kern="0" dirty="0">
                <a:solidFill>
                  <a:srgbClr val="C9A227"/>
                </a:solidFill>
                <a:latin typeface="Segoe UI" pitchFamily="34" charset="0"/>
                <a:ea typeface="Segoe UI" pitchFamily="34" charset="-122"/>
                <a:cs typeface="Segoe UI" pitchFamily="34" charset="-120"/>
              </a:rPr>
              <a:t>PACKET</a:t>
            </a:r>
            <a:endParaRPr lang="en-US" sz="1300" dirty="0"/>
          </a:p>
        </p:txBody>
      </p:sp>
      <p:sp>
        <p:nvSpPr>
          <p:cNvPr id="25" name="Text 22"/>
          <p:cNvSpPr/>
          <p:nvPr/>
        </p:nvSpPr>
        <p:spPr>
          <a:xfrm>
            <a:off x="2999232" y="5010912"/>
            <a:ext cx="5943600" cy="502920"/>
          </a:xfrm>
          <a:prstGeom prst="rect">
            <a:avLst/>
          </a:prstGeom>
          <a:noFill/>
          <a:ln/>
        </p:spPr>
        <p:txBody>
          <a:bodyPr wrap="square" lIns="0" tIns="0" rIns="0" bIns="0" rtlCol="0" anchor="ctr"/>
          <a:lstStyle/>
          <a:p>
            <a:r>
              <a:rPr lang="en-US" sz="1500" dirty="0">
                <a:solidFill>
                  <a:srgbClr val="F5F0EB"/>
                </a:solidFill>
                <a:latin typeface="Segoe UI" pitchFamily="34" charset="0"/>
                <a:ea typeface="Segoe UI" pitchFamily="34" charset="-122"/>
                <a:cs typeface="Segoe UI" pitchFamily="34" charset="-120"/>
              </a:rPr>
              <a:t>unproven clause + empty span list + verdict</a:t>
            </a:r>
            <a:endParaRPr lang="en-US" sz="1500" dirty="0"/>
          </a:p>
        </p:txBody>
      </p:sp>
      <p:sp>
        <p:nvSpPr>
          <p:cNvPr id="26" name="Text 23"/>
          <p:cNvSpPr/>
          <p:nvPr/>
        </p:nvSpPr>
        <p:spPr>
          <a:xfrm>
            <a:off x="1243584" y="5669280"/>
            <a:ext cx="1691640" cy="502920"/>
          </a:xfrm>
          <a:prstGeom prst="rect">
            <a:avLst/>
          </a:prstGeom>
          <a:noFill/>
          <a:ln/>
        </p:spPr>
        <p:txBody>
          <a:bodyPr wrap="square" lIns="0" tIns="0" rIns="0" bIns="0" rtlCol="0" anchor="ctr"/>
          <a:lstStyle/>
          <a:p>
            <a:r>
              <a:rPr lang="en-US" sz="1300" b="1" spc="100" kern="0" dirty="0">
                <a:solidFill>
                  <a:srgbClr val="C9A227"/>
                </a:solidFill>
                <a:latin typeface="Segoe UI" pitchFamily="34" charset="0"/>
                <a:ea typeface="Segoe UI" pitchFamily="34" charset="-122"/>
                <a:cs typeface="Segoe UI" pitchFamily="34" charset="-120"/>
              </a:rPr>
              <a:t>LEDGER</a:t>
            </a:r>
            <a:endParaRPr lang="en-US" sz="1300" dirty="0"/>
          </a:p>
        </p:txBody>
      </p:sp>
      <p:sp>
        <p:nvSpPr>
          <p:cNvPr id="27" name="Text 24"/>
          <p:cNvSpPr/>
          <p:nvPr/>
        </p:nvSpPr>
        <p:spPr>
          <a:xfrm>
            <a:off x="2999232" y="5669280"/>
            <a:ext cx="5943600" cy="502920"/>
          </a:xfrm>
          <a:prstGeom prst="rect">
            <a:avLst/>
          </a:prstGeom>
          <a:noFill/>
          <a:ln/>
        </p:spPr>
        <p:txBody>
          <a:bodyPr wrap="square" lIns="0" tIns="0" rIns="0" bIns="0" rtlCol="0" anchor="ctr"/>
          <a:lstStyle/>
          <a:p>
            <a:r>
              <a:rPr lang="en-US" sz="1500" dirty="0">
                <a:solidFill>
                  <a:srgbClr val="F5F0EB"/>
                </a:solidFill>
                <a:latin typeface="Segoe UI" pitchFamily="34" charset="0"/>
                <a:ea typeface="Segoe UI" pitchFamily="34" charset="-122"/>
                <a:cs typeface="Segoe UI" pitchFamily="34" charset="-120"/>
              </a:rPr>
              <a:t>verify_chain() = True</a:t>
            </a:r>
            <a:endParaRPr lang="en-US" sz="1500" dirty="0"/>
          </a:p>
        </p:txBody>
      </p:sp>
      <p:sp>
        <p:nvSpPr>
          <p:cNvPr id="28" name="Shape 25"/>
          <p:cNvSpPr/>
          <p:nvPr/>
        </p:nvSpPr>
        <p:spPr>
          <a:xfrm>
            <a:off x="9436608" y="1938528"/>
            <a:ext cx="7900416" cy="5074920"/>
          </a:xfrm>
          <a:prstGeom prst="rect">
            <a:avLst/>
          </a:prstGeom>
          <a:solidFill>
            <a:srgbClr val="0F1525"/>
          </a:solidFill>
          <a:ln w="13970">
            <a:solidFill>
              <a:srgbClr val="D4AF37"/>
            </a:solidFill>
            <a:prstDash val="solid"/>
          </a:ln>
        </p:spPr>
      </p:sp>
      <p:sp>
        <p:nvSpPr>
          <p:cNvPr id="29" name="Shape 26"/>
          <p:cNvSpPr/>
          <p:nvPr/>
        </p:nvSpPr>
        <p:spPr>
          <a:xfrm>
            <a:off x="9436608" y="1938528"/>
            <a:ext cx="7900416" cy="41148"/>
          </a:xfrm>
          <a:prstGeom prst="rect">
            <a:avLst/>
          </a:prstGeom>
          <a:solidFill>
            <a:srgbClr val="C9A227"/>
          </a:solidFill>
          <a:ln/>
        </p:spPr>
      </p:sp>
      <p:sp>
        <p:nvSpPr>
          <p:cNvPr id="30" name="Text 27"/>
          <p:cNvSpPr/>
          <p:nvPr/>
        </p:nvSpPr>
        <p:spPr>
          <a:xfrm>
            <a:off x="9729216" y="2157984"/>
            <a:ext cx="7360920" cy="274320"/>
          </a:xfrm>
          <a:prstGeom prst="rect">
            <a:avLst/>
          </a:prstGeom>
          <a:noFill/>
          <a:ln/>
        </p:spPr>
        <p:txBody>
          <a:bodyPr wrap="square" lIns="0" tIns="0" rIns="0" bIns="0" rtlCol="0" anchor="ctr"/>
          <a:lstStyle/>
          <a:p>
            <a:r>
              <a:rPr lang="en-US" sz="1300" spc="200" kern="0" dirty="0">
                <a:solidFill>
                  <a:srgbClr val="8892B0"/>
                </a:solidFill>
                <a:latin typeface="Segoe UI" pitchFamily="34" charset="0"/>
                <a:ea typeface="Segoe UI" pitchFamily="34" charset="-122"/>
                <a:cs typeface="Segoe UI" pitchFamily="34" charset="-120"/>
              </a:rPr>
              <a:t>HELD AND ESCALATED</a:t>
            </a:r>
            <a:endParaRPr lang="en-US" sz="1300" dirty="0"/>
          </a:p>
        </p:txBody>
      </p:sp>
      <p:sp>
        <p:nvSpPr>
          <p:cNvPr id="31" name="Text 28"/>
          <p:cNvSpPr/>
          <p:nvPr/>
        </p:nvSpPr>
        <p:spPr>
          <a:xfrm>
            <a:off x="9729216" y="2487168"/>
            <a:ext cx="7360920" cy="658368"/>
          </a:xfrm>
          <a:prstGeom prst="rect">
            <a:avLst/>
          </a:prstGeom>
          <a:noFill/>
          <a:ln/>
        </p:spPr>
        <p:txBody>
          <a:bodyPr wrap="square" lIns="0" tIns="0" rIns="0" bIns="0" rtlCol="0" anchor="ctr"/>
          <a:lstStyle/>
          <a:p>
            <a:r>
              <a:rPr lang="en-US" sz="4000" b="1" dirty="0">
                <a:solidFill>
                  <a:srgbClr val="D4AF37"/>
                </a:solidFill>
                <a:latin typeface="Segoe UI" pitchFamily="34" charset="0"/>
                <a:ea typeface="Segoe UI" pitchFamily="34" charset="-122"/>
                <a:cs typeface="Segoe UI" pitchFamily="34" charset="-120"/>
              </a:rPr>
              <a:t>Escalate</a:t>
            </a:r>
            <a:endParaRPr lang="en-US" sz="4000" dirty="0"/>
          </a:p>
        </p:txBody>
      </p:sp>
      <p:sp>
        <p:nvSpPr>
          <p:cNvPr id="32" name="Text 29"/>
          <p:cNvSpPr/>
          <p:nvPr/>
        </p:nvSpPr>
        <p:spPr>
          <a:xfrm>
            <a:off x="9729216" y="3200400"/>
            <a:ext cx="7360920" cy="868680"/>
          </a:xfrm>
          <a:prstGeom prst="rect">
            <a:avLst/>
          </a:prstGeom>
          <a:noFill/>
          <a:ln/>
        </p:spPr>
        <p:txBody>
          <a:bodyPr wrap="square" lIns="0" tIns="0" rIns="0" bIns="0" rtlCol="0" anchor="ctr"/>
          <a:lstStyle/>
          <a:p>
            <a:r>
              <a:rPr lang="en-US" sz="1800" dirty="0">
                <a:solidFill>
                  <a:srgbClr val="F5F0EB"/>
                </a:solidFill>
                <a:latin typeface="Segoe UI" pitchFamily="34" charset="0"/>
                <a:ea typeface="Segoe UI" pitchFamily="34" charset="-122"/>
                <a:cs typeface="Segoe UI" pitchFamily="34" charset="-120"/>
              </a:rPr>
              <a:t>with the evidence packet.</a:t>
            </a:r>
            <a:endParaRPr lang="en-US" sz="1800" dirty="0"/>
          </a:p>
          <a:p>
            <a:r>
              <a:rPr lang="en-US" sz="1800" dirty="0">
                <a:solidFill>
                  <a:srgbClr val="F5F0EB"/>
                </a:solidFill>
                <a:latin typeface="Segoe UI" pitchFamily="34" charset="0"/>
                <a:ea typeface="Segoe UI" pitchFamily="34" charset="-122"/>
                <a:cs typeface="Segoe UI" pitchFamily="34" charset="-120"/>
              </a:rPr>
              <a:t>Not an alert.</a:t>
            </a:r>
            <a:endParaRPr lang="en-US" sz="1800" dirty="0"/>
          </a:p>
        </p:txBody>
      </p:sp>
      <p:sp>
        <p:nvSpPr>
          <p:cNvPr id="33" name="Text 30"/>
          <p:cNvSpPr/>
          <p:nvPr/>
        </p:nvSpPr>
        <p:spPr>
          <a:xfrm>
            <a:off x="9729216" y="4224528"/>
            <a:ext cx="7360920" cy="292608"/>
          </a:xfrm>
          <a:prstGeom prst="rect">
            <a:avLst/>
          </a:prstGeom>
          <a:noFill/>
          <a:ln/>
        </p:spPr>
        <p:txBody>
          <a:bodyPr wrap="square" lIns="0" tIns="0" rIns="0" bIns="0" rtlCol="0" anchor="ctr"/>
          <a:lstStyle/>
          <a:p>
            <a:r>
              <a:rPr lang="en-US" sz="1300" spc="160" kern="0" dirty="0">
                <a:solidFill>
                  <a:srgbClr val="8892B0"/>
                </a:solidFill>
                <a:latin typeface="Segoe UI" pitchFamily="34" charset="0"/>
                <a:ea typeface="Segoe UI" pitchFamily="34" charset="-122"/>
                <a:cs typeface="Segoe UI" pitchFamily="34" charset="-120"/>
              </a:rPr>
              <a:t>SAME RESPONSE. TWO ACTUATORS.</a:t>
            </a:r>
            <a:endParaRPr lang="en-US" sz="1300" dirty="0"/>
          </a:p>
        </p:txBody>
      </p:sp>
      <p:sp>
        <p:nvSpPr>
          <p:cNvPr id="34" name="Text 31"/>
          <p:cNvSpPr/>
          <p:nvPr/>
        </p:nvSpPr>
        <p:spPr>
          <a:xfrm>
            <a:off x="9729216" y="4590288"/>
            <a:ext cx="7360920" cy="365760"/>
          </a:xfrm>
          <a:prstGeom prst="rect">
            <a:avLst/>
          </a:prstGeom>
          <a:noFill/>
          <a:ln/>
        </p:spPr>
        <p:txBody>
          <a:bodyPr wrap="square" lIns="0" tIns="0" rIns="0" bIns="0" rtlCol="0" anchor="ctr"/>
          <a:lstStyle/>
          <a:p>
            <a:r>
              <a:rPr lang="en-US" sz="2000" b="1" dirty="0">
                <a:solidFill>
                  <a:srgbClr val="F5F0EB"/>
                </a:solidFill>
                <a:latin typeface="Segoe UI" pitchFamily="34" charset="0"/>
                <a:ea typeface="Segoe UI" pitchFamily="34" charset="-122"/>
                <a:cs typeface="Segoe UI" pitchFamily="34" charset="-120"/>
              </a:rPr>
              <a:t>show_text  →  Edit</a:t>
            </a:r>
            <a:endParaRPr lang="en-US" sz="2000" dirty="0"/>
          </a:p>
        </p:txBody>
      </p:sp>
      <p:sp>
        <p:nvSpPr>
          <p:cNvPr id="35" name="Text 32"/>
          <p:cNvSpPr/>
          <p:nvPr/>
        </p:nvSpPr>
        <p:spPr>
          <a:xfrm>
            <a:off x="9729216" y="4992624"/>
            <a:ext cx="7360920" cy="365760"/>
          </a:xfrm>
          <a:prstGeom prst="rect">
            <a:avLst/>
          </a:prstGeom>
          <a:noFill/>
          <a:ln/>
        </p:spPr>
        <p:txBody>
          <a:bodyPr wrap="square" lIns="0" tIns="0" rIns="0" bIns="0" rtlCol="0" anchor="ctr"/>
          <a:lstStyle/>
          <a:p>
            <a:r>
              <a:rPr lang="en-US" sz="2000" b="1" dirty="0">
                <a:solidFill>
                  <a:srgbClr val="D4AF37"/>
                </a:solidFill>
                <a:latin typeface="Segoe UI" pitchFamily="34" charset="0"/>
                <a:ea typeface="Segoe UI" pitchFamily="34" charset="-122"/>
                <a:cs typeface="Segoe UI" pitchFamily="34" charset="-120"/>
              </a:rPr>
              <a:t>issue_refund  →  Escalate</a:t>
            </a:r>
            <a:endParaRPr lang="en-US" sz="2000" dirty="0"/>
          </a:p>
        </p:txBody>
      </p:sp>
      <p:sp>
        <p:nvSpPr>
          <p:cNvPr id="36" name="Text 33"/>
          <p:cNvSpPr/>
          <p:nvPr/>
        </p:nvSpPr>
        <p:spPr>
          <a:xfrm>
            <a:off x="9729216" y="5486400"/>
            <a:ext cx="7360920" cy="1051560"/>
          </a:xfrm>
          <a:prstGeom prst="rect">
            <a:avLst/>
          </a:prstGeom>
          <a:noFill/>
          <a:ln/>
        </p:spPr>
        <p:txBody>
          <a:bodyPr wrap="square" lIns="0" tIns="0" rIns="0" bIns="0" rtlCol="0" anchor="ctr"/>
          <a:lstStyle/>
          <a:p>
            <a:r>
              <a:rPr lang="en-US" sz="1600" dirty="0">
                <a:solidFill>
                  <a:srgbClr val="D0C8B8"/>
                </a:solidFill>
                <a:latin typeface="Segoe UI" pitchFamily="34" charset="0"/>
                <a:ea typeface="Segoe UI" pitchFamily="34" charset="-122"/>
                <a:cs typeface="Segoe UI" pitchFamily="34" charset="-120"/>
              </a:rPr>
              <a:t>Text edited. Money held. Both correct at the same time.</a:t>
            </a:r>
            <a:endParaRPr lang="en-US" sz="1600" dirty="0"/>
          </a:p>
        </p:txBody>
      </p:sp>
      <p:sp>
        <p:nvSpPr>
          <p:cNvPr id="37" name="Shape 34"/>
          <p:cNvSpPr/>
          <p:nvPr/>
        </p:nvSpPr>
        <p:spPr>
          <a:xfrm>
            <a:off x="950976" y="7223760"/>
            <a:ext cx="16386048" cy="2011680"/>
          </a:xfrm>
          <a:prstGeom prst="rect">
            <a:avLst/>
          </a:prstGeom>
          <a:solidFill>
            <a:srgbClr val="0F1525"/>
          </a:solidFill>
          <a:ln w="8636">
            <a:solidFill>
              <a:srgbClr val="1E2A3D"/>
            </a:solidFill>
            <a:prstDash val="solid"/>
          </a:ln>
        </p:spPr>
      </p:sp>
      <p:sp>
        <p:nvSpPr>
          <p:cNvPr id="38" name="Text 35"/>
          <p:cNvSpPr/>
          <p:nvPr/>
        </p:nvSpPr>
        <p:spPr>
          <a:xfrm>
            <a:off x="1280160" y="7424928"/>
            <a:ext cx="15727680" cy="384048"/>
          </a:xfrm>
          <a:prstGeom prst="rect">
            <a:avLst/>
          </a:prstGeom>
          <a:noFill/>
          <a:ln/>
        </p:spPr>
        <p:txBody>
          <a:bodyPr wrap="square" lIns="0" tIns="0" rIns="0" bIns="0" rtlCol="0" anchor="ctr"/>
          <a:lstStyle/>
          <a:p>
            <a:r>
              <a:rPr lang="en-US" sz="1800" dirty="0">
                <a:solidFill>
                  <a:srgbClr val="F5F0EB"/>
                </a:solidFill>
                <a:latin typeface="Segoe UI" pitchFamily="34" charset="0"/>
                <a:ea typeface="Segoe UI" pitchFamily="34" charset="-122"/>
                <a:cs typeface="Segoe UI" pitchFamily="34" charset="-120"/>
              </a:rPr>
              <a:t>The customer-visible line is edited. The payout is held. Hash chain verifies.</a:t>
            </a:r>
            <a:endParaRPr lang="en-US" sz="1800" dirty="0"/>
          </a:p>
        </p:txBody>
      </p:sp>
      <p:sp>
        <p:nvSpPr>
          <p:cNvPr id="39" name="Text 36"/>
          <p:cNvSpPr/>
          <p:nvPr/>
        </p:nvSpPr>
        <p:spPr>
          <a:xfrm>
            <a:off x="1280160" y="7882128"/>
            <a:ext cx="15727680" cy="960120"/>
          </a:xfrm>
          <a:prstGeom prst="rect">
            <a:avLst/>
          </a:prstGeom>
          <a:noFill/>
          <a:ln/>
        </p:spPr>
        <p:txBody>
          <a:bodyPr wrap="square" lIns="0" tIns="0" rIns="0" bIns="0" rtlCol="0" anchor="t"/>
          <a:lstStyle/>
          <a:p>
            <a:r>
              <a:rPr lang="en-US" sz="1600" dirty="0">
                <a:solidFill>
                  <a:srgbClr val="D0C8B8"/>
                </a:solidFill>
                <a:latin typeface="Segoe UI" pitchFamily="34" charset="0"/>
                <a:ea typeface="Segoe UI" pitchFamily="34" charset="-122"/>
                <a:cs typeface="Segoe UI" pitchFamily="34" charset="-120"/>
              </a:rPr>
              <a:t>R3 × unsupported-categorical routes to Escalate. Spoken word and grid agree: held and escalated with the evidence packet.</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12182A">
              <a:alpha val="30000"/>
            </a:srgbClr>
          </a:solidFill>
          <a:ln/>
        </p:spPr>
      </p:sp>
      <p:sp>
        <p:nvSpPr>
          <p:cNvPr id="3" name="Text 1"/>
          <p:cNvSpPr/>
          <p:nvPr/>
        </p:nvSpPr>
        <p:spPr>
          <a:xfrm>
            <a:off x="384048" y="402336"/>
            <a:ext cx="210312" cy="228600"/>
          </a:xfrm>
          <a:prstGeom prst="rect">
            <a:avLst/>
          </a:prstGeom>
          <a:noFill/>
          <a:ln/>
        </p:spPr>
        <p:txBody>
          <a:bodyPr wrap="square" lIns="0" tIns="0" rIns="0" bIns="0" rtlCol="0" anchor="ctr"/>
          <a:lstStyle/>
          <a:p>
            <a:r>
              <a:rPr lang="en-US" sz="1200" dirty="0">
                <a:solidFill>
                  <a:srgbClr val="C9A227"/>
                </a:solidFill>
                <a:latin typeface="Segoe UI" pitchFamily="34" charset="0"/>
                <a:ea typeface="Segoe UI" pitchFamily="34" charset="-122"/>
                <a:cs typeface="Segoe UI" pitchFamily="34" charset="-120"/>
              </a:rPr>
              <a:t>◢</a:t>
            </a:r>
            <a:endParaRPr lang="en-US" sz="1200" dirty="0"/>
          </a:p>
        </p:txBody>
      </p:sp>
      <p:sp>
        <p:nvSpPr>
          <p:cNvPr id="4" name="Text 2"/>
          <p:cNvSpPr/>
          <p:nvPr/>
        </p:nvSpPr>
        <p:spPr>
          <a:xfrm>
            <a:off x="621792" y="384048"/>
            <a:ext cx="3840480" cy="265176"/>
          </a:xfrm>
          <a:prstGeom prst="rect">
            <a:avLst/>
          </a:prstGeom>
          <a:noFill/>
          <a:ln/>
        </p:spPr>
        <p:txBody>
          <a:bodyPr wrap="square" lIns="0" tIns="0" rIns="0" bIns="0" rtlCol="0" anchor="ctr"/>
          <a:lstStyle/>
          <a:p>
            <a:r>
              <a:rPr lang="en-US" sz="1500" spc="150" kern="0" dirty="0">
                <a:solidFill>
                  <a:srgbClr val="F5F0EB"/>
                </a:solidFill>
                <a:latin typeface="Segoe UI" pitchFamily="34" charset="0"/>
                <a:ea typeface="Segoe UI" pitchFamily="34" charset="-122"/>
                <a:cs typeface="Segoe UI" pitchFamily="34" charset="-120"/>
              </a:rPr>
              <a:t>CONTROLPLANE//SYS</a:t>
            </a:r>
            <a:endParaRPr lang="en-US" sz="1500" dirty="0"/>
          </a:p>
        </p:txBody>
      </p:sp>
      <p:sp>
        <p:nvSpPr>
          <p:cNvPr id="5" name="Text 3"/>
          <p:cNvSpPr/>
          <p:nvPr/>
        </p:nvSpPr>
        <p:spPr>
          <a:xfrm>
            <a:off x="11521440" y="384048"/>
            <a:ext cx="6217920" cy="265176"/>
          </a:xfrm>
          <a:prstGeom prst="rect">
            <a:avLst/>
          </a:prstGeom>
          <a:noFill/>
          <a:ln/>
        </p:spPr>
        <p:txBody>
          <a:bodyPr wrap="square" lIns="0" tIns="0" rIns="0" bIns="0" rtlCol="0" anchor="ctr"/>
          <a:lstStyle/>
          <a:p>
            <a:pPr algn="r"/>
            <a:r>
              <a:rPr lang="en-US" sz="1500" spc="150" kern="0" dirty="0">
                <a:solidFill>
                  <a:srgbClr val="8892B0"/>
                </a:solidFill>
                <a:latin typeface="Segoe UI" pitchFamily="34" charset="0"/>
                <a:ea typeface="Segoe UI" pitchFamily="34" charset="-122"/>
                <a:cs typeface="Segoe UI" pitchFamily="34" charset="-120"/>
              </a:rPr>
              <a:t>07 // DEMO 04</a:t>
            </a:r>
            <a:endParaRPr lang="en-US" sz="1500" dirty="0"/>
          </a:p>
        </p:txBody>
      </p:sp>
      <p:sp>
        <p:nvSpPr>
          <p:cNvPr id="6" name="Text 4"/>
          <p:cNvSpPr/>
          <p:nvPr/>
        </p:nvSpPr>
        <p:spPr>
          <a:xfrm>
            <a:off x="17775936" y="402336"/>
            <a:ext cx="210312" cy="228600"/>
          </a:xfrm>
          <a:prstGeom prst="rect">
            <a:avLst/>
          </a:prstGeom>
          <a:noFill/>
          <a:ln/>
        </p:spPr>
        <p:txBody>
          <a:bodyPr wrap="square" lIns="0" tIns="0" rIns="0" bIns="0" rtlCol="0" anchor="ctr"/>
          <a:lstStyle/>
          <a:p>
            <a:r>
              <a:rPr lang="en-US" sz="1200" dirty="0">
                <a:solidFill>
                  <a:srgbClr val="C9A227"/>
                </a:solidFill>
                <a:latin typeface="Segoe UI" pitchFamily="34" charset="0"/>
                <a:ea typeface="Segoe UI" pitchFamily="34" charset="-122"/>
                <a:cs typeface="Segoe UI" pitchFamily="34" charset="-120"/>
              </a:rPr>
              <a:t>◣</a:t>
            </a:r>
            <a:endParaRPr lang="en-US" sz="1200" dirty="0"/>
          </a:p>
        </p:txBody>
      </p:sp>
      <p:sp>
        <p:nvSpPr>
          <p:cNvPr id="7" name="Shape 5"/>
          <p:cNvSpPr/>
          <p:nvPr/>
        </p:nvSpPr>
        <p:spPr>
          <a:xfrm>
            <a:off x="384048" y="9747504"/>
            <a:ext cx="91440" cy="91440"/>
          </a:xfrm>
          <a:prstGeom prst="rect">
            <a:avLst/>
          </a:prstGeom>
          <a:solidFill>
            <a:srgbClr val="C9A227"/>
          </a:solidFill>
          <a:ln/>
        </p:spPr>
      </p:sp>
      <p:sp>
        <p:nvSpPr>
          <p:cNvPr id="8" name="Text 6"/>
          <p:cNvSpPr/>
          <p:nvPr/>
        </p:nvSpPr>
        <p:spPr>
          <a:xfrm>
            <a:off x="566928" y="9683496"/>
            <a:ext cx="2194560" cy="265176"/>
          </a:xfrm>
          <a:prstGeom prst="rect">
            <a:avLst/>
          </a:prstGeom>
          <a:noFill/>
          <a:ln/>
        </p:spPr>
        <p:txBody>
          <a:bodyPr wrap="square" lIns="0" tIns="0" rIns="0" bIns="0" rtlCol="0" anchor="ctr"/>
          <a:lstStyle/>
          <a:p>
            <a:r>
              <a:rPr lang="en-US" sz="1500" dirty="0">
                <a:solidFill>
                  <a:srgbClr val="8892B0"/>
                </a:solidFill>
                <a:latin typeface="Segoe UI" pitchFamily="34" charset="0"/>
                <a:ea typeface="Segoe UI" pitchFamily="34" charset="-122"/>
                <a:cs typeface="Segoe UI" pitchFamily="34" charset="-120"/>
              </a:rPr>
              <a:t>ADMIT//PROVE</a:t>
            </a:r>
            <a:endParaRPr lang="en-US" sz="1500" dirty="0"/>
          </a:p>
        </p:txBody>
      </p:sp>
      <p:sp>
        <p:nvSpPr>
          <p:cNvPr id="9" name="Text 7"/>
          <p:cNvSpPr/>
          <p:nvPr/>
        </p:nvSpPr>
        <p:spPr>
          <a:xfrm>
            <a:off x="13350240" y="9683496"/>
            <a:ext cx="4480560" cy="265176"/>
          </a:xfrm>
          <a:prstGeom prst="rect">
            <a:avLst/>
          </a:prstGeom>
          <a:noFill/>
          <a:ln/>
        </p:spPr>
        <p:txBody>
          <a:bodyPr wrap="square" lIns="0" tIns="0" rIns="0" bIns="0" rtlCol="0" anchor="ctr"/>
          <a:lstStyle/>
          <a:p>
            <a:pPr algn="r"/>
            <a:r>
              <a:rPr lang="en-US" sz="1500" spc="150" kern="0" dirty="0">
                <a:solidFill>
                  <a:srgbClr val="8892B0"/>
                </a:solidFill>
                <a:latin typeface="Segoe UI" pitchFamily="34" charset="0"/>
                <a:ea typeface="Segoe UI" pitchFamily="34" charset="-122"/>
                <a:cs typeface="Segoe UI" pitchFamily="34" charset="-120"/>
              </a:rPr>
              <a:t>AIC.2026 · PS #1 · IITGN</a:t>
            </a:r>
            <a:endParaRPr lang="en-US" sz="1500" dirty="0"/>
          </a:p>
        </p:txBody>
      </p:sp>
      <p:sp>
        <p:nvSpPr>
          <p:cNvPr id="11" name="Text 8"/>
          <p:cNvSpPr/>
          <p:nvPr/>
        </p:nvSpPr>
        <p:spPr>
          <a:xfrm>
            <a:off x="950976" y="914400"/>
            <a:ext cx="16367760" cy="265176"/>
          </a:xfrm>
          <a:prstGeom prst="rect">
            <a:avLst/>
          </a:prstGeom>
          <a:noFill/>
          <a:ln/>
        </p:spPr>
        <p:txBody>
          <a:bodyPr wrap="square" lIns="0" tIns="0" rIns="0" bIns="0" rtlCol="0" anchor="ctr"/>
          <a:lstStyle/>
          <a:p>
            <a:pPr algn="l"/>
            <a:r>
              <a:rPr lang="en-US" sz="1500" spc="300" kern="0" dirty="0">
                <a:solidFill>
                  <a:srgbClr val="C9A227"/>
                </a:solidFill>
                <a:latin typeface="Segoe UI" pitchFamily="34" charset="0"/>
                <a:ea typeface="Segoe UI" pitchFamily="34" charset="-122"/>
                <a:cs typeface="Segoe UI" pitchFamily="34" charset="-120"/>
              </a:rPr>
              <a:t>07 · DEMO 04 / 04  ·  ENTITLEMENT FLIP  ·  python3 examples/knowledge_flip_demo.py</a:t>
            </a:r>
            <a:endParaRPr lang="en-US" sz="1500" dirty="0"/>
          </a:p>
        </p:txBody>
      </p:sp>
      <p:sp>
        <p:nvSpPr>
          <p:cNvPr id="12" name="Text 9"/>
          <p:cNvSpPr/>
          <p:nvPr/>
        </p:nvSpPr>
        <p:spPr>
          <a:xfrm>
            <a:off x="950976" y="1225296"/>
            <a:ext cx="16367760" cy="566928"/>
          </a:xfrm>
          <a:prstGeom prst="rect">
            <a:avLst/>
          </a:prstGeom>
          <a:noFill/>
          <a:ln/>
        </p:spPr>
        <p:txBody>
          <a:bodyPr wrap="square" lIns="0" tIns="0" rIns="0" bIns="0" rtlCol="0" anchor="t"/>
          <a:lstStyle/>
          <a:p>
            <a:pPr algn="l"/>
            <a:r>
              <a:rPr lang="en-US" sz="2600" b="1" spc="-75" kern="0" dirty="0">
                <a:solidFill>
                  <a:srgbClr val="F5F0EB"/>
                </a:solidFill>
                <a:latin typeface="Segoe UI" pitchFamily="34" charset="0"/>
                <a:ea typeface="Segoe UI" pitchFamily="34" charset="-122"/>
                <a:cs typeface="Segoe UI" pitchFamily="34" charset="-120"/>
              </a:rPr>
              <a:t>SAME SPAN. SAME CLAIM. SAME HASH.</a:t>
            </a:r>
            <a:pPr algn="l"/>
            <a:r>
              <a:rPr lang="en-US" sz="2600" b="1" spc="-75" kern="0" dirty="0">
                <a:solidFill>
                  <a:srgbClr val="C9A227"/>
                </a:solidFill>
                <a:latin typeface="Segoe UI" pitchFamily="34" charset="0"/>
                <a:ea typeface="Segoe UI" pitchFamily="34" charset="-122"/>
                <a:cs typeface="Segoe UI" pitchFamily="34" charset="-120"/>
              </a:rPr>
              <a:t> ONLY THE CALLER CHANGED.</a:t>
            </a:r>
            <a:endParaRPr lang="en-US" sz="2600" dirty="0"/>
          </a:p>
        </p:txBody>
      </p:sp>
      <p:sp>
        <p:nvSpPr>
          <p:cNvPr id="13" name="Shape 10"/>
          <p:cNvSpPr/>
          <p:nvPr/>
        </p:nvSpPr>
        <p:spPr>
          <a:xfrm>
            <a:off x="950976" y="2103120"/>
            <a:ext cx="8092440" cy="6126480"/>
          </a:xfrm>
          <a:prstGeom prst="rect">
            <a:avLst/>
          </a:prstGeom>
          <a:solidFill>
            <a:srgbClr val="0F1525"/>
          </a:solidFill>
          <a:ln w="13970">
            <a:solidFill>
              <a:srgbClr val="C9A227"/>
            </a:solidFill>
            <a:prstDash val="solid"/>
          </a:ln>
        </p:spPr>
      </p:sp>
      <p:sp>
        <p:nvSpPr>
          <p:cNvPr id="14" name="Shape 11"/>
          <p:cNvSpPr/>
          <p:nvPr/>
        </p:nvSpPr>
        <p:spPr>
          <a:xfrm>
            <a:off x="950976" y="2103120"/>
            <a:ext cx="8092440" cy="41148"/>
          </a:xfrm>
          <a:prstGeom prst="rect">
            <a:avLst/>
          </a:prstGeom>
          <a:solidFill>
            <a:srgbClr val="C9A227"/>
          </a:solidFill>
          <a:ln/>
        </p:spPr>
      </p:sp>
      <p:sp>
        <p:nvSpPr>
          <p:cNvPr id="15" name="Text 12"/>
          <p:cNvSpPr/>
          <p:nvPr/>
        </p:nvSpPr>
        <p:spPr>
          <a:xfrm>
            <a:off x="1243584" y="2304288"/>
            <a:ext cx="7498080" cy="365760"/>
          </a:xfrm>
          <a:prstGeom prst="rect">
            <a:avLst/>
          </a:prstGeom>
          <a:noFill/>
          <a:ln/>
        </p:spPr>
        <p:txBody>
          <a:bodyPr wrap="square" lIns="0" tIns="0" rIns="0" bIns="0" rtlCol="0" anchor="ctr"/>
          <a:lstStyle/>
          <a:p>
            <a:r>
              <a:rPr lang="en-US" sz="2000" b="1" dirty="0">
                <a:solidFill>
                  <a:srgbClr val="F5F0EB"/>
                </a:solidFill>
                <a:latin typeface="Segoe UI" pitchFamily="34" charset="0"/>
                <a:ea typeface="Segoe UI" pitchFamily="34" charset="-122"/>
                <a:cs typeface="Segoe UI" pitchFamily="34" charset="-120"/>
              </a:rPr>
              <a:t>analyst_01</a:t>
            </a:r>
            <a:endParaRPr lang="en-US" sz="2000" dirty="0"/>
          </a:p>
        </p:txBody>
      </p:sp>
      <p:sp>
        <p:nvSpPr>
          <p:cNvPr id="16" name="Text 13"/>
          <p:cNvSpPr/>
          <p:nvPr/>
        </p:nvSpPr>
        <p:spPr>
          <a:xfrm>
            <a:off x="1243584" y="2706624"/>
            <a:ext cx="7498080" cy="310896"/>
          </a:xfrm>
          <a:prstGeom prst="rect">
            <a:avLst/>
          </a:prstGeom>
          <a:noFill/>
          <a:ln/>
        </p:spPr>
        <p:txBody>
          <a:bodyPr wrap="square" lIns="0" tIns="0" rIns="0" bIns="0" rtlCol="0" anchor="ctr"/>
          <a:lstStyle/>
          <a:p>
            <a:r>
              <a:rPr lang="en-US" sz="1400" dirty="0">
                <a:solidFill>
                  <a:srgbClr val="8892B0"/>
                </a:solidFill>
                <a:latin typeface="Segoe UI" pitchFamily="34" charset="0"/>
                <a:ea typeface="Segoe UI" pitchFamily="34" charset="-122"/>
                <a:cs typeface="Segoe UI" pitchFamily="34" charset="-120"/>
              </a:rPr>
              <a:t>clearance {analyst}  ·  span ACL {hr-comp-l6}</a:t>
            </a:r>
            <a:endParaRPr lang="en-US" sz="1400" dirty="0"/>
          </a:p>
        </p:txBody>
      </p:sp>
      <p:sp>
        <p:nvSpPr>
          <p:cNvPr id="17" name="Text 14"/>
          <p:cNvSpPr/>
          <p:nvPr/>
        </p:nvSpPr>
        <p:spPr>
          <a:xfrm>
            <a:off x="1243584" y="3163824"/>
            <a:ext cx="7498080" cy="310896"/>
          </a:xfrm>
          <a:prstGeom prst="rect">
            <a:avLst/>
          </a:prstGeom>
          <a:noFill/>
          <a:ln/>
        </p:spPr>
        <p:txBody>
          <a:bodyPr wrap="square" lIns="0" tIns="0" rIns="0" bIns="0" rtlCol="0" anchor="ctr"/>
          <a:lstStyle/>
          <a:p>
            <a:r>
              <a:rPr lang="en-US" sz="1400" dirty="0">
                <a:solidFill>
                  <a:srgbClr val="D4AF37"/>
                </a:solidFill>
                <a:latin typeface="SF Mono" pitchFamily="34" charset="0"/>
                <a:ea typeface="SF Mono" pitchFamily="34" charset="-122"/>
                <a:cs typeface="SF Mono" pitchFamily="34" charset="-120"/>
              </a:rPr>
              <a:t>content_hash  60d00e…f8603d</a:t>
            </a:r>
            <a:endParaRPr lang="en-US" sz="1400" dirty="0"/>
          </a:p>
        </p:txBody>
      </p:sp>
      <p:sp>
        <p:nvSpPr>
          <p:cNvPr id="18" name="Text 15"/>
          <p:cNvSpPr/>
          <p:nvPr/>
        </p:nvSpPr>
        <p:spPr>
          <a:xfrm>
            <a:off x="1243584" y="3621024"/>
            <a:ext cx="7498080" cy="640080"/>
          </a:xfrm>
          <a:prstGeom prst="rect">
            <a:avLst/>
          </a:prstGeom>
          <a:noFill/>
          <a:ln/>
        </p:spPr>
        <p:txBody>
          <a:bodyPr wrap="square" lIns="0" tIns="0" rIns="0" bIns="0" rtlCol="0" anchor="t"/>
          <a:lstStyle/>
          <a:p>
            <a:r>
              <a:rPr lang="en-US" sz="1600" i="1" dirty="0">
                <a:solidFill>
                  <a:srgbClr val="F5F0EB"/>
                </a:solidFill>
                <a:latin typeface="Segoe UI" pitchFamily="34" charset="0"/>
                <a:ea typeface="Segoe UI" pitchFamily="34" charset="-122"/>
                <a:cs typeface="Segoe UI" pitchFamily="34" charset="-120"/>
              </a:rPr>
              <a:t>“L6 base range is confidential HR-partner material.”</a:t>
            </a:r>
            <a:endParaRPr lang="en-US" sz="1600" dirty="0"/>
          </a:p>
        </p:txBody>
      </p:sp>
      <p:sp>
        <p:nvSpPr>
          <p:cNvPr id="19" name="Text 16"/>
          <p:cNvSpPr/>
          <p:nvPr/>
        </p:nvSpPr>
        <p:spPr>
          <a:xfrm>
            <a:off x="1243584" y="4425696"/>
            <a:ext cx="7498080" cy="365760"/>
          </a:xfrm>
          <a:prstGeom prst="rect">
            <a:avLst/>
          </a:prstGeom>
          <a:noFill/>
          <a:ln/>
        </p:spPr>
        <p:txBody>
          <a:bodyPr wrap="square" lIns="0" tIns="0" rIns="0" bIns="0" rtlCol="0" anchor="ctr"/>
          <a:lstStyle/>
          <a:p>
            <a:r>
              <a:rPr lang="en-US" sz="1500" b="1" dirty="0">
                <a:solidFill>
                  <a:srgbClr val="C9A227"/>
                </a:solidFill>
                <a:latin typeface="Segoe UI" pitchFamily="34" charset="0"/>
                <a:ea typeface="Segoe UI" pitchFamily="34" charset="-122"/>
                <a:cs typeface="Segoe UI" pitchFamily="34" charset="-120"/>
              </a:rPr>
              <a:t>span ACL ⊄ principal clearance  →  VIOLATION</a:t>
            </a:r>
            <a:endParaRPr lang="en-US" sz="1500" dirty="0"/>
          </a:p>
        </p:txBody>
      </p:sp>
      <p:sp>
        <p:nvSpPr>
          <p:cNvPr id="20" name="Text 17"/>
          <p:cNvSpPr/>
          <p:nvPr/>
        </p:nvSpPr>
        <p:spPr>
          <a:xfrm>
            <a:off x="1243584" y="4882896"/>
            <a:ext cx="7498080" cy="292608"/>
          </a:xfrm>
          <a:prstGeom prst="rect">
            <a:avLst/>
          </a:prstGeom>
          <a:noFill/>
          <a:ln/>
        </p:spPr>
        <p:txBody>
          <a:bodyPr wrap="square" lIns="0" tIns="0" rIns="0" bIns="0" rtlCol="0" anchor="ctr"/>
          <a:lstStyle/>
          <a:p>
            <a:r>
              <a:rPr lang="en-US" sz="1400" dirty="0">
                <a:solidFill>
                  <a:srgbClr val="D0C8B8"/>
                </a:solidFill>
                <a:latin typeface="Segoe UI" pitchFamily="34" charset="0"/>
                <a:ea typeface="Segoe UI" pitchFamily="34" charset="-122"/>
                <a:cs typeface="Segoe UI" pitchFamily="34" charset="-120"/>
              </a:rPr>
              <a:t>CELL   R1 × Contradicted / entitlement violation</a:t>
            </a:r>
            <a:endParaRPr lang="en-US" sz="1400" dirty="0"/>
          </a:p>
        </p:txBody>
      </p:sp>
      <p:sp>
        <p:nvSpPr>
          <p:cNvPr id="21" name="Text 18"/>
          <p:cNvSpPr/>
          <p:nvPr/>
        </p:nvSpPr>
        <p:spPr>
          <a:xfrm>
            <a:off x="1243584" y="5340096"/>
            <a:ext cx="7498080" cy="256032"/>
          </a:xfrm>
          <a:prstGeom prst="rect">
            <a:avLst/>
          </a:prstGeom>
          <a:noFill/>
          <a:ln/>
        </p:spPr>
        <p:txBody>
          <a:bodyPr wrap="square" lIns="0" tIns="0" rIns="0" bIns="0" rtlCol="0" anchor="ctr"/>
          <a:lstStyle/>
          <a:p>
            <a:r>
              <a:rPr lang="en-US" sz="1300" spc="200" kern="0" dirty="0">
                <a:solidFill>
                  <a:srgbClr val="8892B0"/>
                </a:solidFill>
                <a:latin typeface="Segoe UI" pitchFamily="34" charset="0"/>
                <a:ea typeface="Segoe UI" pitchFamily="34" charset="-122"/>
                <a:cs typeface="Segoe UI" pitchFamily="34" charset="-120"/>
              </a:rPr>
              <a:t>ACTUATOR</a:t>
            </a:r>
            <a:endParaRPr lang="en-US" sz="1300" dirty="0"/>
          </a:p>
        </p:txBody>
      </p:sp>
      <p:sp>
        <p:nvSpPr>
          <p:cNvPr id="22" name="Text 19"/>
          <p:cNvSpPr/>
          <p:nvPr/>
        </p:nvSpPr>
        <p:spPr>
          <a:xfrm>
            <a:off x="1243584" y="5632704"/>
            <a:ext cx="7498080" cy="822960"/>
          </a:xfrm>
          <a:prstGeom prst="rect">
            <a:avLst/>
          </a:prstGeom>
          <a:noFill/>
          <a:ln/>
        </p:spPr>
        <p:txBody>
          <a:bodyPr wrap="square" lIns="0" tIns="0" rIns="0" bIns="0" rtlCol="0" anchor="ctr"/>
          <a:lstStyle/>
          <a:p>
            <a:r>
              <a:rPr lang="en-US" sz="4000" b="1" dirty="0">
                <a:solidFill>
                  <a:srgbClr val="F5F0EB"/>
                </a:solidFill>
                <a:latin typeface="Segoe UI" pitchFamily="34" charset="0"/>
                <a:ea typeface="Segoe UI" pitchFamily="34" charset="-122"/>
                <a:cs typeface="Segoe UI" pitchFamily="34" charset="-120"/>
              </a:rPr>
              <a:t>Edit</a:t>
            </a:r>
            <a:endParaRPr lang="en-US" sz="4000" dirty="0"/>
          </a:p>
        </p:txBody>
      </p:sp>
      <p:sp>
        <p:nvSpPr>
          <p:cNvPr id="23" name="Shape 20"/>
          <p:cNvSpPr/>
          <p:nvPr/>
        </p:nvSpPr>
        <p:spPr>
          <a:xfrm>
            <a:off x="9244584" y="2103120"/>
            <a:ext cx="8092440" cy="6126480"/>
          </a:xfrm>
          <a:prstGeom prst="rect">
            <a:avLst/>
          </a:prstGeom>
          <a:solidFill>
            <a:srgbClr val="0F1525"/>
          </a:solidFill>
          <a:ln w="13970">
            <a:solidFill>
              <a:srgbClr val="D4AF37"/>
            </a:solidFill>
            <a:prstDash val="solid"/>
          </a:ln>
        </p:spPr>
      </p:sp>
      <p:sp>
        <p:nvSpPr>
          <p:cNvPr id="24" name="Shape 21"/>
          <p:cNvSpPr/>
          <p:nvPr/>
        </p:nvSpPr>
        <p:spPr>
          <a:xfrm>
            <a:off x="9244584" y="2103120"/>
            <a:ext cx="8092440" cy="41148"/>
          </a:xfrm>
          <a:prstGeom prst="rect">
            <a:avLst/>
          </a:prstGeom>
          <a:solidFill>
            <a:srgbClr val="C9A227"/>
          </a:solidFill>
          <a:ln/>
        </p:spPr>
      </p:sp>
      <p:sp>
        <p:nvSpPr>
          <p:cNvPr id="25" name="Text 22"/>
          <p:cNvSpPr/>
          <p:nvPr/>
        </p:nvSpPr>
        <p:spPr>
          <a:xfrm>
            <a:off x="9537192" y="2304288"/>
            <a:ext cx="7498080" cy="365760"/>
          </a:xfrm>
          <a:prstGeom prst="rect">
            <a:avLst/>
          </a:prstGeom>
          <a:noFill/>
          <a:ln/>
        </p:spPr>
        <p:txBody>
          <a:bodyPr wrap="square" lIns="0" tIns="0" rIns="0" bIns="0" rtlCol="0" anchor="ctr"/>
          <a:lstStyle/>
          <a:p>
            <a:r>
              <a:rPr lang="en-US" sz="2000" b="1" dirty="0">
                <a:solidFill>
                  <a:srgbClr val="F5F0EB"/>
                </a:solidFill>
                <a:latin typeface="Segoe UI" pitchFamily="34" charset="0"/>
                <a:ea typeface="Segoe UI" pitchFamily="34" charset="-122"/>
                <a:cs typeface="Segoe UI" pitchFamily="34" charset="-120"/>
              </a:rPr>
              <a:t>hr_partner_01</a:t>
            </a:r>
            <a:endParaRPr lang="en-US" sz="2000" dirty="0"/>
          </a:p>
        </p:txBody>
      </p:sp>
      <p:sp>
        <p:nvSpPr>
          <p:cNvPr id="26" name="Text 23"/>
          <p:cNvSpPr/>
          <p:nvPr/>
        </p:nvSpPr>
        <p:spPr>
          <a:xfrm>
            <a:off x="9537192" y="2706624"/>
            <a:ext cx="7498080" cy="310896"/>
          </a:xfrm>
          <a:prstGeom prst="rect">
            <a:avLst/>
          </a:prstGeom>
          <a:noFill/>
          <a:ln/>
        </p:spPr>
        <p:txBody>
          <a:bodyPr wrap="square" lIns="0" tIns="0" rIns="0" bIns="0" rtlCol="0" anchor="ctr"/>
          <a:lstStyle/>
          <a:p>
            <a:r>
              <a:rPr lang="en-US" sz="1400" dirty="0">
                <a:solidFill>
                  <a:srgbClr val="8892B0"/>
                </a:solidFill>
                <a:latin typeface="Segoe UI" pitchFamily="34" charset="0"/>
                <a:ea typeface="Segoe UI" pitchFamily="34" charset="-122"/>
                <a:cs typeface="Segoe UI" pitchFamily="34" charset="-120"/>
              </a:rPr>
              <a:t>clearance {hr-partner, hr-comp-l6}  ·  span ACL {hr-comp-l6}</a:t>
            </a:r>
            <a:endParaRPr lang="en-US" sz="1400" dirty="0"/>
          </a:p>
        </p:txBody>
      </p:sp>
      <p:sp>
        <p:nvSpPr>
          <p:cNvPr id="27" name="Text 24"/>
          <p:cNvSpPr/>
          <p:nvPr/>
        </p:nvSpPr>
        <p:spPr>
          <a:xfrm>
            <a:off x="9537192" y="3163824"/>
            <a:ext cx="7498080" cy="310896"/>
          </a:xfrm>
          <a:prstGeom prst="rect">
            <a:avLst/>
          </a:prstGeom>
          <a:noFill/>
          <a:ln/>
        </p:spPr>
        <p:txBody>
          <a:bodyPr wrap="square" lIns="0" tIns="0" rIns="0" bIns="0" rtlCol="0" anchor="ctr"/>
          <a:lstStyle/>
          <a:p>
            <a:r>
              <a:rPr lang="en-US" sz="1400" dirty="0">
                <a:solidFill>
                  <a:srgbClr val="D4AF37"/>
                </a:solidFill>
                <a:latin typeface="SF Mono" pitchFamily="34" charset="0"/>
                <a:ea typeface="SF Mono" pitchFamily="34" charset="-122"/>
                <a:cs typeface="SF Mono" pitchFamily="34" charset="-120"/>
              </a:rPr>
              <a:t>content_hash  60d00e…f8603d</a:t>
            </a:r>
            <a:endParaRPr lang="en-US" sz="1400" dirty="0"/>
          </a:p>
        </p:txBody>
      </p:sp>
      <p:sp>
        <p:nvSpPr>
          <p:cNvPr id="28" name="Text 25"/>
          <p:cNvSpPr/>
          <p:nvPr/>
        </p:nvSpPr>
        <p:spPr>
          <a:xfrm>
            <a:off x="9537192" y="3621024"/>
            <a:ext cx="7498080" cy="640080"/>
          </a:xfrm>
          <a:prstGeom prst="rect">
            <a:avLst/>
          </a:prstGeom>
          <a:noFill/>
          <a:ln/>
        </p:spPr>
        <p:txBody>
          <a:bodyPr wrap="square" lIns="0" tIns="0" rIns="0" bIns="0" rtlCol="0" anchor="t"/>
          <a:lstStyle/>
          <a:p>
            <a:r>
              <a:rPr lang="en-US" sz="1600" i="1" dirty="0">
                <a:solidFill>
                  <a:srgbClr val="F5F0EB"/>
                </a:solidFill>
                <a:latin typeface="Segoe UI" pitchFamily="34" charset="0"/>
                <a:ea typeface="Segoe UI" pitchFamily="34" charset="-122"/>
                <a:cs typeface="Segoe UI" pitchFamily="34" charset="-120"/>
              </a:rPr>
              <a:t>“L6 base range is confidential HR-partner material.”</a:t>
            </a:r>
            <a:endParaRPr lang="en-US" sz="1600" dirty="0"/>
          </a:p>
        </p:txBody>
      </p:sp>
      <p:sp>
        <p:nvSpPr>
          <p:cNvPr id="29" name="Text 26"/>
          <p:cNvSpPr/>
          <p:nvPr/>
        </p:nvSpPr>
        <p:spPr>
          <a:xfrm>
            <a:off x="9537192" y="4425696"/>
            <a:ext cx="7498080" cy="365760"/>
          </a:xfrm>
          <a:prstGeom prst="rect">
            <a:avLst/>
          </a:prstGeom>
          <a:noFill/>
          <a:ln/>
        </p:spPr>
        <p:txBody>
          <a:bodyPr wrap="square" lIns="0" tIns="0" rIns="0" bIns="0" rtlCol="0" anchor="ctr"/>
          <a:lstStyle/>
          <a:p>
            <a:r>
              <a:rPr lang="en-US" sz="1500" b="1" dirty="0">
                <a:solidFill>
                  <a:srgbClr val="D4AF37"/>
                </a:solidFill>
                <a:latin typeface="Segoe UI" pitchFamily="34" charset="0"/>
                <a:ea typeface="Segoe UI" pitchFamily="34" charset="-122"/>
                <a:cs typeface="Segoe UI" pitchFamily="34" charset="-120"/>
              </a:rPr>
              <a:t>span ACL ⊆ principal clearance  →  OK</a:t>
            </a:r>
            <a:endParaRPr lang="en-US" sz="1500" dirty="0"/>
          </a:p>
        </p:txBody>
      </p:sp>
      <p:sp>
        <p:nvSpPr>
          <p:cNvPr id="30" name="Text 27"/>
          <p:cNvSpPr/>
          <p:nvPr/>
        </p:nvSpPr>
        <p:spPr>
          <a:xfrm>
            <a:off x="9537192" y="4882896"/>
            <a:ext cx="7498080" cy="292608"/>
          </a:xfrm>
          <a:prstGeom prst="rect">
            <a:avLst/>
          </a:prstGeom>
          <a:noFill/>
          <a:ln/>
        </p:spPr>
        <p:txBody>
          <a:bodyPr wrap="square" lIns="0" tIns="0" rIns="0" bIns="0" rtlCol="0" anchor="ctr"/>
          <a:lstStyle/>
          <a:p>
            <a:r>
              <a:rPr lang="en-US" sz="1400" dirty="0">
                <a:solidFill>
                  <a:srgbClr val="D0C8B8"/>
                </a:solidFill>
                <a:latin typeface="Segoe UI" pitchFamily="34" charset="0"/>
                <a:ea typeface="Segoe UI" pitchFamily="34" charset="-122"/>
                <a:cs typeface="Segoe UI" pitchFamily="34" charset="-120"/>
              </a:rPr>
              <a:t>CELL   R1 × clean / supported</a:t>
            </a:r>
            <a:endParaRPr lang="en-US" sz="1400" dirty="0"/>
          </a:p>
        </p:txBody>
      </p:sp>
      <p:sp>
        <p:nvSpPr>
          <p:cNvPr id="31" name="Text 28"/>
          <p:cNvSpPr/>
          <p:nvPr/>
        </p:nvSpPr>
        <p:spPr>
          <a:xfrm>
            <a:off x="9537192" y="5340096"/>
            <a:ext cx="7498080" cy="256032"/>
          </a:xfrm>
          <a:prstGeom prst="rect">
            <a:avLst/>
          </a:prstGeom>
          <a:noFill/>
          <a:ln/>
        </p:spPr>
        <p:txBody>
          <a:bodyPr wrap="square" lIns="0" tIns="0" rIns="0" bIns="0" rtlCol="0" anchor="ctr"/>
          <a:lstStyle/>
          <a:p>
            <a:r>
              <a:rPr lang="en-US" sz="1300" spc="200" kern="0" dirty="0">
                <a:solidFill>
                  <a:srgbClr val="8892B0"/>
                </a:solidFill>
                <a:latin typeface="Segoe UI" pitchFamily="34" charset="0"/>
                <a:ea typeface="Segoe UI" pitchFamily="34" charset="-122"/>
                <a:cs typeface="Segoe UI" pitchFamily="34" charset="-120"/>
              </a:rPr>
              <a:t>ACTUATOR</a:t>
            </a:r>
            <a:endParaRPr lang="en-US" sz="1300" dirty="0"/>
          </a:p>
        </p:txBody>
      </p:sp>
      <p:sp>
        <p:nvSpPr>
          <p:cNvPr id="32" name="Text 29"/>
          <p:cNvSpPr/>
          <p:nvPr/>
        </p:nvSpPr>
        <p:spPr>
          <a:xfrm>
            <a:off x="9537192" y="5632704"/>
            <a:ext cx="7498080" cy="822960"/>
          </a:xfrm>
          <a:prstGeom prst="rect">
            <a:avLst/>
          </a:prstGeom>
          <a:noFill/>
          <a:ln/>
        </p:spPr>
        <p:txBody>
          <a:bodyPr wrap="square" lIns="0" tIns="0" rIns="0" bIns="0" rtlCol="0" anchor="ctr"/>
          <a:lstStyle/>
          <a:p>
            <a:r>
              <a:rPr lang="en-US" sz="4000" b="1" dirty="0">
                <a:solidFill>
                  <a:srgbClr val="D4AF37"/>
                </a:solidFill>
                <a:latin typeface="Segoe UI" pitchFamily="34" charset="0"/>
                <a:ea typeface="Segoe UI" pitchFamily="34" charset="-122"/>
                <a:cs typeface="Segoe UI" pitchFamily="34" charset="-120"/>
              </a:rPr>
              <a:t>Pass</a:t>
            </a:r>
            <a:endParaRPr lang="en-US" sz="4000" dirty="0"/>
          </a:p>
        </p:txBody>
      </p:sp>
      <p:sp>
        <p:nvSpPr>
          <p:cNvPr id="33" name="Shape 30"/>
          <p:cNvSpPr/>
          <p:nvPr/>
        </p:nvSpPr>
        <p:spPr>
          <a:xfrm>
            <a:off x="950976" y="8357616"/>
            <a:ext cx="16386048" cy="1572768"/>
          </a:xfrm>
          <a:prstGeom prst="rect">
            <a:avLst/>
          </a:prstGeom>
          <a:solidFill>
            <a:srgbClr val="0F1525"/>
          </a:solidFill>
          <a:ln w="8636">
            <a:solidFill>
              <a:srgbClr val="1E2A3D"/>
            </a:solidFill>
            <a:prstDash val="solid"/>
          </a:ln>
        </p:spPr>
      </p:sp>
      <p:sp>
        <p:nvSpPr>
          <p:cNvPr id="34" name="Text 31"/>
          <p:cNvSpPr/>
          <p:nvPr/>
        </p:nvSpPr>
        <p:spPr>
          <a:xfrm>
            <a:off x="1243584" y="8503920"/>
            <a:ext cx="15819120" cy="365760"/>
          </a:xfrm>
          <a:prstGeom prst="rect">
            <a:avLst/>
          </a:prstGeom>
          <a:noFill/>
          <a:ln/>
        </p:spPr>
        <p:txBody>
          <a:bodyPr wrap="square" lIns="0" tIns="0" rIns="0" bIns="0" rtlCol="0" anchor="ctr"/>
          <a:lstStyle/>
          <a:p>
            <a:r>
              <a:rPr lang="en-US" sz="1800" b="1" dirty="0">
                <a:solidFill>
                  <a:srgbClr val="F5F0EB"/>
                </a:solidFill>
                <a:latin typeface="Segoe UI" pitchFamily="34" charset="0"/>
                <a:ea typeface="Segoe UI" pitchFamily="34" charset="-122"/>
                <a:cs typeface="Segoe UI" pitchFamily="34" charset="-120"/>
              </a:rPr>
              <a:t>ZERO LLM IN THIS PATH. Set-membership on ACL ⊆ clearance.</a:t>
            </a:r>
            <a:endParaRPr lang="en-US" sz="1800" dirty="0"/>
          </a:p>
        </p:txBody>
      </p:sp>
      <p:sp>
        <p:nvSpPr>
          <p:cNvPr id="35" name="Text 32"/>
          <p:cNvSpPr/>
          <p:nvPr/>
        </p:nvSpPr>
        <p:spPr>
          <a:xfrm>
            <a:off x="1243584" y="8906256"/>
            <a:ext cx="15819120" cy="822960"/>
          </a:xfrm>
          <a:prstGeom prst="rect">
            <a:avLst/>
          </a:prstGeom>
          <a:noFill/>
          <a:ln/>
        </p:spPr>
        <p:txBody>
          <a:bodyPr wrap="square" lIns="0" tIns="0" rIns="0" bIns="0" rtlCol="0" anchor="t"/>
          <a:lstStyle/>
          <a:p>
            <a:r>
              <a:rPr lang="en-US" sz="1500" dirty="0">
                <a:solidFill>
                  <a:srgbClr val="D0C8B8"/>
                </a:solidFill>
                <a:latin typeface="Segoe UI" pitchFamily="34" charset="0"/>
                <a:ea typeface="Segoe UI" pitchFamily="34" charset="-122"/>
                <a:cs typeface="Segoe UI" pitchFamily="34" charset="-120"/>
              </a:rPr>
              <a:t>The claim is the same. The evidence is the same. Only the caller changed — and the actuator flips. Groundedness sees the retrieval and says supported; it never carries who is asking, so it cannot see this.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12182A">
              <a:alpha val="30000"/>
            </a:srgbClr>
          </a:solidFill>
          <a:ln/>
        </p:spPr>
      </p:sp>
      <p:sp>
        <p:nvSpPr>
          <p:cNvPr id="3" name="Text 1"/>
          <p:cNvSpPr/>
          <p:nvPr/>
        </p:nvSpPr>
        <p:spPr>
          <a:xfrm>
            <a:off x="384048" y="402336"/>
            <a:ext cx="210312" cy="228600"/>
          </a:xfrm>
          <a:prstGeom prst="rect">
            <a:avLst/>
          </a:prstGeom>
          <a:noFill/>
          <a:ln/>
        </p:spPr>
        <p:txBody>
          <a:bodyPr wrap="square" lIns="0" tIns="0" rIns="0" bIns="0" rtlCol="0" anchor="ctr"/>
          <a:lstStyle/>
          <a:p>
            <a:r>
              <a:rPr lang="en-US" sz="1200" dirty="0">
                <a:solidFill>
                  <a:srgbClr val="C9A227"/>
                </a:solidFill>
                <a:latin typeface="Segoe UI" pitchFamily="34" charset="0"/>
                <a:ea typeface="Segoe UI" pitchFamily="34" charset="-122"/>
                <a:cs typeface="Segoe UI" pitchFamily="34" charset="-120"/>
              </a:rPr>
              <a:t>◢</a:t>
            </a:r>
            <a:endParaRPr lang="en-US" sz="1200" dirty="0"/>
          </a:p>
        </p:txBody>
      </p:sp>
      <p:sp>
        <p:nvSpPr>
          <p:cNvPr id="4" name="Text 2"/>
          <p:cNvSpPr/>
          <p:nvPr/>
        </p:nvSpPr>
        <p:spPr>
          <a:xfrm>
            <a:off x="621792" y="384048"/>
            <a:ext cx="3840480" cy="265176"/>
          </a:xfrm>
          <a:prstGeom prst="rect">
            <a:avLst/>
          </a:prstGeom>
          <a:noFill/>
          <a:ln/>
        </p:spPr>
        <p:txBody>
          <a:bodyPr wrap="square" lIns="0" tIns="0" rIns="0" bIns="0" rtlCol="0" anchor="ctr"/>
          <a:lstStyle/>
          <a:p>
            <a:r>
              <a:rPr lang="en-US" sz="1500" spc="150" kern="0" dirty="0">
                <a:solidFill>
                  <a:srgbClr val="F5F0EB"/>
                </a:solidFill>
                <a:latin typeface="Segoe UI" pitchFamily="34" charset="0"/>
                <a:ea typeface="Segoe UI" pitchFamily="34" charset="-122"/>
                <a:cs typeface="Segoe UI" pitchFamily="34" charset="-120"/>
              </a:rPr>
              <a:t>CONTROLPLANE//SYS</a:t>
            </a:r>
            <a:endParaRPr lang="en-US" sz="1500" dirty="0"/>
          </a:p>
        </p:txBody>
      </p:sp>
      <p:sp>
        <p:nvSpPr>
          <p:cNvPr id="5" name="Text 3"/>
          <p:cNvSpPr/>
          <p:nvPr/>
        </p:nvSpPr>
        <p:spPr>
          <a:xfrm>
            <a:off x="11521440" y="384048"/>
            <a:ext cx="6217920" cy="265176"/>
          </a:xfrm>
          <a:prstGeom prst="rect">
            <a:avLst/>
          </a:prstGeom>
          <a:noFill/>
          <a:ln/>
        </p:spPr>
        <p:txBody>
          <a:bodyPr wrap="square" lIns="0" tIns="0" rIns="0" bIns="0" rtlCol="0" anchor="ctr"/>
          <a:lstStyle/>
          <a:p>
            <a:pPr algn="r"/>
            <a:r>
              <a:rPr lang="en-US" sz="1500" spc="150" kern="0" dirty="0">
                <a:solidFill>
                  <a:srgbClr val="8892B0"/>
                </a:solidFill>
                <a:latin typeface="Segoe UI" pitchFamily="34" charset="0"/>
                <a:ea typeface="Segoe UI" pitchFamily="34" charset="-122"/>
                <a:cs typeface="Segoe UI" pitchFamily="34" charset="-120"/>
              </a:rPr>
              <a:t>08 // NOT THESE</a:t>
            </a:r>
            <a:endParaRPr lang="en-US" sz="1500" dirty="0"/>
          </a:p>
        </p:txBody>
      </p:sp>
      <p:sp>
        <p:nvSpPr>
          <p:cNvPr id="6" name="Text 4"/>
          <p:cNvSpPr/>
          <p:nvPr/>
        </p:nvSpPr>
        <p:spPr>
          <a:xfrm>
            <a:off x="17775936" y="402336"/>
            <a:ext cx="210312" cy="228600"/>
          </a:xfrm>
          <a:prstGeom prst="rect">
            <a:avLst/>
          </a:prstGeom>
          <a:noFill/>
          <a:ln/>
        </p:spPr>
        <p:txBody>
          <a:bodyPr wrap="square" lIns="0" tIns="0" rIns="0" bIns="0" rtlCol="0" anchor="ctr"/>
          <a:lstStyle/>
          <a:p>
            <a:r>
              <a:rPr lang="en-US" sz="1200" dirty="0">
                <a:solidFill>
                  <a:srgbClr val="C9A227"/>
                </a:solidFill>
                <a:latin typeface="Segoe UI" pitchFamily="34" charset="0"/>
                <a:ea typeface="Segoe UI" pitchFamily="34" charset="-122"/>
                <a:cs typeface="Segoe UI" pitchFamily="34" charset="-120"/>
              </a:rPr>
              <a:t>◣</a:t>
            </a:r>
            <a:endParaRPr lang="en-US" sz="1200" dirty="0"/>
          </a:p>
        </p:txBody>
      </p:sp>
      <p:sp>
        <p:nvSpPr>
          <p:cNvPr id="7" name="Shape 5"/>
          <p:cNvSpPr/>
          <p:nvPr/>
        </p:nvSpPr>
        <p:spPr>
          <a:xfrm>
            <a:off x="384048" y="9747504"/>
            <a:ext cx="91440" cy="91440"/>
          </a:xfrm>
          <a:prstGeom prst="rect">
            <a:avLst/>
          </a:prstGeom>
          <a:solidFill>
            <a:srgbClr val="C9A227"/>
          </a:solidFill>
          <a:ln/>
        </p:spPr>
      </p:sp>
      <p:sp>
        <p:nvSpPr>
          <p:cNvPr id="8" name="Text 6"/>
          <p:cNvSpPr/>
          <p:nvPr/>
        </p:nvSpPr>
        <p:spPr>
          <a:xfrm>
            <a:off x="566928" y="9683496"/>
            <a:ext cx="2194560" cy="265176"/>
          </a:xfrm>
          <a:prstGeom prst="rect">
            <a:avLst/>
          </a:prstGeom>
          <a:noFill/>
          <a:ln/>
        </p:spPr>
        <p:txBody>
          <a:bodyPr wrap="square" lIns="0" tIns="0" rIns="0" bIns="0" rtlCol="0" anchor="ctr"/>
          <a:lstStyle/>
          <a:p>
            <a:r>
              <a:rPr lang="en-US" sz="1500" dirty="0">
                <a:solidFill>
                  <a:srgbClr val="8892B0"/>
                </a:solidFill>
                <a:latin typeface="Segoe UI" pitchFamily="34" charset="0"/>
                <a:ea typeface="Segoe UI" pitchFamily="34" charset="-122"/>
                <a:cs typeface="Segoe UI" pitchFamily="34" charset="-120"/>
              </a:rPr>
              <a:t>ADMIT//PROVE</a:t>
            </a:r>
            <a:endParaRPr lang="en-US" sz="1500" dirty="0"/>
          </a:p>
        </p:txBody>
      </p:sp>
      <p:sp>
        <p:nvSpPr>
          <p:cNvPr id="9" name="Text 7"/>
          <p:cNvSpPr/>
          <p:nvPr/>
        </p:nvSpPr>
        <p:spPr>
          <a:xfrm>
            <a:off x="13350240" y="9683496"/>
            <a:ext cx="4480560" cy="265176"/>
          </a:xfrm>
          <a:prstGeom prst="rect">
            <a:avLst/>
          </a:prstGeom>
          <a:noFill/>
          <a:ln/>
        </p:spPr>
        <p:txBody>
          <a:bodyPr wrap="square" lIns="0" tIns="0" rIns="0" bIns="0" rtlCol="0" anchor="ctr"/>
          <a:lstStyle/>
          <a:p>
            <a:pPr algn="r"/>
            <a:r>
              <a:rPr lang="en-US" sz="1500" spc="150" kern="0" dirty="0">
                <a:solidFill>
                  <a:srgbClr val="8892B0"/>
                </a:solidFill>
                <a:latin typeface="Segoe UI" pitchFamily="34" charset="0"/>
                <a:ea typeface="Segoe UI" pitchFamily="34" charset="-122"/>
                <a:cs typeface="Segoe UI" pitchFamily="34" charset="-120"/>
              </a:rPr>
              <a:t>AIC.2026 · PS #1 · IITGN</a:t>
            </a:r>
            <a:endParaRPr lang="en-US" sz="1500" dirty="0"/>
          </a:p>
        </p:txBody>
      </p:sp>
      <p:sp>
        <p:nvSpPr>
          <p:cNvPr id="11" name="Text 8"/>
          <p:cNvSpPr/>
          <p:nvPr/>
        </p:nvSpPr>
        <p:spPr>
          <a:xfrm>
            <a:off x="950976" y="914400"/>
            <a:ext cx="9144000" cy="265176"/>
          </a:xfrm>
          <a:prstGeom prst="rect">
            <a:avLst/>
          </a:prstGeom>
          <a:noFill/>
          <a:ln/>
        </p:spPr>
        <p:txBody>
          <a:bodyPr wrap="square" lIns="0" tIns="0" rIns="0" bIns="0" rtlCol="0" anchor="ctr"/>
          <a:lstStyle/>
          <a:p>
            <a:pPr algn="l"/>
            <a:r>
              <a:rPr lang="en-US" sz="1500" spc="300" kern="0" dirty="0">
                <a:solidFill>
                  <a:srgbClr val="C9A227"/>
                </a:solidFill>
                <a:latin typeface="Segoe UI" pitchFamily="34" charset="0"/>
                <a:ea typeface="Segoe UI" pitchFamily="34" charset="-122"/>
                <a:cs typeface="Segoe UI" pitchFamily="34" charset="-120"/>
              </a:rPr>
              <a:t>08 · WHY NOT</a:t>
            </a:r>
            <a:endParaRPr lang="en-US" sz="1500" dirty="0"/>
          </a:p>
        </p:txBody>
      </p:sp>
      <p:sp>
        <p:nvSpPr>
          <p:cNvPr id="12" name="Text 9"/>
          <p:cNvSpPr/>
          <p:nvPr/>
        </p:nvSpPr>
        <p:spPr>
          <a:xfrm>
            <a:off x="950976" y="1225296"/>
            <a:ext cx="16367760" cy="566928"/>
          </a:xfrm>
          <a:prstGeom prst="rect">
            <a:avLst/>
          </a:prstGeom>
          <a:noFill/>
          <a:ln/>
        </p:spPr>
        <p:txBody>
          <a:bodyPr wrap="square" lIns="0" tIns="0" rIns="0" bIns="0" rtlCol="0" anchor="t"/>
          <a:lstStyle/>
          <a:p>
            <a:pPr algn="l"/>
            <a:r>
              <a:rPr lang="en-US" sz="2800" b="1" spc="-75" kern="0" dirty="0">
                <a:solidFill>
                  <a:srgbClr val="F5F0EB"/>
                </a:solidFill>
                <a:latin typeface="Segoe UI" pitchFamily="34" charset="0"/>
                <a:ea typeface="Segoe UI" pitchFamily="34" charset="-122"/>
                <a:cs typeface="Segoe UI" pitchFamily="34" charset="-120"/>
              </a:rPr>
              <a:t>THEY INSPECT THE OUTPUT. WE QUERY THE </a:t>
            </a:r>
            <a:pPr algn="l"/>
            <a:r>
              <a:rPr lang="en-US" sz="2800" b="1" spc="-75" kern="0" dirty="0">
                <a:solidFill>
                  <a:srgbClr val="C9A227"/>
                </a:solidFill>
                <a:latin typeface="Segoe UI" pitchFamily="34" charset="0"/>
                <a:ea typeface="Segoe UI" pitchFamily="34" charset="-122"/>
                <a:cs typeface="Segoe UI" pitchFamily="34" charset="-120"/>
              </a:rPr>
              <a:t>EVIDENCE</a:t>
            </a:r>
            <a:pPr algn="l"/>
            <a:r>
              <a:rPr lang="en-US" sz="2800" b="1" spc="-75" kern="0" dirty="0">
                <a:solidFill>
                  <a:srgbClr val="F5F0EB"/>
                </a:solidFill>
                <a:latin typeface="Segoe UI" pitchFamily="34" charset="0"/>
                <a:ea typeface="Segoe UI" pitchFamily="34" charset="-122"/>
                <a:cs typeface="Segoe UI" pitchFamily="34" charset="-120"/>
              </a:rPr>
              <a:t>.</a:t>
            </a:r>
            <a:endParaRPr lang="en-US" sz="2800" dirty="0"/>
          </a:p>
        </p:txBody>
      </p:sp>
      <p:sp>
        <p:nvSpPr>
          <p:cNvPr id="13" name="Shape 10"/>
          <p:cNvSpPr/>
          <p:nvPr/>
        </p:nvSpPr>
        <p:spPr>
          <a:xfrm>
            <a:off x="950976" y="1938528"/>
            <a:ext cx="16386048" cy="9144"/>
          </a:xfrm>
          <a:prstGeom prst="rect">
            <a:avLst/>
          </a:prstGeom>
          <a:solidFill>
            <a:srgbClr val="1E2A3D"/>
          </a:solidFill>
          <a:ln/>
        </p:spPr>
      </p:sp>
      <p:sp>
        <p:nvSpPr>
          <p:cNvPr id="14" name="Text 11"/>
          <p:cNvSpPr/>
          <p:nvPr/>
        </p:nvSpPr>
        <p:spPr>
          <a:xfrm>
            <a:off x="1060704" y="2011680"/>
            <a:ext cx="4937760" cy="292608"/>
          </a:xfrm>
          <a:prstGeom prst="rect">
            <a:avLst/>
          </a:prstGeom>
          <a:noFill/>
          <a:ln/>
        </p:spPr>
        <p:txBody>
          <a:bodyPr wrap="square" lIns="0" tIns="0" rIns="0" bIns="0" rtlCol="0" anchor="ctr"/>
          <a:lstStyle/>
          <a:p>
            <a:r>
              <a:rPr lang="en-US" sz="1200" spc="160" kern="0" dirty="0">
                <a:solidFill>
                  <a:srgbClr val="8892B0"/>
                </a:solidFill>
                <a:latin typeface="Segoe UI" pitchFamily="34" charset="0"/>
                <a:ea typeface="Segoe UI" pitchFamily="34" charset="-122"/>
                <a:cs typeface="Segoe UI" pitchFamily="34" charset="-120"/>
              </a:rPr>
              <a:t>COMMON APPROACH</a:t>
            </a:r>
            <a:endParaRPr lang="en-US" sz="1200" dirty="0"/>
          </a:p>
        </p:txBody>
      </p:sp>
      <p:sp>
        <p:nvSpPr>
          <p:cNvPr id="15" name="Text 12"/>
          <p:cNvSpPr/>
          <p:nvPr/>
        </p:nvSpPr>
        <p:spPr>
          <a:xfrm>
            <a:off x="6400800" y="2011680"/>
            <a:ext cx="10698480" cy="292608"/>
          </a:xfrm>
          <a:prstGeom prst="rect">
            <a:avLst/>
          </a:prstGeom>
          <a:noFill/>
          <a:ln/>
        </p:spPr>
        <p:txBody>
          <a:bodyPr wrap="square" lIns="0" tIns="0" rIns="0" bIns="0" rtlCol="0" anchor="ctr"/>
          <a:lstStyle/>
          <a:p>
            <a:r>
              <a:rPr lang="en-US" sz="1200" spc="160" kern="0" dirty="0">
                <a:solidFill>
                  <a:srgbClr val="8892B0"/>
                </a:solidFill>
                <a:latin typeface="Segoe UI" pitchFamily="34" charset="0"/>
                <a:ea typeface="Segoe UI" pitchFamily="34" charset="-122"/>
                <a:cs typeface="Segoe UI" pitchFamily="34" charset="-120"/>
              </a:rPr>
              <a:t>WHY IT FAILS THIS REFUND</a:t>
            </a:r>
            <a:endParaRPr lang="en-US" sz="1200" dirty="0"/>
          </a:p>
        </p:txBody>
      </p:sp>
      <p:sp>
        <p:nvSpPr>
          <p:cNvPr id="16" name="Shape 13"/>
          <p:cNvSpPr/>
          <p:nvPr/>
        </p:nvSpPr>
        <p:spPr>
          <a:xfrm>
            <a:off x="950976" y="2340864"/>
            <a:ext cx="16386048" cy="9144"/>
          </a:xfrm>
          <a:prstGeom prst="rect">
            <a:avLst/>
          </a:prstGeom>
          <a:solidFill>
            <a:srgbClr val="1E2A3D"/>
          </a:solidFill>
          <a:ln/>
        </p:spPr>
      </p:sp>
      <p:sp>
        <p:nvSpPr>
          <p:cNvPr id="17" name="Text 14"/>
          <p:cNvSpPr/>
          <p:nvPr/>
        </p:nvSpPr>
        <p:spPr>
          <a:xfrm>
            <a:off x="1060704" y="2414016"/>
            <a:ext cx="5074920" cy="347472"/>
          </a:xfrm>
          <a:prstGeom prst="rect">
            <a:avLst/>
          </a:prstGeom>
          <a:noFill/>
          <a:ln/>
        </p:spPr>
        <p:txBody>
          <a:bodyPr wrap="square" lIns="0" tIns="0" rIns="0" bIns="0" rtlCol="0" anchor="ctr"/>
          <a:lstStyle/>
          <a:p>
            <a:r>
              <a:rPr lang="en-US" sz="1500" b="1" dirty="0">
                <a:solidFill>
                  <a:srgbClr val="F5F0EB"/>
                </a:solidFill>
                <a:latin typeface="Segoe UI" pitchFamily="34" charset="0"/>
                <a:ea typeface="Segoe UI" pitchFamily="34" charset="-122"/>
                <a:cs typeface="Segoe UI" pitchFamily="34" charset="-120"/>
              </a:rPr>
              <a:t>STATIC GUARDRAILS</a:t>
            </a:r>
            <a:endParaRPr lang="en-US" sz="1500" dirty="0"/>
          </a:p>
        </p:txBody>
      </p:sp>
      <p:sp>
        <p:nvSpPr>
          <p:cNvPr id="18" name="Text 15"/>
          <p:cNvSpPr/>
          <p:nvPr/>
        </p:nvSpPr>
        <p:spPr>
          <a:xfrm>
            <a:off x="1060704" y="2743200"/>
            <a:ext cx="5074920" cy="292608"/>
          </a:xfrm>
          <a:prstGeom prst="rect">
            <a:avLst/>
          </a:prstGeom>
          <a:noFill/>
          <a:ln/>
        </p:spPr>
        <p:txBody>
          <a:bodyPr wrap="square" lIns="0" tIns="0" rIns="0" bIns="0" rtlCol="0" anchor="ctr"/>
          <a:lstStyle/>
          <a:p>
            <a:r>
              <a:rPr lang="en-US" sz="1300" dirty="0">
                <a:solidFill>
                  <a:srgbClr val="8892B0"/>
                </a:solidFill>
                <a:latin typeface="Segoe UI" pitchFamily="34" charset="0"/>
                <a:ea typeface="Segoe UI" pitchFamily="34" charset="-122"/>
                <a:cs typeface="Segoe UI" pitchFamily="34" charset="-120"/>
              </a:rPr>
              <a:t>LlamaGuard, regex, deny-lists</a:t>
            </a:r>
            <a:endParaRPr lang="en-US" sz="1300" dirty="0"/>
          </a:p>
        </p:txBody>
      </p:sp>
      <p:sp>
        <p:nvSpPr>
          <p:cNvPr id="19" name="Text 16"/>
          <p:cNvSpPr/>
          <p:nvPr/>
        </p:nvSpPr>
        <p:spPr>
          <a:xfrm>
            <a:off x="6400800" y="2414016"/>
            <a:ext cx="10698480" cy="804672"/>
          </a:xfrm>
          <a:prstGeom prst="rect">
            <a:avLst/>
          </a:prstGeom>
          <a:noFill/>
          <a:ln/>
        </p:spPr>
        <p:txBody>
          <a:bodyPr wrap="square" lIns="0" tIns="0" rIns="0" bIns="0" rtlCol="0" anchor="ctr"/>
          <a:lstStyle/>
          <a:p>
            <a:r>
              <a:rPr lang="en-US" sz="1500" dirty="0">
                <a:solidFill>
                  <a:srgbClr val="D0C8B8"/>
                </a:solidFill>
                <a:latin typeface="Segoe UI" pitchFamily="34" charset="0"/>
                <a:ea typeface="Segoe UI" pitchFamily="34" charset="-122"/>
                <a:cs typeface="Segoe UI" pitchFamily="34" charset="-120"/>
              </a:rPr>
              <a:t>A fabricated clause is lexically clean. Identity-blind: the same string is fine for one caller and a breach for another.</a:t>
            </a:r>
            <a:endParaRPr lang="en-US" sz="1500" dirty="0"/>
          </a:p>
        </p:txBody>
      </p:sp>
      <p:sp>
        <p:nvSpPr>
          <p:cNvPr id="20" name="Shape 17"/>
          <p:cNvSpPr/>
          <p:nvPr/>
        </p:nvSpPr>
        <p:spPr>
          <a:xfrm>
            <a:off x="950976" y="3291840"/>
            <a:ext cx="16386048" cy="9144"/>
          </a:xfrm>
          <a:prstGeom prst="rect">
            <a:avLst/>
          </a:prstGeom>
          <a:solidFill>
            <a:srgbClr val="1E2A3D"/>
          </a:solidFill>
          <a:ln/>
        </p:spPr>
      </p:sp>
      <p:sp>
        <p:nvSpPr>
          <p:cNvPr id="21" name="Text 18"/>
          <p:cNvSpPr/>
          <p:nvPr/>
        </p:nvSpPr>
        <p:spPr>
          <a:xfrm>
            <a:off x="1060704" y="3401568"/>
            <a:ext cx="5074920" cy="347472"/>
          </a:xfrm>
          <a:prstGeom prst="rect">
            <a:avLst/>
          </a:prstGeom>
          <a:noFill/>
          <a:ln/>
        </p:spPr>
        <p:txBody>
          <a:bodyPr wrap="square" lIns="0" tIns="0" rIns="0" bIns="0" rtlCol="0" anchor="ctr"/>
          <a:lstStyle/>
          <a:p>
            <a:r>
              <a:rPr lang="en-US" sz="1500" b="1" dirty="0">
                <a:solidFill>
                  <a:srgbClr val="F5F0EB"/>
                </a:solidFill>
                <a:latin typeface="Segoe UI" pitchFamily="34" charset="0"/>
                <a:ea typeface="Segoe UI" pitchFamily="34" charset="-122"/>
                <a:cs typeface="Segoe UI" pitchFamily="34" charset="-120"/>
              </a:rPr>
              <a:t>RAG GROUNDEDNESS</a:t>
            </a:r>
            <a:endParaRPr lang="en-US" sz="1500" dirty="0"/>
          </a:p>
        </p:txBody>
      </p:sp>
      <p:sp>
        <p:nvSpPr>
          <p:cNvPr id="22" name="Text 19"/>
          <p:cNvSpPr/>
          <p:nvPr/>
        </p:nvSpPr>
        <p:spPr>
          <a:xfrm>
            <a:off x="1060704" y="3730752"/>
            <a:ext cx="5074920" cy="292608"/>
          </a:xfrm>
          <a:prstGeom prst="rect">
            <a:avLst/>
          </a:prstGeom>
          <a:noFill/>
          <a:ln/>
        </p:spPr>
        <p:txBody>
          <a:bodyPr wrap="square" lIns="0" tIns="0" rIns="0" bIns="0" rtlCol="0" anchor="ctr"/>
          <a:lstStyle/>
          <a:p>
            <a:r>
              <a:rPr lang="en-US" sz="1300" dirty="0">
                <a:solidFill>
                  <a:srgbClr val="8892B0"/>
                </a:solidFill>
                <a:latin typeface="Segoe UI" pitchFamily="34" charset="0"/>
                <a:ea typeface="Segoe UI" pitchFamily="34" charset="-122"/>
                <a:cs typeface="Segoe UI" pitchFamily="34" charset="-120"/>
              </a:rPr>
              <a:t>retrieval-only checkers</a:t>
            </a:r>
            <a:endParaRPr lang="en-US" sz="1300" dirty="0"/>
          </a:p>
        </p:txBody>
      </p:sp>
      <p:sp>
        <p:nvSpPr>
          <p:cNvPr id="23" name="Text 20"/>
          <p:cNvSpPr/>
          <p:nvPr/>
        </p:nvSpPr>
        <p:spPr>
          <a:xfrm>
            <a:off x="6400800" y="3401568"/>
            <a:ext cx="10698480" cy="804672"/>
          </a:xfrm>
          <a:prstGeom prst="rect">
            <a:avLst/>
          </a:prstGeom>
          <a:noFill/>
          <a:ln/>
        </p:spPr>
        <p:txBody>
          <a:bodyPr wrap="square" lIns="0" tIns="0" rIns="0" bIns="0" rtlCol="0" anchor="ctr"/>
          <a:lstStyle/>
          <a:p>
            <a:r>
              <a:rPr lang="en-US" sz="1500" dirty="0">
                <a:solidFill>
                  <a:srgbClr val="D0C8B8"/>
                </a:solidFill>
                <a:latin typeface="Segoe UI" pitchFamily="34" charset="0"/>
                <a:ea typeface="Segoe UI" pitchFamily="34" charset="-122"/>
                <a:cs typeface="Segoe UI" pitchFamily="34" charset="-120"/>
              </a:rPr>
              <a:t>Sees retrieval, not tool rows or system context. Averages, so one wrong figure drowns. Action-blind: 0.82 means the same on a draft and a wire.</a:t>
            </a:r>
            <a:endParaRPr lang="en-US" sz="1500" dirty="0"/>
          </a:p>
        </p:txBody>
      </p:sp>
      <p:sp>
        <p:nvSpPr>
          <p:cNvPr id="24" name="Shape 21"/>
          <p:cNvSpPr/>
          <p:nvPr/>
        </p:nvSpPr>
        <p:spPr>
          <a:xfrm>
            <a:off x="950976" y="4279392"/>
            <a:ext cx="16386048" cy="9144"/>
          </a:xfrm>
          <a:prstGeom prst="rect">
            <a:avLst/>
          </a:prstGeom>
          <a:solidFill>
            <a:srgbClr val="1E2A3D"/>
          </a:solidFill>
          <a:ln/>
        </p:spPr>
      </p:sp>
      <p:sp>
        <p:nvSpPr>
          <p:cNvPr id="25" name="Text 22"/>
          <p:cNvSpPr/>
          <p:nvPr/>
        </p:nvSpPr>
        <p:spPr>
          <a:xfrm>
            <a:off x="1060704" y="4389120"/>
            <a:ext cx="5074920" cy="347472"/>
          </a:xfrm>
          <a:prstGeom prst="rect">
            <a:avLst/>
          </a:prstGeom>
          <a:noFill/>
          <a:ln/>
        </p:spPr>
        <p:txBody>
          <a:bodyPr wrap="square" lIns="0" tIns="0" rIns="0" bIns="0" rtlCol="0" anchor="ctr"/>
          <a:lstStyle/>
          <a:p>
            <a:r>
              <a:rPr lang="en-US" sz="1500" b="1" dirty="0">
                <a:solidFill>
                  <a:srgbClr val="F5F0EB"/>
                </a:solidFill>
                <a:latin typeface="Segoe UI" pitchFamily="34" charset="0"/>
                <a:ea typeface="Segoe UI" pitchFamily="34" charset="-122"/>
                <a:cs typeface="Segoe UI" pitchFamily="34" charset="-120"/>
              </a:rPr>
              <a:t>CONFIDENCE / LOGPROBS</a:t>
            </a:r>
            <a:endParaRPr lang="en-US" sz="1500" dirty="0"/>
          </a:p>
        </p:txBody>
      </p:sp>
      <p:sp>
        <p:nvSpPr>
          <p:cNvPr id="26" name="Text 23"/>
          <p:cNvSpPr/>
          <p:nvPr/>
        </p:nvSpPr>
        <p:spPr>
          <a:xfrm>
            <a:off x="1060704" y="4718304"/>
            <a:ext cx="5074920" cy="292608"/>
          </a:xfrm>
          <a:prstGeom prst="rect">
            <a:avLst/>
          </a:prstGeom>
          <a:noFill/>
          <a:ln/>
        </p:spPr>
        <p:txBody>
          <a:bodyPr wrap="square" lIns="0" tIns="0" rIns="0" bIns="0" rtlCol="0" anchor="ctr"/>
          <a:lstStyle/>
          <a:p>
            <a:r>
              <a:rPr lang="en-US" sz="1300" dirty="0">
                <a:solidFill>
                  <a:srgbClr val="8892B0"/>
                </a:solidFill>
                <a:latin typeface="Segoe UI" pitchFamily="34" charset="0"/>
                <a:ea typeface="Segoe UI" pitchFamily="34" charset="-122"/>
                <a:cs typeface="Segoe UI" pitchFamily="34" charset="-120"/>
              </a:rPr>
              <a:t>calibration as detector</a:t>
            </a:r>
            <a:endParaRPr lang="en-US" sz="1300" dirty="0"/>
          </a:p>
        </p:txBody>
      </p:sp>
      <p:sp>
        <p:nvSpPr>
          <p:cNvPr id="27" name="Text 24"/>
          <p:cNvSpPr/>
          <p:nvPr/>
        </p:nvSpPr>
        <p:spPr>
          <a:xfrm>
            <a:off x="6400800" y="4389120"/>
            <a:ext cx="10698480" cy="804672"/>
          </a:xfrm>
          <a:prstGeom prst="rect">
            <a:avLst/>
          </a:prstGeom>
          <a:noFill/>
          <a:ln/>
        </p:spPr>
        <p:txBody>
          <a:bodyPr wrap="square" lIns="0" tIns="0" rIns="0" bIns="0" rtlCol="0" anchor="ctr"/>
          <a:lstStyle/>
          <a:p>
            <a:r>
              <a:rPr lang="en-US" sz="1500" dirty="0">
                <a:solidFill>
                  <a:srgbClr val="D0C8B8"/>
                </a:solidFill>
                <a:latin typeface="Segoe UI" pitchFamily="34" charset="0"/>
                <a:ea typeface="Segoe UI" pitchFamily="34" charset="-122"/>
                <a:cs typeface="Segoe UI" pitchFamily="34" charset="-120"/>
              </a:rPr>
              <a:t>The named failure is confidently wrong. You cannot detect a calibration failure with the calibration.</a:t>
            </a:r>
            <a:endParaRPr lang="en-US" sz="1500" dirty="0"/>
          </a:p>
        </p:txBody>
      </p:sp>
      <p:sp>
        <p:nvSpPr>
          <p:cNvPr id="28" name="Shape 25"/>
          <p:cNvSpPr/>
          <p:nvPr/>
        </p:nvSpPr>
        <p:spPr>
          <a:xfrm>
            <a:off x="950976" y="5266944"/>
            <a:ext cx="16386048" cy="9144"/>
          </a:xfrm>
          <a:prstGeom prst="rect">
            <a:avLst/>
          </a:prstGeom>
          <a:solidFill>
            <a:srgbClr val="1E2A3D"/>
          </a:solidFill>
          <a:ln/>
        </p:spPr>
      </p:sp>
      <p:sp>
        <p:nvSpPr>
          <p:cNvPr id="29" name="Text 26"/>
          <p:cNvSpPr/>
          <p:nvPr/>
        </p:nvSpPr>
        <p:spPr>
          <a:xfrm>
            <a:off x="1060704" y="5376672"/>
            <a:ext cx="5074920" cy="347472"/>
          </a:xfrm>
          <a:prstGeom prst="rect">
            <a:avLst/>
          </a:prstGeom>
          <a:noFill/>
          <a:ln/>
        </p:spPr>
        <p:txBody>
          <a:bodyPr wrap="square" lIns="0" tIns="0" rIns="0" bIns="0" rtlCol="0" anchor="ctr"/>
          <a:lstStyle/>
          <a:p>
            <a:r>
              <a:rPr lang="en-US" sz="1500" b="1" dirty="0">
                <a:solidFill>
                  <a:srgbClr val="F5F0EB"/>
                </a:solidFill>
                <a:latin typeface="Segoe UI" pitchFamily="34" charset="0"/>
                <a:ea typeface="Segoe UI" pitchFamily="34" charset="-122"/>
                <a:cs typeface="Segoe UI" pitchFamily="34" charset="-120"/>
              </a:rPr>
              <a:t>LLM-AS-JUDGE</a:t>
            </a:r>
            <a:endParaRPr lang="en-US" sz="1500" dirty="0"/>
          </a:p>
        </p:txBody>
      </p:sp>
      <p:sp>
        <p:nvSpPr>
          <p:cNvPr id="30" name="Text 27"/>
          <p:cNvSpPr/>
          <p:nvPr/>
        </p:nvSpPr>
        <p:spPr>
          <a:xfrm>
            <a:off x="1060704" y="5705856"/>
            <a:ext cx="5074920" cy="292608"/>
          </a:xfrm>
          <a:prstGeom prst="rect">
            <a:avLst/>
          </a:prstGeom>
          <a:noFill/>
          <a:ln/>
        </p:spPr>
        <p:txBody>
          <a:bodyPr wrap="square" lIns="0" tIns="0" rIns="0" bIns="0" rtlCol="0" anchor="ctr"/>
          <a:lstStyle/>
          <a:p>
            <a:r>
              <a:rPr lang="en-US" sz="1300" dirty="0">
                <a:solidFill>
                  <a:srgbClr val="8892B0"/>
                </a:solidFill>
                <a:latin typeface="Segoe UI" pitchFamily="34" charset="0"/>
                <a:ea typeface="Segoe UI" pitchFamily="34" charset="-122"/>
                <a:cs typeface="Segoe UI" pitchFamily="34" charset="-120"/>
              </a:rPr>
              <a:t>NeMo Guardrails and wrappers</a:t>
            </a:r>
            <a:endParaRPr lang="en-US" sz="1300" dirty="0"/>
          </a:p>
        </p:txBody>
      </p:sp>
      <p:sp>
        <p:nvSpPr>
          <p:cNvPr id="31" name="Text 28"/>
          <p:cNvSpPr/>
          <p:nvPr/>
        </p:nvSpPr>
        <p:spPr>
          <a:xfrm>
            <a:off x="6400800" y="5376672"/>
            <a:ext cx="10698480" cy="804672"/>
          </a:xfrm>
          <a:prstGeom prst="rect">
            <a:avLst/>
          </a:prstGeom>
          <a:noFill/>
          <a:ln/>
        </p:spPr>
        <p:txBody>
          <a:bodyPr wrap="square" lIns="0" tIns="0" rIns="0" bIns="0" rtlCol="0" anchor="ctr"/>
          <a:lstStyle/>
          <a:p>
            <a:r>
              <a:rPr lang="en-US" sz="1500" dirty="0">
                <a:solidFill>
                  <a:srgbClr val="D0C8B8"/>
                </a:solidFill>
                <a:latin typeface="Segoe UI" pitchFamily="34" charset="0"/>
                <a:ea typeface="Segoe UI" pitchFamily="34" charset="-122"/>
                <a:cs typeface="Segoe UI" pitchFamily="34" charset="-120"/>
              </a:rPr>
              <a:t>Asks “does this look right?” — unfalsifiable. We ask “which span proves it?”</a:t>
            </a:r>
            <a:endParaRPr lang="en-US" sz="1500" dirty="0"/>
          </a:p>
        </p:txBody>
      </p:sp>
      <p:sp>
        <p:nvSpPr>
          <p:cNvPr id="32" name="Shape 29"/>
          <p:cNvSpPr/>
          <p:nvPr/>
        </p:nvSpPr>
        <p:spPr>
          <a:xfrm>
            <a:off x="950976" y="6254496"/>
            <a:ext cx="16386048" cy="9144"/>
          </a:xfrm>
          <a:prstGeom prst="rect">
            <a:avLst/>
          </a:prstGeom>
          <a:solidFill>
            <a:srgbClr val="1E2A3D"/>
          </a:solidFill>
          <a:ln/>
        </p:spPr>
      </p:sp>
      <p:sp>
        <p:nvSpPr>
          <p:cNvPr id="33" name="Text 30"/>
          <p:cNvSpPr/>
          <p:nvPr/>
        </p:nvSpPr>
        <p:spPr>
          <a:xfrm>
            <a:off x="1060704" y="6364224"/>
            <a:ext cx="5074920" cy="347472"/>
          </a:xfrm>
          <a:prstGeom prst="rect">
            <a:avLst/>
          </a:prstGeom>
          <a:noFill/>
          <a:ln/>
        </p:spPr>
        <p:txBody>
          <a:bodyPr wrap="square" lIns="0" tIns="0" rIns="0" bIns="0" rtlCol="0" anchor="ctr"/>
          <a:lstStyle/>
          <a:p>
            <a:r>
              <a:rPr lang="en-US" sz="1500" b="1" dirty="0">
                <a:solidFill>
                  <a:srgbClr val="F5F0EB"/>
                </a:solidFill>
                <a:latin typeface="Segoe UI" pitchFamily="34" charset="0"/>
                <a:ea typeface="Segoe UI" pitchFamily="34" charset="-122"/>
                <a:cs typeface="Segoe UI" pitchFamily="34" charset="-120"/>
              </a:rPr>
              <a:t>COMPOSITE SCORE</a:t>
            </a:r>
            <a:endParaRPr lang="en-US" sz="1500" dirty="0"/>
          </a:p>
        </p:txBody>
      </p:sp>
      <p:sp>
        <p:nvSpPr>
          <p:cNvPr id="34" name="Text 31"/>
          <p:cNvSpPr/>
          <p:nvPr/>
        </p:nvSpPr>
        <p:spPr>
          <a:xfrm>
            <a:off x="1060704" y="6693408"/>
            <a:ext cx="5074920" cy="292608"/>
          </a:xfrm>
          <a:prstGeom prst="rect">
            <a:avLst/>
          </a:prstGeom>
          <a:noFill/>
          <a:ln/>
        </p:spPr>
        <p:txBody>
          <a:bodyPr wrap="square" lIns="0" tIns="0" rIns="0" bIns="0" rtlCol="0" anchor="ctr"/>
          <a:lstStyle/>
          <a:p>
            <a:r>
              <a:rPr lang="en-US" sz="1300" dirty="0">
                <a:solidFill>
                  <a:srgbClr val="8892B0"/>
                </a:solidFill>
                <a:latin typeface="Segoe UI" pitchFamily="34" charset="0"/>
                <a:ea typeface="Segoe UI" pitchFamily="34" charset="-122"/>
                <a:cs typeface="Segoe UI" pitchFamily="34" charset="-120"/>
              </a:rPr>
              <a:t>Azure / Bedrock “trust”</a:t>
            </a:r>
            <a:endParaRPr lang="en-US" sz="1300" dirty="0"/>
          </a:p>
        </p:txBody>
      </p:sp>
      <p:sp>
        <p:nvSpPr>
          <p:cNvPr id="35" name="Text 32"/>
          <p:cNvSpPr/>
          <p:nvPr/>
        </p:nvSpPr>
        <p:spPr>
          <a:xfrm>
            <a:off x="6400800" y="6364224"/>
            <a:ext cx="10698480" cy="804672"/>
          </a:xfrm>
          <a:prstGeom prst="rect">
            <a:avLst/>
          </a:prstGeom>
          <a:noFill/>
          <a:ln/>
        </p:spPr>
        <p:txBody>
          <a:bodyPr wrap="square" lIns="0" tIns="0" rIns="0" bIns="0" rtlCol="0" anchor="ctr"/>
          <a:lstStyle/>
          <a:p>
            <a:r>
              <a:rPr lang="en-US" sz="1500" dirty="0">
                <a:solidFill>
                  <a:srgbClr val="D0C8B8"/>
                </a:solidFill>
                <a:latin typeface="Segoe UI" pitchFamily="34" charset="0"/>
                <a:ea typeface="Segoe UI" pitchFamily="34" charset="-122"/>
                <a:cs typeface="Segoe UI" pitchFamily="34" charset="-120"/>
              </a:rPr>
              <a:t>“Trust: 87/100.” You cannot block, edit or escalate on 87.</a:t>
            </a:r>
            <a:endParaRPr lang="en-US" sz="1500" dirty="0"/>
          </a:p>
        </p:txBody>
      </p:sp>
      <p:sp>
        <p:nvSpPr>
          <p:cNvPr id="36" name="Shape 33"/>
          <p:cNvSpPr/>
          <p:nvPr/>
        </p:nvSpPr>
        <p:spPr>
          <a:xfrm>
            <a:off x="950976" y="7242048"/>
            <a:ext cx="16386048" cy="9144"/>
          </a:xfrm>
          <a:prstGeom prst="rect">
            <a:avLst/>
          </a:prstGeom>
          <a:solidFill>
            <a:srgbClr val="1E2A3D"/>
          </a:solidFill>
          <a:ln/>
        </p:spPr>
      </p:sp>
      <p:sp>
        <p:nvSpPr>
          <p:cNvPr id="37" name="Shape 34"/>
          <p:cNvSpPr/>
          <p:nvPr/>
        </p:nvSpPr>
        <p:spPr>
          <a:xfrm>
            <a:off x="950976" y="7571232"/>
            <a:ext cx="16386048" cy="841248"/>
          </a:xfrm>
          <a:prstGeom prst="rect">
            <a:avLst/>
          </a:prstGeom>
          <a:solidFill>
            <a:srgbClr val="C9A227">
              <a:alpha val="15000"/>
            </a:srgbClr>
          </a:solidFill>
          <a:ln/>
        </p:spPr>
      </p:sp>
      <p:sp>
        <p:nvSpPr>
          <p:cNvPr id="38" name="Text 35"/>
          <p:cNvSpPr/>
          <p:nvPr/>
        </p:nvSpPr>
        <p:spPr>
          <a:xfrm>
            <a:off x="1060704" y="7699248"/>
            <a:ext cx="5074920" cy="585216"/>
          </a:xfrm>
          <a:prstGeom prst="rect">
            <a:avLst/>
          </a:prstGeom>
          <a:noFill/>
          <a:ln/>
        </p:spPr>
        <p:txBody>
          <a:bodyPr wrap="square" lIns="0" tIns="0" rIns="0" bIns="0" rtlCol="0" anchor="ctr"/>
          <a:lstStyle/>
          <a:p>
            <a:r>
              <a:rPr lang="en-US" sz="1800" b="1" dirty="0">
                <a:solidFill>
                  <a:srgbClr val="C9A227"/>
                </a:solidFill>
                <a:latin typeface="Segoe UI" pitchFamily="34" charset="0"/>
                <a:ea typeface="Segoe UI" pitchFamily="34" charset="-122"/>
                <a:cs typeface="Segoe UI" pitchFamily="34" charset="-120"/>
              </a:rPr>
              <a:t>CONTROLPLANE</a:t>
            </a:r>
            <a:endParaRPr lang="en-US" sz="1800" dirty="0"/>
          </a:p>
        </p:txBody>
      </p:sp>
      <p:sp>
        <p:nvSpPr>
          <p:cNvPr id="39" name="Text 36"/>
          <p:cNvSpPr/>
          <p:nvPr/>
        </p:nvSpPr>
        <p:spPr>
          <a:xfrm>
            <a:off x="6400800" y="7699248"/>
            <a:ext cx="10698480" cy="585216"/>
          </a:xfrm>
          <a:prstGeom prst="rect">
            <a:avLst/>
          </a:prstGeom>
          <a:noFill/>
          <a:ln/>
        </p:spPr>
        <p:txBody>
          <a:bodyPr wrap="square" lIns="0" tIns="0" rIns="0" bIns="0" rtlCol="0" anchor="ctr"/>
          <a:lstStyle/>
          <a:p>
            <a:r>
              <a:rPr lang="en-US" sz="1500" dirty="0">
                <a:solidFill>
                  <a:srgbClr val="F5F0EB"/>
                </a:solidFill>
                <a:latin typeface="Segoe UI" pitchFamily="34" charset="0"/>
                <a:ea typeface="Segoe UI" pitchFamily="34" charset="-122"/>
                <a:cs typeface="Segoe UI" pitchFamily="34" charset="-120"/>
              </a:rPr>
              <a:t>Query the evidence.  Set-membership.  Block · Edit · Escalate · Pass on the same graph.  We publish our own miss rate.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12182A">
              <a:alpha val="30000"/>
            </a:srgbClr>
          </a:solidFill>
          <a:ln/>
        </p:spPr>
      </p:sp>
      <p:sp>
        <p:nvSpPr>
          <p:cNvPr id="3" name="Text 1"/>
          <p:cNvSpPr/>
          <p:nvPr/>
        </p:nvSpPr>
        <p:spPr>
          <a:xfrm>
            <a:off x="384048" y="402336"/>
            <a:ext cx="210312" cy="228600"/>
          </a:xfrm>
          <a:prstGeom prst="rect">
            <a:avLst/>
          </a:prstGeom>
          <a:noFill/>
          <a:ln/>
        </p:spPr>
        <p:txBody>
          <a:bodyPr wrap="square" lIns="0" tIns="0" rIns="0" bIns="0" rtlCol="0" anchor="ctr"/>
          <a:lstStyle/>
          <a:p>
            <a:r>
              <a:rPr lang="en-US" sz="1200" dirty="0">
                <a:solidFill>
                  <a:srgbClr val="C9A227"/>
                </a:solidFill>
                <a:latin typeface="Segoe UI" pitchFamily="34" charset="0"/>
                <a:ea typeface="Segoe UI" pitchFamily="34" charset="-122"/>
                <a:cs typeface="Segoe UI" pitchFamily="34" charset="-120"/>
              </a:rPr>
              <a:t>◢</a:t>
            </a:r>
            <a:endParaRPr lang="en-US" sz="1200" dirty="0"/>
          </a:p>
        </p:txBody>
      </p:sp>
      <p:sp>
        <p:nvSpPr>
          <p:cNvPr id="4" name="Text 2"/>
          <p:cNvSpPr/>
          <p:nvPr/>
        </p:nvSpPr>
        <p:spPr>
          <a:xfrm>
            <a:off x="621792" y="384048"/>
            <a:ext cx="3840480" cy="265176"/>
          </a:xfrm>
          <a:prstGeom prst="rect">
            <a:avLst/>
          </a:prstGeom>
          <a:noFill/>
          <a:ln/>
        </p:spPr>
        <p:txBody>
          <a:bodyPr wrap="square" lIns="0" tIns="0" rIns="0" bIns="0" rtlCol="0" anchor="ctr"/>
          <a:lstStyle/>
          <a:p>
            <a:r>
              <a:rPr lang="en-US" sz="1500" spc="150" kern="0" dirty="0">
                <a:solidFill>
                  <a:srgbClr val="F5F0EB"/>
                </a:solidFill>
                <a:latin typeface="Segoe UI" pitchFamily="34" charset="0"/>
                <a:ea typeface="Segoe UI" pitchFamily="34" charset="-122"/>
                <a:cs typeface="Segoe UI" pitchFamily="34" charset="-120"/>
              </a:rPr>
              <a:t>CONTROLPLANE//SYS</a:t>
            </a:r>
            <a:endParaRPr lang="en-US" sz="1500" dirty="0"/>
          </a:p>
        </p:txBody>
      </p:sp>
      <p:sp>
        <p:nvSpPr>
          <p:cNvPr id="5" name="Text 3"/>
          <p:cNvSpPr/>
          <p:nvPr/>
        </p:nvSpPr>
        <p:spPr>
          <a:xfrm>
            <a:off x="11521440" y="384048"/>
            <a:ext cx="6217920" cy="265176"/>
          </a:xfrm>
          <a:prstGeom prst="rect">
            <a:avLst/>
          </a:prstGeom>
          <a:noFill/>
          <a:ln/>
        </p:spPr>
        <p:txBody>
          <a:bodyPr wrap="square" lIns="0" tIns="0" rIns="0" bIns="0" rtlCol="0" anchor="ctr"/>
          <a:lstStyle/>
          <a:p>
            <a:pPr algn="r"/>
            <a:r>
              <a:rPr lang="en-US" sz="1500" spc="150" kern="0" dirty="0">
                <a:solidFill>
                  <a:srgbClr val="8892B0"/>
                </a:solidFill>
                <a:latin typeface="Segoe UI" pitchFamily="34" charset="0"/>
                <a:ea typeface="Segoe UI" pitchFamily="34" charset="-122"/>
                <a:cs typeface="Segoe UI" pitchFamily="34" charset="-120"/>
              </a:rPr>
              <a:t>09 // MATRIX</a:t>
            </a:r>
            <a:endParaRPr lang="en-US" sz="1500" dirty="0"/>
          </a:p>
        </p:txBody>
      </p:sp>
      <p:sp>
        <p:nvSpPr>
          <p:cNvPr id="6" name="Text 4"/>
          <p:cNvSpPr/>
          <p:nvPr/>
        </p:nvSpPr>
        <p:spPr>
          <a:xfrm>
            <a:off x="17775936" y="402336"/>
            <a:ext cx="210312" cy="228600"/>
          </a:xfrm>
          <a:prstGeom prst="rect">
            <a:avLst/>
          </a:prstGeom>
          <a:noFill/>
          <a:ln/>
        </p:spPr>
        <p:txBody>
          <a:bodyPr wrap="square" lIns="0" tIns="0" rIns="0" bIns="0" rtlCol="0" anchor="ctr"/>
          <a:lstStyle/>
          <a:p>
            <a:r>
              <a:rPr lang="en-US" sz="1200" dirty="0">
                <a:solidFill>
                  <a:srgbClr val="C9A227"/>
                </a:solidFill>
                <a:latin typeface="Segoe UI" pitchFamily="34" charset="0"/>
                <a:ea typeface="Segoe UI" pitchFamily="34" charset="-122"/>
                <a:cs typeface="Segoe UI" pitchFamily="34" charset="-120"/>
              </a:rPr>
              <a:t>◣</a:t>
            </a:r>
            <a:endParaRPr lang="en-US" sz="1200" dirty="0"/>
          </a:p>
        </p:txBody>
      </p:sp>
      <p:sp>
        <p:nvSpPr>
          <p:cNvPr id="7" name="Shape 5"/>
          <p:cNvSpPr/>
          <p:nvPr/>
        </p:nvSpPr>
        <p:spPr>
          <a:xfrm>
            <a:off x="384048" y="9747504"/>
            <a:ext cx="91440" cy="91440"/>
          </a:xfrm>
          <a:prstGeom prst="rect">
            <a:avLst/>
          </a:prstGeom>
          <a:solidFill>
            <a:srgbClr val="C9A227"/>
          </a:solidFill>
          <a:ln/>
        </p:spPr>
      </p:sp>
      <p:sp>
        <p:nvSpPr>
          <p:cNvPr id="8" name="Text 6"/>
          <p:cNvSpPr/>
          <p:nvPr/>
        </p:nvSpPr>
        <p:spPr>
          <a:xfrm>
            <a:off x="566928" y="9683496"/>
            <a:ext cx="2194560" cy="265176"/>
          </a:xfrm>
          <a:prstGeom prst="rect">
            <a:avLst/>
          </a:prstGeom>
          <a:noFill/>
          <a:ln/>
        </p:spPr>
        <p:txBody>
          <a:bodyPr wrap="square" lIns="0" tIns="0" rIns="0" bIns="0" rtlCol="0" anchor="ctr"/>
          <a:lstStyle/>
          <a:p>
            <a:r>
              <a:rPr lang="en-US" sz="1500" dirty="0">
                <a:solidFill>
                  <a:srgbClr val="8892B0"/>
                </a:solidFill>
                <a:latin typeface="Segoe UI" pitchFamily="34" charset="0"/>
                <a:ea typeface="Segoe UI" pitchFamily="34" charset="-122"/>
                <a:cs typeface="Segoe UI" pitchFamily="34" charset="-120"/>
              </a:rPr>
              <a:t>ADMIT//PROVE</a:t>
            </a:r>
            <a:endParaRPr lang="en-US" sz="1500" dirty="0"/>
          </a:p>
        </p:txBody>
      </p:sp>
      <p:sp>
        <p:nvSpPr>
          <p:cNvPr id="9" name="Text 7"/>
          <p:cNvSpPr/>
          <p:nvPr/>
        </p:nvSpPr>
        <p:spPr>
          <a:xfrm>
            <a:off x="13350240" y="9683496"/>
            <a:ext cx="4480560" cy="265176"/>
          </a:xfrm>
          <a:prstGeom prst="rect">
            <a:avLst/>
          </a:prstGeom>
          <a:noFill/>
          <a:ln/>
        </p:spPr>
        <p:txBody>
          <a:bodyPr wrap="square" lIns="0" tIns="0" rIns="0" bIns="0" rtlCol="0" anchor="ctr"/>
          <a:lstStyle/>
          <a:p>
            <a:pPr algn="r"/>
            <a:r>
              <a:rPr lang="en-US" sz="1500" spc="150" kern="0" dirty="0">
                <a:solidFill>
                  <a:srgbClr val="8892B0"/>
                </a:solidFill>
                <a:latin typeface="Segoe UI" pitchFamily="34" charset="0"/>
                <a:ea typeface="Segoe UI" pitchFamily="34" charset="-122"/>
                <a:cs typeface="Segoe UI" pitchFamily="34" charset="-120"/>
              </a:rPr>
              <a:t>AIC.2026 · PS #1 · IITGN</a:t>
            </a:r>
            <a:endParaRPr lang="en-US" sz="1500" dirty="0"/>
          </a:p>
        </p:txBody>
      </p:sp>
      <p:sp>
        <p:nvSpPr>
          <p:cNvPr id="11" name="Text 8"/>
          <p:cNvSpPr/>
          <p:nvPr/>
        </p:nvSpPr>
        <p:spPr>
          <a:xfrm>
            <a:off x="950976" y="914400"/>
            <a:ext cx="10972800" cy="265176"/>
          </a:xfrm>
          <a:prstGeom prst="rect">
            <a:avLst/>
          </a:prstGeom>
          <a:noFill/>
          <a:ln/>
        </p:spPr>
        <p:txBody>
          <a:bodyPr wrap="square" lIns="0" tIns="0" rIns="0" bIns="0" rtlCol="0" anchor="ctr"/>
          <a:lstStyle/>
          <a:p>
            <a:pPr algn="l"/>
            <a:r>
              <a:rPr lang="en-US" sz="1500" spc="300" kern="0" dirty="0">
                <a:solidFill>
                  <a:srgbClr val="C9A227"/>
                </a:solidFill>
                <a:latin typeface="Segoe UI" pitchFamily="34" charset="0"/>
                <a:ea typeface="Segoe UI" pitchFamily="34" charset="-122"/>
                <a:cs typeface="Segoe UI" pitchFamily="34" charset="-120"/>
              </a:rPr>
              <a:t>09 · MULTI-USE-CASE</a:t>
            </a:r>
            <a:endParaRPr lang="en-US" sz="1500" dirty="0"/>
          </a:p>
        </p:txBody>
      </p:sp>
      <p:sp>
        <p:nvSpPr>
          <p:cNvPr id="12" name="Text 9"/>
          <p:cNvSpPr/>
          <p:nvPr/>
        </p:nvSpPr>
        <p:spPr>
          <a:xfrm>
            <a:off x="950976" y="1207008"/>
            <a:ext cx="16367760" cy="475488"/>
          </a:xfrm>
          <a:prstGeom prst="rect">
            <a:avLst/>
          </a:prstGeom>
          <a:noFill/>
          <a:ln/>
        </p:spPr>
        <p:txBody>
          <a:bodyPr wrap="square" lIns="0" tIns="0" rIns="0" bIns="0" rtlCol="0" anchor="t"/>
          <a:lstStyle/>
          <a:p>
            <a:pPr algn="l"/>
            <a:r>
              <a:rPr lang="en-US" sz="2800" b="1" spc="-75" kern="0" dirty="0">
                <a:solidFill>
                  <a:srgbClr val="F5F0EB"/>
                </a:solidFill>
                <a:latin typeface="Segoe UI" pitchFamily="34" charset="0"/>
                <a:ea typeface="Segoe UI" pitchFamily="34" charset="-122"/>
                <a:cs typeface="Segoe UI" pitchFamily="34" charset="-120"/>
              </a:rPr>
              <a:t>TRANSCRIBED. NEVER </a:t>
            </a:r>
            <a:pPr algn="l"/>
            <a:r>
              <a:rPr lang="en-US" sz="2800" b="1" spc="-75" kern="0" dirty="0">
                <a:solidFill>
                  <a:srgbClr val="C9A227"/>
                </a:solidFill>
                <a:latin typeface="Segoe UI" pitchFamily="34" charset="0"/>
                <a:ea typeface="Segoe UI" pitchFamily="34" charset="-122"/>
                <a:cs typeface="Segoe UI" pitchFamily="34" charset="-120"/>
              </a:rPr>
              <a:t>REDRAWN</a:t>
            </a:r>
            <a:pPr algn="l"/>
            <a:r>
              <a:rPr lang="en-US" sz="2800" b="1" spc="-75" kern="0" dirty="0">
                <a:solidFill>
                  <a:srgbClr val="F5F0EB"/>
                </a:solidFill>
                <a:latin typeface="Segoe UI" pitchFamily="34" charset="0"/>
                <a:ea typeface="Segoe UI" pitchFamily="34" charset="-122"/>
                <a:cs typeface="Segoe UI" pitchFamily="34" charset="-120"/>
              </a:rPr>
              <a:t>.</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950976" y="1792224"/>
          <a:ext cx="16386048" cy="3703320"/>
        </p:xfrm>
        <a:graphic>
          <a:graphicData uri="http://schemas.openxmlformats.org/drawingml/2006/table">
            <a:tbl>
              <a:tblPr/>
              <a:tblGrid>
                <a:gridCol w="1417320"/>
                <a:gridCol w="3840480"/>
                <a:gridCol w="3840480"/>
                <a:gridCol w="3840480"/>
                <a:gridCol w="3447288"/>
              </a:tblGrid>
              <a:tr h="640080">
                <a:tc>
                  <a:txBody>
                    <a:bodyPr/>
                    <a:lstStyle/>
                    <a:p>
                      <a:pPr algn="ctr"/>
                      <a:endParaRPr lang="en-US" sz="1100" dirty="0">
                        <a:latin typeface="Segoe UI" charset="0"/>
                        <a:ea typeface="Segoe UI" charset="0"/>
                        <a:cs typeface="Segoe UI" charset="0"/>
                      </a:endParaRPr>
                    </a:p>
                  </a:txBody>
                  <a:tcPr marL="63500" marR="63500" marT="76200" marB="76200" anchor="ctr">
                    <a:lnL w="7620" cap="flat" cmpd="sng" algn="ctr">
                      <a:solidFill>
                        <a:srgbClr val="1E2A3D"/>
                      </a:solidFill>
                      <a:prstDash val="solid"/>
                      <a:round/>
                      <a:headEnd type="none" w="med" len="med"/>
                      <a:tailEnd type="none" w="med" len="med"/>
                    </a:lnL>
                    <a:lnR w="7620" cap="flat" cmpd="sng" algn="ctr">
                      <a:solidFill>
                        <a:srgbClr val="1E2A3D"/>
                      </a:solidFill>
                      <a:prstDash val="solid"/>
                      <a:round/>
                      <a:headEnd type="none" w="med" len="med"/>
                      <a:tailEnd type="none" w="med" len="med"/>
                    </a:lnR>
                    <a:lnT w="7620" cap="flat" cmpd="sng" algn="ctr">
                      <a:solidFill>
                        <a:srgbClr val="1E2A3D"/>
                      </a:solidFill>
                      <a:prstDash val="solid"/>
                      <a:round/>
                      <a:headEnd type="none" w="med" len="med"/>
                      <a:tailEnd type="none" w="med" len="med"/>
                    </a:lnT>
                    <a:lnB w="7620" cap="flat" cmpd="sng" algn="ctr">
                      <a:solidFill>
                        <a:srgbClr val="1E2A3D"/>
                      </a:solidFill>
                      <a:prstDash val="solid"/>
                      <a:round/>
                      <a:headEnd type="none" w="med" len="med"/>
                      <a:tailEnd type="none" w="med" len="med"/>
                    </a:lnB>
                    <a:solidFill>
                      <a:srgbClr val="162032"/>
                    </a:solidFill>
                  </a:tcPr>
                </a:tc>
                <a:tc>
                  <a:txBody>
                    <a:bodyPr/>
                    <a:lstStyle/>
                    <a:p>
                      <a:pPr algn="ctr"/>
                      <a:r>
                        <a:rPr lang="en-US" sz="1100" b="1" dirty="0">
                          <a:solidFill>
                            <a:srgbClr val="8892B0"/>
                          </a:solidFill>
                          <a:latin typeface="Segoe UI" pitchFamily="34" charset="0"/>
                          <a:ea typeface="Segoe UI" pitchFamily="34" charset="-122"/>
                          <a:cs typeface="Segoe UI" pitchFamily="34" charset="-120"/>
                        </a:rPr>
                        <a:t>Contradicted /</a:t>
                      </a:r>
                      <a:endParaRPr lang="en-US" sz="1100" dirty="0">
                        <a:latin typeface="Segoe UI" charset="0"/>
                        <a:ea typeface="Segoe UI" charset="0"/>
                        <a:cs typeface="Segoe UI" charset="0"/>
                      </a:endParaRPr>
                    </a:p>
                    <a:p>
                      <a:pPr algn="ctr"/>
                      <a:r>
                        <a:rPr lang="en-US" sz="1100" b="1" dirty="0">
                          <a:solidFill>
                            <a:srgbClr val="8892B0"/>
                          </a:solidFill>
                          <a:latin typeface="Segoe UI" pitchFamily="34" charset="0"/>
                          <a:ea typeface="Segoe UI" pitchFamily="34" charset="-122"/>
                          <a:cs typeface="Segoe UI" pitchFamily="34" charset="-120"/>
                        </a:rPr>
                        <a:t>entitlement violation</a:t>
                      </a:r>
                      <a:endParaRPr lang="en-US" sz="1100" dirty="0">
                        <a:latin typeface="Segoe UI" charset="0"/>
                        <a:ea typeface="Segoe UI" charset="0"/>
                        <a:cs typeface="Segoe UI" charset="0"/>
                      </a:endParaRPr>
                    </a:p>
                  </a:txBody>
                  <a:tcPr marL="63500" marR="63500" marT="76200" marB="76200" anchor="ctr">
                    <a:lnL w="7620" cap="flat" cmpd="sng" algn="ctr">
                      <a:solidFill>
                        <a:srgbClr val="1E2A3D"/>
                      </a:solidFill>
                      <a:prstDash val="solid"/>
                      <a:round/>
                      <a:headEnd type="none" w="med" len="med"/>
                      <a:tailEnd type="none" w="med" len="med"/>
                    </a:lnL>
                    <a:lnR w="7620" cap="flat" cmpd="sng" algn="ctr">
                      <a:solidFill>
                        <a:srgbClr val="1E2A3D"/>
                      </a:solidFill>
                      <a:prstDash val="solid"/>
                      <a:round/>
                      <a:headEnd type="none" w="med" len="med"/>
                      <a:tailEnd type="none" w="med" len="med"/>
                    </a:lnR>
                    <a:lnT w="7620" cap="flat" cmpd="sng" algn="ctr">
                      <a:solidFill>
                        <a:srgbClr val="1E2A3D"/>
                      </a:solidFill>
                      <a:prstDash val="solid"/>
                      <a:round/>
                      <a:headEnd type="none" w="med" len="med"/>
                      <a:tailEnd type="none" w="med" len="med"/>
                    </a:lnT>
                    <a:lnB w="7620" cap="flat" cmpd="sng" algn="ctr">
                      <a:solidFill>
                        <a:srgbClr val="1E2A3D"/>
                      </a:solidFill>
                      <a:prstDash val="solid"/>
                      <a:round/>
                      <a:headEnd type="none" w="med" len="med"/>
                      <a:tailEnd type="none" w="med" len="med"/>
                    </a:lnB>
                    <a:solidFill>
                      <a:srgbClr val="162032"/>
                    </a:solidFill>
                  </a:tcPr>
                </a:tc>
                <a:tc>
                  <a:txBody>
                    <a:bodyPr/>
                    <a:lstStyle/>
                    <a:p>
                      <a:pPr algn="ctr"/>
                      <a:r>
                        <a:rPr lang="en-US" sz="1100" b="1" dirty="0">
                          <a:solidFill>
                            <a:srgbClr val="8892B0"/>
                          </a:solidFill>
                          <a:latin typeface="Segoe UI" pitchFamily="34" charset="0"/>
                          <a:ea typeface="Segoe UI" pitchFamily="34" charset="-122"/>
                          <a:cs typeface="Segoe UI" pitchFamily="34" charset="-120"/>
                        </a:rPr>
                        <a:t>Unsupported +</a:t>
                      </a:r>
                      <a:endParaRPr lang="en-US" sz="1100" dirty="0">
                        <a:latin typeface="Segoe UI" charset="0"/>
                        <a:ea typeface="Segoe UI" charset="0"/>
                        <a:cs typeface="Segoe UI" charset="0"/>
                      </a:endParaRPr>
                    </a:p>
                    <a:p>
                      <a:pPr algn="ctr"/>
                      <a:r>
                        <a:rPr lang="en-US" sz="1100" b="1" dirty="0">
                          <a:solidFill>
                            <a:srgbClr val="8892B0"/>
                          </a:solidFill>
                          <a:latin typeface="Segoe UI" pitchFamily="34" charset="0"/>
                          <a:ea typeface="Segoe UI" pitchFamily="34" charset="-122"/>
                          <a:cs typeface="Segoe UI" pitchFamily="34" charset="-120"/>
                        </a:rPr>
                        <a:t>categorical</a:t>
                      </a:r>
                      <a:endParaRPr lang="en-US" sz="1100" dirty="0">
                        <a:latin typeface="Segoe UI" charset="0"/>
                        <a:ea typeface="Segoe UI" charset="0"/>
                        <a:cs typeface="Segoe UI" charset="0"/>
                      </a:endParaRPr>
                    </a:p>
                  </a:txBody>
                  <a:tcPr marL="63500" marR="63500" marT="76200" marB="76200" anchor="ctr">
                    <a:lnL w="7620" cap="flat" cmpd="sng" algn="ctr">
                      <a:solidFill>
                        <a:srgbClr val="1E2A3D"/>
                      </a:solidFill>
                      <a:prstDash val="solid"/>
                      <a:round/>
                      <a:headEnd type="none" w="med" len="med"/>
                      <a:tailEnd type="none" w="med" len="med"/>
                    </a:lnL>
                    <a:lnR w="7620" cap="flat" cmpd="sng" algn="ctr">
                      <a:solidFill>
                        <a:srgbClr val="1E2A3D"/>
                      </a:solidFill>
                      <a:prstDash val="solid"/>
                      <a:round/>
                      <a:headEnd type="none" w="med" len="med"/>
                      <a:tailEnd type="none" w="med" len="med"/>
                    </a:lnR>
                    <a:lnT w="7620" cap="flat" cmpd="sng" algn="ctr">
                      <a:solidFill>
                        <a:srgbClr val="1E2A3D"/>
                      </a:solidFill>
                      <a:prstDash val="solid"/>
                      <a:round/>
                      <a:headEnd type="none" w="med" len="med"/>
                      <a:tailEnd type="none" w="med" len="med"/>
                    </a:lnT>
                    <a:lnB w="7620" cap="flat" cmpd="sng" algn="ctr">
                      <a:solidFill>
                        <a:srgbClr val="1E2A3D"/>
                      </a:solidFill>
                      <a:prstDash val="solid"/>
                      <a:round/>
                      <a:headEnd type="none" w="med" len="med"/>
                      <a:tailEnd type="none" w="med" len="med"/>
                    </a:lnB>
                    <a:solidFill>
                      <a:srgbClr val="162032"/>
                    </a:solidFill>
                  </a:tcPr>
                </a:tc>
                <a:tc>
                  <a:txBody>
                    <a:bodyPr/>
                    <a:lstStyle/>
                    <a:p>
                      <a:pPr algn="ctr"/>
                      <a:r>
                        <a:rPr lang="en-US" sz="1100" b="1" dirty="0">
                          <a:solidFill>
                            <a:srgbClr val="8892B0"/>
                          </a:solidFill>
                          <a:latin typeface="Segoe UI" pitchFamily="34" charset="0"/>
                          <a:ea typeface="Segoe UI" pitchFamily="34" charset="-122"/>
                          <a:cs typeface="Segoe UI" pitchFamily="34" charset="-120"/>
                        </a:rPr>
                        <a:t>Unsupported +</a:t>
                      </a:r>
                      <a:endParaRPr lang="en-US" sz="1100" dirty="0">
                        <a:latin typeface="Segoe UI" charset="0"/>
                        <a:ea typeface="Segoe UI" charset="0"/>
                        <a:cs typeface="Segoe UI" charset="0"/>
                      </a:endParaRPr>
                    </a:p>
                    <a:p>
                      <a:pPr algn="ctr"/>
                      <a:r>
                        <a:rPr lang="en-US" sz="1100" b="1" dirty="0">
                          <a:solidFill>
                            <a:srgbClr val="8892B0"/>
                          </a:solidFill>
                          <a:latin typeface="Segoe UI" pitchFamily="34" charset="0"/>
                          <a:ea typeface="Segoe UI" pitchFamily="34" charset="-122"/>
                          <a:cs typeface="Segoe UI" pitchFamily="34" charset="-120"/>
                        </a:rPr>
                        <a:t>hedged</a:t>
                      </a:r>
                      <a:endParaRPr lang="en-US" sz="1100" dirty="0">
                        <a:latin typeface="Segoe UI" charset="0"/>
                        <a:ea typeface="Segoe UI" charset="0"/>
                        <a:cs typeface="Segoe UI" charset="0"/>
                      </a:endParaRPr>
                    </a:p>
                  </a:txBody>
                  <a:tcPr marL="63500" marR="63500" marT="76200" marB="76200" anchor="ctr">
                    <a:lnL w="7620" cap="flat" cmpd="sng" algn="ctr">
                      <a:solidFill>
                        <a:srgbClr val="1E2A3D"/>
                      </a:solidFill>
                      <a:prstDash val="solid"/>
                      <a:round/>
                      <a:headEnd type="none" w="med" len="med"/>
                      <a:tailEnd type="none" w="med" len="med"/>
                    </a:lnL>
                    <a:lnR w="7620" cap="flat" cmpd="sng" algn="ctr">
                      <a:solidFill>
                        <a:srgbClr val="1E2A3D"/>
                      </a:solidFill>
                      <a:prstDash val="solid"/>
                      <a:round/>
                      <a:headEnd type="none" w="med" len="med"/>
                      <a:tailEnd type="none" w="med" len="med"/>
                    </a:lnR>
                    <a:lnT w="7620" cap="flat" cmpd="sng" algn="ctr">
                      <a:solidFill>
                        <a:srgbClr val="1E2A3D"/>
                      </a:solidFill>
                      <a:prstDash val="solid"/>
                      <a:round/>
                      <a:headEnd type="none" w="med" len="med"/>
                      <a:tailEnd type="none" w="med" len="med"/>
                    </a:lnT>
                    <a:lnB w="7620" cap="flat" cmpd="sng" algn="ctr">
                      <a:solidFill>
                        <a:srgbClr val="1E2A3D"/>
                      </a:solidFill>
                      <a:prstDash val="solid"/>
                      <a:round/>
                      <a:headEnd type="none" w="med" len="med"/>
                      <a:tailEnd type="none" w="med" len="med"/>
                    </a:lnB>
                    <a:solidFill>
                      <a:srgbClr val="162032"/>
                    </a:solidFill>
                  </a:tcPr>
                </a:tc>
                <a:tc>
                  <a:txBody>
                    <a:bodyPr/>
                    <a:lstStyle/>
                    <a:p>
                      <a:pPr algn="ctr"/>
                      <a:r>
                        <a:rPr lang="en-US" sz="1100" b="1" dirty="0">
                          <a:solidFill>
                            <a:srgbClr val="8892B0"/>
                          </a:solidFill>
                          <a:latin typeface="Segoe UI" pitchFamily="34" charset="0"/>
                          <a:ea typeface="Segoe UI" pitchFamily="34" charset="-122"/>
                          <a:cs typeface="Segoe UI" pitchFamily="34" charset="-120"/>
                        </a:rPr>
                        <a:t>Unknown</a:t>
                      </a:r>
                      <a:endParaRPr lang="en-US" sz="1100" dirty="0">
                        <a:latin typeface="Segoe UI" charset="0"/>
                        <a:ea typeface="Segoe UI" charset="0"/>
                        <a:cs typeface="Segoe UI" charset="0"/>
                      </a:endParaRPr>
                    </a:p>
                  </a:txBody>
                  <a:tcPr marL="63500" marR="63500" marT="76200" marB="76200" anchor="ctr">
                    <a:lnL w="7620" cap="flat" cmpd="sng" algn="ctr">
                      <a:solidFill>
                        <a:srgbClr val="1E2A3D"/>
                      </a:solidFill>
                      <a:prstDash val="solid"/>
                      <a:round/>
                      <a:headEnd type="none" w="med" len="med"/>
                      <a:tailEnd type="none" w="med" len="med"/>
                    </a:lnL>
                    <a:lnR w="7620" cap="flat" cmpd="sng" algn="ctr">
                      <a:solidFill>
                        <a:srgbClr val="1E2A3D"/>
                      </a:solidFill>
                      <a:prstDash val="solid"/>
                      <a:round/>
                      <a:headEnd type="none" w="med" len="med"/>
                      <a:tailEnd type="none" w="med" len="med"/>
                    </a:lnR>
                    <a:lnT w="7620" cap="flat" cmpd="sng" algn="ctr">
                      <a:solidFill>
                        <a:srgbClr val="1E2A3D"/>
                      </a:solidFill>
                      <a:prstDash val="solid"/>
                      <a:round/>
                      <a:headEnd type="none" w="med" len="med"/>
                      <a:tailEnd type="none" w="med" len="med"/>
                    </a:lnT>
                    <a:lnB w="7620" cap="flat" cmpd="sng" algn="ctr">
                      <a:solidFill>
                        <a:srgbClr val="1E2A3D"/>
                      </a:solidFill>
                      <a:prstDash val="solid"/>
                      <a:round/>
                      <a:headEnd type="none" w="med" len="med"/>
                      <a:tailEnd type="none" w="med" len="med"/>
                    </a:lnB>
                    <a:solidFill>
                      <a:srgbClr val="162032"/>
                    </a:solidFill>
                  </a:tcPr>
                </a:tc>
              </a:tr>
              <a:tr h="731520">
                <a:tc>
                  <a:txBody>
                    <a:bodyPr/>
                    <a:lstStyle/>
                    <a:p>
                      <a:pPr algn="ctr"/>
                      <a:r>
                        <a:rPr lang="en-US" sz="1300" b="1" dirty="0">
                          <a:solidFill>
                            <a:srgbClr val="F5F0EB"/>
                          </a:solidFill>
                          <a:latin typeface="Segoe UI" pitchFamily="34" charset="0"/>
                          <a:ea typeface="Segoe UI" pitchFamily="34" charset="-122"/>
                          <a:cs typeface="Segoe UI" pitchFamily="34" charset="-120"/>
                        </a:rPr>
                        <a:t>R3</a:t>
                      </a:r>
                      <a:endParaRPr lang="en-US" sz="1300" dirty="0">
                        <a:latin typeface="Segoe UI" charset="0"/>
                        <a:ea typeface="Segoe UI" charset="0"/>
                        <a:cs typeface="Segoe UI" charset="0"/>
                      </a:endParaRPr>
                    </a:p>
                  </a:txBody>
                  <a:tcPr marL="63500" marR="63500" marT="76200" marB="76200" anchor="ctr">
                    <a:lnL w="7620" cap="flat" cmpd="sng" algn="ctr">
                      <a:solidFill>
                        <a:srgbClr val="1E2A3D"/>
                      </a:solidFill>
                      <a:prstDash val="solid"/>
                      <a:round/>
                      <a:headEnd type="none" w="med" len="med"/>
                      <a:tailEnd type="none" w="med" len="med"/>
                    </a:lnL>
                    <a:lnR w="7620" cap="flat" cmpd="sng" algn="ctr">
                      <a:solidFill>
                        <a:srgbClr val="1E2A3D"/>
                      </a:solidFill>
                      <a:prstDash val="solid"/>
                      <a:round/>
                      <a:headEnd type="none" w="med" len="med"/>
                      <a:tailEnd type="none" w="med" len="med"/>
                    </a:lnR>
                    <a:lnT w="7620" cap="flat" cmpd="sng" algn="ctr">
                      <a:solidFill>
                        <a:srgbClr val="1E2A3D"/>
                      </a:solidFill>
                      <a:prstDash val="solid"/>
                      <a:round/>
                      <a:headEnd type="none" w="med" len="med"/>
                      <a:tailEnd type="none" w="med" len="med"/>
                    </a:lnT>
                    <a:lnB w="7620" cap="flat" cmpd="sng" algn="ctr">
                      <a:solidFill>
                        <a:srgbClr val="1E2A3D"/>
                      </a:solidFill>
                      <a:prstDash val="solid"/>
                      <a:round/>
                      <a:headEnd type="none" w="med" len="med"/>
                      <a:tailEnd type="none" w="med" len="med"/>
                    </a:lnB>
                    <a:solidFill>
                      <a:srgbClr val="0F1525"/>
                    </a:solidFill>
                  </a:tcPr>
                </a:tc>
                <a:tc>
                  <a:txBody>
                    <a:bodyPr/>
                    <a:lstStyle/>
                    <a:p>
                      <a:pPr algn="ctr"/>
                      <a:r>
                        <a:rPr lang="en-US" sz="1300" b="1" dirty="0">
                          <a:solidFill>
                            <a:srgbClr val="C9A227"/>
                          </a:solidFill>
                          <a:latin typeface="Segoe UI" pitchFamily="34" charset="0"/>
                          <a:ea typeface="Segoe UI" pitchFamily="34" charset="-122"/>
                          <a:cs typeface="Segoe UI" pitchFamily="34" charset="-120"/>
                        </a:rPr>
                        <a:t>Block</a:t>
                      </a:r>
                      <a:endParaRPr lang="en-US" sz="1300" dirty="0">
                        <a:latin typeface="Segoe UI" charset="0"/>
                        <a:ea typeface="Segoe UI" charset="0"/>
                        <a:cs typeface="Segoe UI" charset="0"/>
                      </a:endParaRPr>
                    </a:p>
                  </a:txBody>
                  <a:tcPr marL="50800" marR="50800" marT="76200" marB="76200" anchor="ctr">
                    <a:lnL w="7620" cap="flat" cmpd="sng" algn="ctr">
                      <a:solidFill>
                        <a:srgbClr val="1E2A3D"/>
                      </a:solidFill>
                      <a:prstDash val="solid"/>
                      <a:round/>
                      <a:headEnd type="none" w="med" len="med"/>
                      <a:tailEnd type="none" w="med" len="med"/>
                    </a:lnL>
                    <a:lnR w="7620" cap="flat" cmpd="sng" algn="ctr">
                      <a:solidFill>
                        <a:srgbClr val="1E2A3D"/>
                      </a:solidFill>
                      <a:prstDash val="solid"/>
                      <a:round/>
                      <a:headEnd type="none" w="med" len="med"/>
                      <a:tailEnd type="none" w="med" len="med"/>
                    </a:lnR>
                    <a:lnT w="7620" cap="flat" cmpd="sng" algn="ctr">
                      <a:solidFill>
                        <a:srgbClr val="1E2A3D"/>
                      </a:solidFill>
                      <a:prstDash val="solid"/>
                      <a:round/>
                      <a:headEnd type="none" w="med" len="med"/>
                      <a:tailEnd type="none" w="med" len="med"/>
                    </a:lnT>
                    <a:lnB w="7620" cap="flat" cmpd="sng" algn="ctr">
                      <a:solidFill>
                        <a:srgbClr val="1E2A3D"/>
                      </a:solidFill>
                      <a:prstDash val="solid"/>
                      <a:round/>
                      <a:headEnd type="none" w="med" len="med"/>
                      <a:tailEnd type="none" w="med" len="med"/>
                    </a:lnB>
                    <a:solidFill>
                      <a:srgbClr val="0F1525"/>
                    </a:solidFill>
                  </a:tcPr>
                </a:tc>
                <a:tc>
                  <a:txBody>
                    <a:bodyPr/>
                    <a:lstStyle/>
                    <a:p>
                      <a:pPr algn="ctr"/>
                      <a:r>
                        <a:rPr lang="en-US" sz="1300" b="1" dirty="0">
                          <a:solidFill>
                            <a:srgbClr val="D4AF37"/>
                          </a:solidFill>
                          <a:latin typeface="Segoe UI" pitchFamily="34" charset="0"/>
                          <a:ea typeface="Segoe UI" pitchFamily="34" charset="-122"/>
                          <a:cs typeface="Segoe UI" pitchFamily="34" charset="-120"/>
                        </a:rPr>
                        <a:t>Escalate</a:t>
                      </a:r>
                      <a:endParaRPr lang="en-US" sz="1300" dirty="0">
                        <a:latin typeface="Segoe UI" charset="0"/>
                        <a:ea typeface="Segoe UI" charset="0"/>
                        <a:cs typeface="Segoe UI" charset="0"/>
                      </a:endParaRPr>
                    </a:p>
                  </a:txBody>
                  <a:tcPr marL="50800" marR="50800" marT="76200" marB="76200" anchor="ctr">
                    <a:lnL w="7620" cap="flat" cmpd="sng" algn="ctr">
                      <a:solidFill>
                        <a:srgbClr val="1E2A3D"/>
                      </a:solidFill>
                      <a:prstDash val="solid"/>
                      <a:round/>
                      <a:headEnd type="none" w="med" len="med"/>
                      <a:tailEnd type="none" w="med" len="med"/>
                    </a:lnL>
                    <a:lnR w="7620" cap="flat" cmpd="sng" algn="ctr">
                      <a:solidFill>
                        <a:srgbClr val="1E2A3D"/>
                      </a:solidFill>
                      <a:prstDash val="solid"/>
                      <a:round/>
                      <a:headEnd type="none" w="med" len="med"/>
                      <a:tailEnd type="none" w="med" len="med"/>
                    </a:lnR>
                    <a:lnT w="7620" cap="flat" cmpd="sng" algn="ctr">
                      <a:solidFill>
                        <a:srgbClr val="1E2A3D"/>
                      </a:solidFill>
                      <a:prstDash val="solid"/>
                      <a:round/>
                      <a:headEnd type="none" w="med" len="med"/>
                      <a:tailEnd type="none" w="med" len="med"/>
                    </a:lnT>
                    <a:lnB w="7620" cap="flat" cmpd="sng" algn="ctr">
                      <a:solidFill>
                        <a:srgbClr val="1E2A3D"/>
                      </a:solidFill>
                      <a:prstDash val="solid"/>
                      <a:round/>
                      <a:headEnd type="none" w="med" len="med"/>
                      <a:tailEnd type="none" w="med" len="med"/>
                    </a:lnB>
                    <a:solidFill>
                      <a:srgbClr val="2A0C08"/>
                    </a:solidFill>
                  </a:tcPr>
                </a:tc>
                <a:tc>
                  <a:txBody>
                    <a:bodyPr/>
                    <a:lstStyle/>
                    <a:p>
                      <a:pPr algn="ctr"/>
                      <a:r>
                        <a:rPr lang="en-US" sz="1300" b="1" dirty="0">
                          <a:solidFill>
                            <a:srgbClr val="D4AF37"/>
                          </a:solidFill>
                          <a:latin typeface="Segoe UI" pitchFamily="34" charset="0"/>
                          <a:ea typeface="Segoe UI" pitchFamily="34" charset="-122"/>
                          <a:cs typeface="Segoe UI" pitchFamily="34" charset="-120"/>
                        </a:rPr>
                        <a:t>Escalate</a:t>
                      </a:r>
                      <a:endParaRPr lang="en-US" sz="1300" dirty="0">
                        <a:latin typeface="Segoe UI" charset="0"/>
                        <a:ea typeface="Segoe UI" charset="0"/>
                        <a:cs typeface="Segoe UI" charset="0"/>
                      </a:endParaRPr>
                    </a:p>
                  </a:txBody>
                  <a:tcPr marL="50800" marR="50800" marT="76200" marB="76200" anchor="ctr">
                    <a:lnL w="7620" cap="flat" cmpd="sng" algn="ctr">
                      <a:solidFill>
                        <a:srgbClr val="1E2A3D"/>
                      </a:solidFill>
                      <a:prstDash val="solid"/>
                      <a:round/>
                      <a:headEnd type="none" w="med" len="med"/>
                      <a:tailEnd type="none" w="med" len="med"/>
                    </a:lnL>
                    <a:lnR w="7620" cap="flat" cmpd="sng" algn="ctr">
                      <a:solidFill>
                        <a:srgbClr val="1E2A3D"/>
                      </a:solidFill>
                      <a:prstDash val="solid"/>
                      <a:round/>
                      <a:headEnd type="none" w="med" len="med"/>
                      <a:tailEnd type="none" w="med" len="med"/>
                    </a:lnR>
                    <a:lnT w="7620" cap="flat" cmpd="sng" algn="ctr">
                      <a:solidFill>
                        <a:srgbClr val="1E2A3D"/>
                      </a:solidFill>
                      <a:prstDash val="solid"/>
                      <a:round/>
                      <a:headEnd type="none" w="med" len="med"/>
                      <a:tailEnd type="none" w="med" len="med"/>
                    </a:lnT>
                    <a:lnB w="7620" cap="flat" cmpd="sng" algn="ctr">
                      <a:solidFill>
                        <a:srgbClr val="1E2A3D"/>
                      </a:solidFill>
                      <a:prstDash val="solid"/>
                      <a:round/>
                      <a:headEnd type="none" w="med" len="med"/>
                      <a:tailEnd type="none" w="med" len="med"/>
                    </a:lnB>
                    <a:solidFill>
                      <a:srgbClr val="0F1525"/>
                    </a:solidFill>
                  </a:tcPr>
                </a:tc>
                <a:tc>
                  <a:txBody>
                    <a:bodyPr/>
                    <a:lstStyle/>
                    <a:p>
                      <a:pPr algn="ctr"/>
                      <a:r>
                        <a:rPr lang="en-US" sz="1300" b="1" dirty="0">
                          <a:solidFill>
                            <a:srgbClr val="D4AF37"/>
                          </a:solidFill>
                          <a:latin typeface="Segoe UI" pitchFamily="34" charset="0"/>
                          <a:ea typeface="Segoe UI" pitchFamily="34" charset="-122"/>
                          <a:cs typeface="Segoe UI" pitchFamily="34" charset="-120"/>
                        </a:rPr>
                        <a:t>Escalate</a:t>
                      </a:r>
                      <a:endParaRPr lang="en-US" sz="1300" dirty="0">
                        <a:latin typeface="Segoe UI" charset="0"/>
                        <a:ea typeface="Segoe UI" charset="0"/>
                        <a:cs typeface="Segoe UI" charset="0"/>
                      </a:endParaRPr>
                    </a:p>
                  </a:txBody>
                  <a:tcPr marL="50800" marR="50800" marT="76200" marB="76200" anchor="ctr">
                    <a:lnL w="7620" cap="flat" cmpd="sng" algn="ctr">
                      <a:solidFill>
                        <a:srgbClr val="1E2A3D"/>
                      </a:solidFill>
                      <a:prstDash val="solid"/>
                      <a:round/>
                      <a:headEnd type="none" w="med" len="med"/>
                      <a:tailEnd type="none" w="med" len="med"/>
                    </a:lnL>
                    <a:lnR w="7620" cap="flat" cmpd="sng" algn="ctr">
                      <a:solidFill>
                        <a:srgbClr val="1E2A3D"/>
                      </a:solidFill>
                      <a:prstDash val="solid"/>
                      <a:round/>
                      <a:headEnd type="none" w="med" len="med"/>
                      <a:tailEnd type="none" w="med" len="med"/>
                    </a:lnR>
                    <a:lnT w="7620" cap="flat" cmpd="sng" algn="ctr">
                      <a:solidFill>
                        <a:srgbClr val="1E2A3D"/>
                      </a:solidFill>
                      <a:prstDash val="solid"/>
                      <a:round/>
                      <a:headEnd type="none" w="med" len="med"/>
                      <a:tailEnd type="none" w="med" len="med"/>
                    </a:lnT>
                    <a:lnB w="7620" cap="flat" cmpd="sng" algn="ctr">
                      <a:solidFill>
                        <a:srgbClr val="1E2A3D"/>
                      </a:solidFill>
                      <a:prstDash val="solid"/>
                      <a:round/>
                      <a:headEnd type="none" w="med" len="med"/>
                      <a:tailEnd type="none" w="med" len="med"/>
                    </a:lnB>
                    <a:solidFill>
                      <a:srgbClr val="0F1525"/>
                    </a:solidFill>
                  </a:tcPr>
                </a:tc>
              </a:tr>
              <a:tr h="731520">
                <a:tc>
                  <a:txBody>
                    <a:bodyPr/>
                    <a:lstStyle/>
                    <a:p>
                      <a:pPr algn="ctr"/>
                      <a:r>
                        <a:rPr lang="en-US" sz="1300" b="1" dirty="0">
                          <a:solidFill>
                            <a:srgbClr val="F5F0EB"/>
                          </a:solidFill>
                          <a:latin typeface="Segoe UI" pitchFamily="34" charset="0"/>
                          <a:ea typeface="Segoe UI" pitchFamily="34" charset="-122"/>
                          <a:cs typeface="Segoe UI" pitchFamily="34" charset="-120"/>
                        </a:rPr>
                        <a:t>R2</a:t>
                      </a:r>
                      <a:endParaRPr lang="en-US" sz="1300" dirty="0">
                        <a:latin typeface="Segoe UI" charset="0"/>
                        <a:ea typeface="Segoe UI" charset="0"/>
                        <a:cs typeface="Segoe UI" charset="0"/>
                      </a:endParaRPr>
                    </a:p>
                  </a:txBody>
                  <a:tcPr marL="63500" marR="63500" marT="76200" marB="76200" anchor="ctr">
                    <a:lnL w="7620" cap="flat" cmpd="sng" algn="ctr">
                      <a:solidFill>
                        <a:srgbClr val="1E2A3D"/>
                      </a:solidFill>
                      <a:prstDash val="solid"/>
                      <a:round/>
                      <a:headEnd type="none" w="med" len="med"/>
                      <a:tailEnd type="none" w="med" len="med"/>
                    </a:lnL>
                    <a:lnR w="7620" cap="flat" cmpd="sng" algn="ctr">
                      <a:solidFill>
                        <a:srgbClr val="1E2A3D"/>
                      </a:solidFill>
                      <a:prstDash val="solid"/>
                      <a:round/>
                      <a:headEnd type="none" w="med" len="med"/>
                      <a:tailEnd type="none" w="med" len="med"/>
                    </a:lnR>
                    <a:lnT w="7620" cap="flat" cmpd="sng" algn="ctr">
                      <a:solidFill>
                        <a:srgbClr val="1E2A3D"/>
                      </a:solidFill>
                      <a:prstDash val="solid"/>
                      <a:round/>
                      <a:headEnd type="none" w="med" len="med"/>
                      <a:tailEnd type="none" w="med" len="med"/>
                    </a:lnT>
                    <a:lnB w="7620" cap="flat" cmpd="sng" algn="ctr">
                      <a:solidFill>
                        <a:srgbClr val="1E2A3D"/>
                      </a:solidFill>
                      <a:prstDash val="solid"/>
                      <a:round/>
                      <a:headEnd type="none" w="med" len="med"/>
                      <a:tailEnd type="none" w="med" len="med"/>
                    </a:lnB>
                    <a:solidFill>
                      <a:srgbClr val="0F1525"/>
                    </a:solidFill>
                  </a:tcPr>
                </a:tc>
                <a:tc>
                  <a:txBody>
                    <a:bodyPr/>
                    <a:lstStyle/>
                    <a:p>
                      <a:pPr algn="ctr"/>
                      <a:r>
                        <a:rPr lang="en-US" sz="1300" b="1" dirty="0">
                          <a:solidFill>
                            <a:srgbClr val="C9A227"/>
                          </a:solidFill>
                          <a:latin typeface="Segoe UI" pitchFamily="34" charset="0"/>
                          <a:ea typeface="Segoe UI" pitchFamily="34" charset="-122"/>
                          <a:cs typeface="Segoe UI" pitchFamily="34" charset="-120"/>
                        </a:rPr>
                        <a:t>Block</a:t>
                      </a:r>
                      <a:endParaRPr lang="en-US" sz="1300" dirty="0">
                        <a:latin typeface="Segoe UI" charset="0"/>
                        <a:ea typeface="Segoe UI" charset="0"/>
                        <a:cs typeface="Segoe UI" charset="0"/>
                      </a:endParaRPr>
                    </a:p>
                  </a:txBody>
                  <a:tcPr marL="50800" marR="50800" marT="76200" marB="76200" anchor="ctr">
                    <a:lnL w="7620" cap="flat" cmpd="sng" algn="ctr">
                      <a:solidFill>
                        <a:srgbClr val="1E2A3D"/>
                      </a:solidFill>
                      <a:prstDash val="solid"/>
                      <a:round/>
                      <a:headEnd type="none" w="med" len="med"/>
                      <a:tailEnd type="none" w="med" len="med"/>
                    </a:lnL>
                    <a:lnR w="7620" cap="flat" cmpd="sng" algn="ctr">
                      <a:solidFill>
                        <a:srgbClr val="1E2A3D"/>
                      </a:solidFill>
                      <a:prstDash val="solid"/>
                      <a:round/>
                      <a:headEnd type="none" w="med" len="med"/>
                      <a:tailEnd type="none" w="med" len="med"/>
                    </a:lnR>
                    <a:lnT w="7620" cap="flat" cmpd="sng" algn="ctr">
                      <a:solidFill>
                        <a:srgbClr val="1E2A3D"/>
                      </a:solidFill>
                      <a:prstDash val="solid"/>
                      <a:round/>
                      <a:headEnd type="none" w="med" len="med"/>
                      <a:tailEnd type="none" w="med" len="med"/>
                    </a:lnT>
                    <a:lnB w="7620" cap="flat" cmpd="sng" algn="ctr">
                      <a:solidFill>
                        <a:srgbClr val="1E2A3D"/>
                      </a:solidFill>
                      <a:prstDash val="solid"/>
                      <a:round/>
                      <a:headEnd type="none" w="med" len="med"/>
                      <a:tailEnd type="none" w="med" len="med"/>
                    </a:lnB>
                    <a:solidFill>
                      <a:srgbClr val="0F1525"/>
                    </a:solidFill>
                  </a:tcPr>
                </a:tc>
                <a:tc>
                  <a:txBody>
                    <a:bodyPr/>
                    <a:lstStyle/>
                    <a:p>
                      <a:pPr algn="ctr"/>
                      <a:r>
                        <a:rPr lang="en-US" sz="1300" b="1" dirty="0">
                          <a:solidFill>
                            <a:srgbClr val="F5F0EB"/>
                          </a:solidFill>
                          <a:latin typeface="Segoe UI" pitchFamily="34" charset="0"/>
                          <a:ea typeface="Segoe UI" pitchFamily="34" charset="-122"/>
                          <a:cs typeface="Segoe UI" pitchFamily="34" charset="-120"/>
                        </a:rPr>
                        <a:t>Edit</a:t>
                      </a:r>
                      <a:endParaRPr lang="en-US" sz="1300" dirty="0">
                        <a:latin typeface="Segoe UI" charset="0"/>
                        <a:ea typeface="Segoe UI" charset="0"/>
                        <a:cs typeface="Segoe UI" charset="0"/>
                      </a:endParaRPr>
                    </a:p>
                  </a:txBody>
                  <a:tcPr marL="50800" marR="50800" marT="76200" marB="76200" anchor="ctr">
                    <a:lnL w="7620" cap="flat" cmpd="sng" algn="ctr">
                      <a:solidFill>
                        <a:srgbClr val="1E2A3D"/>
                      </a:solidFill>
                      <a:prstDash val="solid"/>
                      <a:round/>
                      <a:headEnd type="none" w="med" len="med"/>
                      <a:tailEnd type="none" w="med" len="med"/>
                    </a:lnL>
                    <a:lnR w="7620" cap="flat" cmpd="sng" algn="ctr">
                      <a:solidFill>
                        <a:srgbClr val="1E2A3D"/>
                      </a:solidFill>
                      <a:prstDash val="solid"/>
                      <a:round/>
                      <a:headEnd type="none" w="med" len="med"/>
                      <a:tailEnd type="none" w="med" len="med"/>
                    </a:lnR>
                    <a:lnT w="7620" cap="flat" cmpd="sng" algn="ctr">
                      <a:solidFill>
                        <a:srgbClr val="1E2A3D"/>
                      </a:solidFill>
                      <a:prstDash val="solid"/>
                      <a:round/>
                      <a:headEnd type="none" w="med" len="med"/>
                      <a:tailEnd type="none" w="med" len="med"/>
                    </a:lnT>
                    <a:lnB w="7620" cap="flat" cmpd="sng" algn="ctr">
                      <a:solidFill>
                        <a:srgbClr val="1E2A3D"/>
                      </a:solidFill>
                      <a:prstDash val="solid"/>
                      <a:round/>
                      <a:headEnd type="none" w="med" len="med"/>
                      <a:tailEnd type="none" w="med" len="med"/>
                    </a:lnB>
                    <a:solidFill>
                      <a:srgbClr val="2A0C08"/>
                    </a:solidFill>
                  </a:tcPr>
                </a:tc>
                <a:tc>
                  <a:txBody>
                    <a:bodyPr/>
                    <a:lstStyle/>
                    <a:p>
                      <a:pPr algn="ctr"/>
                      <a:r>
                        <a:rPr lang="en-US" sz="1300" b="1" dirty="0">
                          <a:solidFill>
                            <a:srgbClr val="F5F0EB"/>
                          </a:solidFill>
                          <a:latin typeface="Segoe UI" pitchFamily="34" charset="0"/>
                          <a:ea typeface="Segoe UI" pitchFamily="34" charset="-122"/>
                          <a:cs typeface="Segoe UI" pitchFamily="34" charset="-120"/>
                        </a:rPr>
                        <a:t>Edit</a:t>
                      </a:r>
                      <a:endParaRPr lang="en-US" sz="1300" dirty="0">
                        <a:latin typeface="Segoe UI" charset="0"/>
                        <a:ea typeface="Segoe UI" charset="0"/>
                        <a:cs typeface="Segoe UI" charset="0"/>
                      </a:endParaRPr>
                    </a:p>
                  </a:txBody>
                  <a:tcPr marL="50800" marR="50800" marT="76200" marB="76200" anchor="ctr">
                    <a:lnL w="7620" cap="flat" cmpd="sng" algn="ctr">
                      <a:solidFill>
                        <a:srgbClr val="1E2A3D"/>
                      </a:solidFill>
                      <a:prstDash val="solid"/>
                      <a:round/>
                      <a:headEnd type="none" w="med" len="med"/>
                      <a:tailEnd type="none" w="med" len="med"/>
                    </a:lnL>
                    <a:lnR w="7620" cap="flat" cmpd="sng" algn="ctr">
                      <a:solidFill>
                        <a:srgbClr val="1E2A3D"/>
                      </a:solidFill>
                      <a:prstDash val="solid"/>
                      <a:round/>
                      <a:headEnd type="none" w="med" len="med"/>
                      <a:tailEnd type="none" w="med" len="med"/>
                    </a:lnR>
                    <a:lnT w="7620" cap="flat" cmpd="sng" algn="ctr">
                      <a:solidFill>
                        <a:srgbClr val="1E2A3D"/>
                      </a:solidFill>
                      <a:prstDash val="solid"/>
                      <a:round/>
                      <a:headEnd type="none" w="med" len="med"/>
                      <a:tailEnd type="none" w="med" len="med"/>
                    </a:lnT>
                    <a:lnB w="7620" cap="flat" cmpd="sng" algn="ctr">
                      <a:solidFill>
                        <a:srgbClr val="1E2A3D"/>
                      </a:solidFill>
                      <a:prstDash val="solid"/>
                      <a:round/>
                      <a:headEnd type="none" w="med" len="med"/>
                      <a:tailEnd type="none" w="med" len="med"/>
                    </a:lnB>
                    <a:solidFill>
                      <a:srgbClr val="0F1525"/>
                    </a:solidFill>
                  </a:tcPr>
                </a:tc>
                <a:tc>
                  <a:txBody>
                    <a:bodyPr/>
                    <a:lstStyle/>
                    <a:p>
                      <a:pPr algn="ctr"/>
                      <a:r>
                        <a:rPr lang="en-US" sz="1300" b="1" dirty="0">
                          <a:solidFill>
                            <a:srgbClr val="D4AF37"/>
                          </a:solidFill>
                          <a:latin typeface="Segoe UI" pitchFamily="34" charset="0"/>
                          <a:ea typeface="Segoe UI" pitchFamily="34" charset="-122"/>
                          <a:cs typeface="Segoe UI" pitchFamily="34" charset="-120"/>
                        </a:rPr>
                        <a:t>Escalate</a:t>
                      </a:r>
                      <a:endParaRPr lang="en-US" sz="1300" dirty="0">
                        <a:latin typeface="Segoe UI" charset="0"/>
                        <a:ea typeface="Segoe UI" charset="0"/>
                        <a:cs typeface="Segoe UI" charset="0"/>
                      </a:endParaRPr>
                    </a:p>
                  </a:txBody>
                  <a:tcPr marL="50800" marR="50800" marT="76200" marB="76200" anchor="ctr">
                    <a:lnL w="7620" cap="flat" cmpd="sng" algn="ctr">
                      <a:solidFill>
                        <a:srgbClr val="1E2A3D"/>
                      </a:solidFill>
                      <a:prstDash val="solid"/>
                      <a:round/>
                      <a:headEnd type="none" w="med" len="med"/>
                      <a:tailEnd type="none" w="med" len="med"/>
                    </a:lnL>
                    <a:lnR w="7620" cap="flat" cmpd="sng" algn="ctr">
                      <a:solidFill>
                        <a:srgbClr val="1E2A3D"/>
                      </a:solidFill>
                      <a:prstDash val="solid"/>
                      <a:round/>
                      <a:headEnd type="none" w="med" len="med"/>
                      <a:tailEnd type="none" w="med" len="med"/>
                    </a:lnR>
                    <a:lnT w="7620" cap="flat" cmpd="sng" algn="ctr">
                      <a:solidFill>
                        <a:srgbClr val="1E2A3D"/>
                      </a:solidFill>
                      <a:prstDash val="solid"/>
                      <a:round/>
                      <a:headEnd type="none" w="med" len="med"/>
                      <a:tailEnd type="none" w="med" len="med"/>
                    </a:lnT>
                    <a:lnB w="7620" cap="flat" cmpd="sng" algn="ctr">
                      <a:solidFill>
                        <a:srgbClr val="1E2A3D"/>
                      </a:solidFill>
                      <a:prstDash val="solid"/>
                      <a:round/>
                      <a:headEnd type="none" w="med" len="med"/>
                      <a:tailEnd type="none" w="med" len="med"/>
                    </a:lnB>
                    <a:solidFill>
                      <a:srgbClr val="0F1525"/>
                    </a:solidFill>
                  </a:tcPr>
                </a:tc>
              </a:tr>
              <a:tr h="731520">
                <a:tc>
                  <a:txBody>
                    <a:bodyPr/>
                    <a:lstStyle/>
                    <a:p>
                      <a:pPr algn="ctr"/>
                      <a:r>
                        <a:rPr lang="en-US" sz="1300" b="1" dirty="0">
                          <a:solidFill>
                            <a:srgbClr val="F5F0EB"/>
                          </a:solidFill>
                          <a:latin typeface="Segoe UI" pitchFamily="34" charset="0"/>
                          <a:ea typeface="Segoe UI" pitchFamily="34" charset="-122"/>
                          <a:cs typeface="Segoe UI" pitchFamily="34" charset="-120"/>
                        </a:rPr>
                        <a:t>R1</a:t>
                      </a:r>
                      <a:endParaRPr lang="en-US" sz="1300" dirty="0">
                        <a:latin typeface="Segoe UI" charset="0"/>
                        <a:ea typeface="Segoe UI" charset="0"/>
                        <a:cs typeface="Segoe UI" charset="0"/>
                      </a:endParaRPr>
                    </a:p>
                  </a:txBody>
                  <a:tcPr marL="63500" marR="63500" marT="76200" marB="76200" anchor="ctr">
                    <a:lnL w="7620" cap="flat" cmpd="sng" algn="ctr">
                      <a:solidFill>
                        <a:srgbClr val="1E2A3D"/>
                      </a:solidFill>
                      <a:prstDash val="solid"/>
                      <a:round/>
                      <a:headEnd type="none" w="med" len="med"/>
                      <a:tailEnd type="none" w="med" len="med"/>
                    </a:lnL>
                    <a:lnR w="7620" cap="flat" cmpd="sng" algn="ctr">
                      <a:solidFill>
                        <a:srgbClr val="1E2A3D"/>
                      </a:solidFill>
                      <a:prstDash val="solid"/>
                      <a:round/>
                      <a:headEnd type="none" w="med" len="med"/>
                      <a:tailEnd type="none" w="med" len="med"/>
                    </a:lnR>
                    <a:lnT w="7620" cap="flat" cmpd="sng" algn="ctr">
                      <a:solidFill>
                        <a:srgbClr val="1E2A3D"/>
                      </a:solidFill>
                      <a:prstDash val="solid"/>
                      <a:round/>
                      <a:headEnd type="none" w="med" len="med"/>
                      <a:tailEnd type="none" w="med" len="med"/>
                    </a:lnT>
                    <a:lnB w="7620" cap="flat" cmpd="sng" algn="ctr">
                      <a:solidFill>
                        <a:srgbClr val="1E2A3D"/>
                      </a:solidFill>
                      <a:prstDash val="solid"/>
                      <a:round/>
                      <a:headEnd type="none" w="med" len="med"/>
                      <a:tailEnd type="none" w="med" len="med"/>
                    </a:lnB>
                    <a:solidFill>
                      <a:srgbClr val="0F1525"/>
                    </a:solidFill>
                  </a:tcPr>
                </a:tc>
                <a:tc>
                  <a:txBody>
                    <a:bodyPr/>
                    <a:lstStyle/>
                    <a:p>
                      <a:pPr algn="ctr"/>
                      <a:r>
                        <a:rPr lang="en-US" sz="1300" b="1" dirty="0">
                          <a:solidFill>
                            <a:srgbClr val="F5F0EB"/>
                          </a:solidFill>
                          <a:latin typeface="Segoe UI" pitchFamily="34" charset="0"/>
                          <a:ea typeface="Segoe UI" pitchFamily="34" charset="-122"/>
                          <a:cs typeface="Segoe UI" pitchFamily="34" charset="-120"/>
                        </a:rPr>
                        <a:t>Edit</a:t>
                      </a:r>
                      <a:endParaRPr lang="en-US" sz="1300" dirty="0">
                        <a:latin typeface="Segoe UI" charset="0"/>
                        <a:ea typeface="Segoe UI" charset="0"/>
                        <a:cs typeface="Segoe UI" charset="0"/>
                      </a:endParaRPr>
                    </a:p>
                  </a:txBody>
                  <a:tcPr marL="50800" marR="50800" marT="76200" marB="76200" anchor="ctr">
                    <a:lnL w="7620" cap="flat" cmpd="sng" algn="ctr">
                      <a:solidFill>
                        <a:srgbClr val="1E2A3D"/>
                      </a:solidFill>
                      <a:prstDash val="solid"/>
                      <a:round/>
                      <a:headEnd type="none" w="med" len="med"/>
                      <a:tailEnd type="none" w="med" len="med"/>
                    </a:lnL>
                    <a:lnR w="7620" cap="flat" cmpd="sng" algn="ctr">
                      <a:solidFill>
                        <a:srgbClr val="1E2A3D"/>
                      </a:solidFill>
                      <a:prstDash val="solid"/>
                      <a:round/>
                      <a:headEnd type="none" w="med" len="med"/>
                      <a:tailEnd type="none" w="med" len="med"/>
                    </a:lnR>
                    <a:lnT w="7620" cap="flat" cmpd="sng" algn="ctr">
                      <a:solidFill>
                        <a:srgbClr val="1E2A3D"/>
                      </a:solidFill>
                      <a:prstDash val="solid"/>
                      <a:round/>
                      <a:headEnd type="none" w="med" len="med"/>
                      <a:tailEnd type="none" w="med" len="med"/>
                    </a:lnT>
                    <a:lnB w="7620" cap="flat" cmpd="sng" algn="ctr">
                      <a:solidFill>
                        <a:srgbClr val="1E2A3D"/>
                      </a:solidFill>
                      <a:prstDash val="solid"/>
                      <a:round/>
                      <a:headEnd type="none" w="med" len="med"/>
                      <a:tailEnd type="none" w="med" len="med"/>
                    </a:lnB>
                    <a:solidFill>
                      <a:srgbClr val="2A0C08"/>
                    </a:solidFill>
                  </a:tcPr>
                </a:tc>
                <a:tc>
                  <a:txBody>
                    <a:bodyPr/>
                    <a:lstStyle/>
                    <a:p>
                      <a:pPr algn="ctr"/>
                      <a:r>
                        <a:rPr lang="en-US" sz="1300" b="1" dirty="0">
                          <a:solidFill>
                            <a:srgbClr val="F5F0EB"/>
                          </a:solidFill>
                          <a:latin typeface="Segoe UI" pitchFamily="34" charset="0"/>
                          <a:ea typeface="Segoe UI" pitchFamily="34" charset="-122"/>
                          <a:cs typeface="Segoe UI" pitchFamily="34" charset="-120"/>
                        </a:rPr>
                        <a:t>Edit</a:t>
                      </a:r>
                      <a:endParaRPr lang="en-US" sz="1300" dirty="0">
                        <a:latin typeface="Segoe UI" charset="0"/>
                        <a:ea typeface="Segoe UI" charset="0"/>
                        <a:cs typeface="Segoe UI" charset="0"/>
                      </a:endParaRPr>
                    </a:p>
                  </a:txBody>
                  <a:tcPr marL="50800" marR="50800" marT="76200" marB="76200" anchor="ctr">
                    <a:lnL w="7620" cap="flat" cmpd="sng" algn="ctr">
                      <a:solidFill>
                        <a:srgbClr val="1E2A3D"/>
                      </a:solidFill>
                      <a:prstDash val="solid"/>
                      <a:round/>
                      <a:headEnd type="none" w="med" len="med"/>
                      <a:tailEnd type="none" w="med" len="med"/>
                    </a:lnL>
                    <a:lnR w="7620" cap="flat" cmpd="sng" algn="ctr">
                      <a:solidFill>
                        <a:srgbClr val="1E2A3D"/>
                      </a:solidFill>
                      <a:prstDash val="solid"/>
                      <a:round/>
                      <a:headEnd type="none" w="med" len="med"/>
                      <a:tailEnd type="none" w="med" len="med"/>
                    </a:lnR>
                    <a:lnT w="7620" cap="flat" cmpd="sng" algn="ctr">
                      <a:solidFill>
                        <a:srgbClr val="1E2A3D"/>
                      </a:solidFill>
                      <a:prstDash val="solid"/>
                      <a:round/>
                      <a:headEnd type="none" w="med" len="med"/>
                      <a:tailEnd type="none" w="med" len="med"/>
                    </a:lnT>
                    <a:lnB w="7620" cap="flat" cmpd="sng" algn="ctr">
                      <a:solidFill>
                        <a:srgbClr val="1E2A3D"/>
                      </a:solidFill>
                      <a:prstDash val="solid"/>
                      <a:round/>
                      <a:headEnd type="none" w="med" len="med"/>
                      <a:tailEnd type="none" w="med" len="med"/>
                    </a:lnB>
                    <a:solidFill>
                      <a:srgbClr val="0F1525"/>
                    </a:solidFill>
                  </a:tcPr>
                </a:tc>
                <a:tc>
                  <a:txBody>
                    <a:bodyPr/>
                    <a:lstStyle/>
                    <a:p>
                      <a:pPr algn="ctr"/>
                      <a:r>
                        <a:rPr lang="en-US" sz="1300" b="1" dirty="0">
                          <a:solidFill>
                            <a:srgbClr val="D0C8B8"/>
                          </a:solidFill>
                          <a:latin typeface="Segoe UI" pitchFamily="34" charset="0"/>
                          <a:ea typeface="Segoe UI" pitchFamily="34" charset="-122"/>
                          <a:cs typeface="Segoe UI" pitchFamily="34" charset="-120"/>
                        </a:rPr>
                        <a:t>Pass + annotate</a:t>
                      </a:r>
                      <a:endParaRPr lang="en-US" sz="1300" dirty="0">
                        <a:latin typeface="Segoe UI" charset="0"/>
                        <a:ea typeface="Segoe UI" charset="0"/>
                        <a:cs typeface="Segoe UI" charset="0"/>
                      </a:endParaRPr>
                    </a:p>
                  </a:txBody>
                  <a:tcPr marL="50800" marR="50800" marT="76200" marB="76200" anchor="ctr">
                    <a:lnL w="7620" cap="flat" cmpd="sng" algn="ctr">
                      <a:solidFill>
                        <a:srgbClr val="1E2A3D"/>
                      </a:solidFill>
                      <a:prstDash val="solid"/>
                      <a:round/>
                      <a:headEnd type="none" w="med" len="med"/>
                      <a:tailEnd type="none" w="med" len="med"/>
                    </a:lnL>
                    <a:lnR w="7620" cap="flat" cmpd="sng" algn="ctr">
                      <a:solidFill>
                        <a:srgbClr val="1E2A3D"/>
                      </a:solidFill>
                      <a:prstDash val="solid"/>
                      <a:round/>
                      <a:headEnd type="none" w="med" len="med"/>
                      <a:tailEnd type="none" w="med" len="med"/>
                    </a:lnR>
                    <a:lnT w="7620" cap="flat" cmpd="sng" algn="ctr">
                      <a:solidFill>
                        <a:srgbClr val="1E2A3D"/>
                      </a:solidFill>
                      <a:prstDash val="solid"/>
                      <a:round/>
                      <a:headEnd type="none" w="med" len="med"/>
                      <a:tailEnd type="none" w="med" len="med"/>
                    </a:lnT>
                    <a:lnB w="7620" cap="flat" cmpd="sng" algn="ctr">
                      <a:solidFill>
                        <a:srgbClr val="1E2A3D"/>
                      </a:solidFill>
                      <a:prstDash val="solid"/>
                      <a:round/>
                      <a:headEnd type="none" w="med" len="med"/>
                      <a:tailEnd type="none" w="med" len="med"/>
                    </a:lnB>
                    <a:solidFill>
                      <a:srgbClr val="2A0C08"/>
                    </a:solidFill>
                  </a:tcPr>
                </a:tc>
                <a:tc>
                  <a:txBody>
                    <a:bodyPr/>
                    <a:lstStyle/>
                    <a:p>
                      <a:pPr algn="ctr"/>
                      <a:r>
                        <a:rPr lang="en-US" sz="1300" b="0" dirty="0">
                          <a:solidFill>
                            <a:srgbClr val="D0C8B8"/>
                          </a:solidFill>
                          <a:latin typeface="Segoe UI" pitchFamily="34" charset="0"/>
                          <a:ea typeface="Segoe UI" pitchFamily="34" charset="-122"/>
                          <a:cs typeface="Segoe UI" pitchFamily="34" charset="-120"/>
                        </a:rPr>
                        <a:t>Pass + annotate</a:t>
                      </a:r>
                      <a:endParaRPr lang="en-US" sz="1300" dirty="0">
                        <a:latin typeface="Segoe UI" charset="0"/>
                        <a:ea typeface="Segoe UI" charset="0"/>
                        <a:cs typeface="Segoe UI" charset="0"/>
                      </a:endParaRPr>
                    </a:p>
                  </a:txBody>
                  <a:tcPr marL="50800" marR="50800" marT="76200" marB="76200" anchor="ctr">
                    <a:lnL w="7620" cap="flat" cmpd="sng" algn="ctr">
                      <a:solidFill>
                        <a:srgbClr val="1E2A3D"/>
                      </a:solidFill>
                      <a:prstDash val="solid"/>
                      <a:round/>
                      <a:headEnd type="none" w="med" len="med"/>
                      <a:tailEnd type="none" w="med" len="med"/>
                    </a:lnL>
                    <a:lnR w="7620" cap="flat" cmpd="sng" algn="ctr">
                      <a:solidFill>
                        <a:srgbClr val="1E2A3D"/>
                      </a:solidFill>
                      <a:prstDash val="solid"/>
                      <a:round/>
                      <a:headEnd type="none" w="med" len="med"/>
                      <a:tailEnd type="none" w="med" len="med"/>
                    </a:lnR>
                    <a:lnT w="7620" cap="flat" cmpd="sng" algn="ctr">
                      <a:solidFill>
                        <a:srgbClr val="1E2A3D"/>
                      </a:solidFill>
                      <a:prstDash val="solid"/>
                      <a:round/>
                      <a:headEnd type="none" w="med" len="med"/>
                      <a:tailEnd type="none" w="med" len="med"/>
                    </a:lnT>
                    <a:lnB w="7620" cap="flat" cmpd="sng" algn="ctr">
                      <a:solidFill>
                        <a:srgbClr val="1E2A3D"/>
                      </a:solidFill>
                      <a:prstDash val="solid"/>
                      <a:round/>
                      <a:headEnd type="none" w="med" len="med"/>
                      <a:tailEnd type="none" w="med" len="med"/>
                    </a:lnB>
                    <a:solidFill>
                      <a:srgbClr val="0F1525"/>
                    </a:solidFill>
                  </a:tcPr>
                </a:tc>
              </a:tr>
              <a:tr h="731520">
                <a:tc>
                  <a:txBody>
                    <a:bodyPr/>
                    <a:lstStyle/>
                    <a:p>
                      <a:pPr algn="ctr"/>
                      <a:r>
                        <a:rPr lang="en-US" sz="1300" b="1" dirty="0">
                          <a:solidFill>
                            <a:srgbClr val="F5F0EB"/>
                          </a:solidFill>
                          <a:latin typeface="Segoe UI" pitchFamily="34" charset="0"/>
                          <a:ea typeface="Segoe UI" pitchFamily="34" charset="-122"/>
                          <a:cs typeface="Segoe UI" pitchFamily="34" charset="-120"/>
                        </a:rPr>
                        <a:t>R0</a:t>
                      </a:r>
                      <a:endParaRPr lang="en-US" sz="1300" dirty="0">
                        <a:latin typeface="Segoe UI" charset="0"/>
                        <a:ea typeface="Segoe UI" charset="0"/>
                        <a:cs typeface="Segoe UI" charset="0"/>
                      </a:endParaRPr>
                    </a:p>
                  </a:txBody>
                  <a:tcPr marL="63500" marR="63500" marT="76200" marB="76200" anchor="ctr">
                    <a:lnL w="7620" cap="flat" cmpd="sng" algn="ctr">
                      <a:solidFill>
                        <a:srgbClr val="1E2A3D"/>
                      </a:solidFill>
                      <a:prstDash val="solid"/>
                      <a:round/>
                      <a:headEnd type="none" w="med" len="med"/>
                      <a:tailEnd type="none" w="med" len="med"/>
                    </a:lnL>
                    <a:lnR w="7620" cap="flat" cmpd="sng" algn="ctr">
                      <a:solidFill>
                        <a:srgbClr val="1E2A3D"/>
                      </a:solidFill>
                      <a:prstDash val="solid"/>
                      <a:round/>
                      <a:headEnd type="none" w="med" len="med"/>
                      <a:tailEnd type="none" w="med" len="med"/>
                    </a:lnR>
                    <a:lnT w="7620" cap="flat" cmpd="sng" algn="ctr">
                      <a:solidFill>
                        <a:srgbClr val="1E2A3D"/>
                      </a:solidFill>
                      <a:prstDash val="solid"/>
                      <a:round/>
                      <a:headEnd type="none" w="med" len="med"/>
                      <a:tailEnd type="none" w="med" len="med"/>
                    </a:lnT>
                    <a:lnB w="7620" cap="flat" cmpd="sng" algn="ctr">
                      <a:solidFill>
                        <a:srgbClr val="1E2A3D"/>
                      </a:solidFill>
                      <a:prstDash val="solid"/>
                      <a:round/>
                      <a:headEnd type="none" w="med" len="med"/>
                      <a:tailEnd type="none" w="med" len="med"/>
                    </a:lnB>
                    <a:solidFill>
                      <a:srgbClr val="0F1525"/>
                    </a:solidFill>
                  </a:tcPr>
                </a:tc>
                <a:tc>
                  <a:txBody>
                    <a:bodyPr/>
                    <a:lstStyle/>
                    <a:p>
                      <a:pPr algn="ctr"/>
                      <a:r>
                        <a:rPr lang="en-US" sz="1300" b="0" dirty="0">
                          <a:solidFill>
                            <a:srgbClr val="D0C8B8"/>
                          </a:solidFill>
                          <a:latin typeface="Segoe UI" pitchFamily="34" charset="0"/>
                          <a:ea typeface="Segoe UI" pitchFamily="34" charset="-122"/>
                          <a:cs typeface="Segoe UI" pitchFamily="34" charset="-120"/>
                        </a:rPr>
                        <a:t>Pass + annotate</a:t>
                      </a:r>
                      <a:endParaRPr lang="en-US" sz="1300" dirty="0">
                        <a:latin typeface="Segoe UI" charset="0"/>
                        <a:ea typeface="Segoe UI" charset="0"/>
                        <a:cs typeface="Segoe UI" charset="0"/>
                      </a:endParaRPr>
                    </a:p>
                  </a:txBody>
                  <a:tcPr marL="50800" marR="50800" marT="76200" marB="76200" anchor="ctr">
                    <a:lnL w="7620" cap="flat" cmpd="sng" algn="ctr">
                      <a:solidFill>
                        <a:srgbClr val="1E2A3D"/>
                      </a:solidFill>
                      <a:prstDash val="solid"/>
                      <a:round/>
                      <a:headEnd type="none" w="med" len="med"/>
                      <a:tailEnd type="none" w="med" len="med"/>
                    </a:lnL>
                    <a:lnR w="7620" cap="flat" cmpd="sng" algn="ctr">
                      <a:solidFill>
                        <a:srgbClr val="1E2A3D"/>
                      </a:solidFill>
                      <a:prstDash val="solid"/>
                      <a:round/>
                      <a:headEnd type="none" w="med" len="med"/>
                      <a:tailEnd type="none" w="med" len="med"/>
                    </a:lnR>
                    <a:lnT w="7620" cap="flat" cmpd="sng" algn="ctr">
                      <a:solidFill>
                        <a:srgbClr val="1E2A3D"/>
                      </a:solidFill>
                      <a:prstDash val="solid"/>
                      <a:round/>
                      <a:headEnd type="none" w="med" len="med"/>
                      <a:tailEnd type="none" w="med" len="med"/>
                    </a:lnT>
                    <a:lnB w="7620" cap="flat" cmpd="sng" algn="ctr">
                      <a:solidFill>
                        <a:srgbClr val="1E2A3D"/>
                      </a:solidFill>
                      <a:prstDash val="solid"/>
                      <a:round/>
                      <a:headEnd type="none" w="med" len="med"/>
                      <a:tailEnd type="none" w="med" len="med"/>
                    </a:lnB>
                    <a:solidFill>
                      <a:srgbClr val="0F1525"/>
                    </a:solidFill>
                  </a:tcPr>
                </a:tc>
                <a:tc>
                  <a:txBody>
                    <a:bodyPr/>
                    <a:lstStyle/>
                    <a:p>
                      <a:pPr algn="ctr"/>
                      <a:r>
                        <a:rPr lang="en-US" sz="1300" b="0" dirty="0">
                          <a:solidFill>
                            <a:srgbClr val="D0C8B8"/>
                          </a:solidFill>
                          <a:latin typeface="Segoe UI" pitchFamily="34" charset="0"/>
                          <a:ea typeface="Segoe UI" pitchFamily="34" charset="-122"/>
                          <a:cs typeface="Segoe UI" pitchFamily="34" charset="-120"/>
                        </a:rPr>
                        <a:t>Pass + annotate</a:t>
                      </a:r>
                      <a:endParaRPr lang="en-US" sz="1300" dirty="0">
                        <a:latin typeface="Segoe UI" charset="0"/>
                        <a:ea typeface="Segoe UI" charset="0"/>
                        <a:cs typeface="Segoe UI" charset="0"/>
                      </a:endParaRPr>
                    </a:p>
                  </a:txBody>
                  <a:tcPr marL="50800" marR="50800" marT="76200" marB="76200" anchor="ctr">
                    <a:lnL w="7620" cap="flat" cmpd="sng" algn="ctr">
                      <a:solidFill>
                        <a:srgbClr val="1E2A3D"/>
                      </a:solidFill>
                      <a:prstDash val="solid"/>
                      <a:round/>
                      <a:headEnd type="none" w="med" len="med"/>
                      <a:tailEnd type="none" w="med" len="med"/>
                    </a:lnL>
                    <a:lnR w="7620" cap="flat" cmpd="sng" algn="ctr">
                      <a:solidFill>
                        <a:srgbClr val="1E2A3D"/>
                      </a:solidFill>
                      <a:prstDash val="solid"/>
                      <a:round/>
                      <a:headEnd type="none" w="med" len="med"/>
                      <a:tailEnd type="none" w="med" len="med"/>
                    </a:lnR>
                    <a:lnT w="7620" cap="flat" cmpd="sng" algn="ctr">
                      <a:solidFill>
                        <a:srgbClr val="1E2A3D"/>
                      </a:solidFill>
                      <a:prstDash val="solid"/>
                      <a:round/>
                      <a:headEnd type="none" w="med" len="med"/>
                      <a:tailEnd type="none" w="med" len="med"/>
                    </a:lnT>
                    <a:lnB w="7620" cap="flat" cmpd="sng" algn="ctr">
                      <a:solidFill>
                        <a:srgbClr val="1E2A3D"/>
                      </a:solidFill>
                      <a:prstDash val="solid"/>
                      <a:round/>
                      <a:headEnd type="none" w="med" len="med"/>
                      <a:tailEnd type="none" w="med" len="med"/>
                    </a:lnB>
                    <a:solidFill>
                      <a:srgbClr val="0F1525"/>
                    </a:solidFill>
                  </a:tcPr>
                </a:tc>
                <a:tc>
                  <a:txBody>
                    <a:bodyPr/>
                    <a:lstStyle/>
                    <a:p>
                      <a:pPr algn="ctr"/>
                      <a:r>
                        <a:rPr lang="en-US" sz="1300" b="0" dirty="0">
                          <a:solidFill>
                            <a:srgbClr val="D0C8B8"/>
                          </a:solidFill>
                          <a:latin typeface="Segoe UI" pitchFamily="34" charset="0"/>
                          <a:ea typeface="Segoe UI" pitchFamily="34" charset="-122"/>
                          <a:cs typeface="Segoe UI" pitchFamily="34" charset="-120"/>
                        </a:rPr>
                        <a:t>Pass</a:t>
                      </a:r>
                      <a:endParaRPr lang="en-US" sz="1300" dirty="0">
                        <a:latin typeface="Segoe UI" charset="0"/>
                        <a:ea typeface="Segoe UI" charset="0"/>
                        <a:cs typeface="Segoe UI" charset="0"/>
                      </a:endParaRPr>
                    </a:p>
                  </a:txBody>
                  <a:tcPr marL="50800" marR="50800" marT="76200" marB="76200" anchor="ctr">
                    <a:lnL w="7620" cap="flat" cmpd="sng" algn="ctr">
                      <a:solidFill>
                        <a:srgbClr val="1E2A3D"/>
                      </a:solidFill>
                      <a:prstDash val="solid"/>
                      <a:round/>
                      <a:headEnd type="none" w="med" len="med"/>
                      <a:tailEnd type="none" w="med" len="med"/>
                    </a:lnL>
                    <a:lnR w="7620" cap="flat" cmpd="sng" algn="ctr">
                      <a:solidFill>
                        <a:srgbClr val="1E2A3D"/>
                      </a:solidFill>
                      <a:prstDash val="solid"/>
                      <a:round/>
                      <a:headEnd type="none" w="med" len="med"/>
                      <a:tailEnd type="none" w="med" len="med"/>
                    </a:lnR>
                    <a:lnT w="7620" cap="flat" cmpd="sng" algn="ctr">
                      <a:solidFill>
                        <a:srgbClr val="1E2A3D"/>
                      </a:solidFill>
                      <a:prstDash val="solid"/>
                      <a:round/>
                      <a:headEnd type="none" w="med" len="med"/>
                      <a:tailEnd type="none" w="med" len="med"/>
                    </a:lnT>
                    <a:lnB w="7620" cap="flat" cmpd="sng" algn="ctr">
                      <a:solidFill>
                        <a:srgbClr val="1E2A3D"/>
                      </a:solidFill>
                      <a:prstDash val="solid"/>
                      <a:round/>
                      <a:headEnd type="none" w="med" len="med"/>
                      <a:tailEnd type="none" w="med" len="med"/>
                    </a:lnB>
                    <a:solidFill>
                      <a:srgbClr val="0F1525"/>
                    </a:solidFill>
                  </a:tcPr>
                </a:tc>
                <a:tc>
                  <a:txBody>
                    <a:bodyPr/>
                    <a:lstStyle/>
                    <a:p>
                      <a:pPr algn="ctr"/>
                      <a:r>
                        <a:rPr lang="en-US" sz="1300" b="0" dirty="0">
                          <a:solidFill>
                            <a:srgbClr val="D0C8B8"/>
                          </a:solidFill>
                          <a:latin typeface="Segoe UI" pitchFamily="34" charset="0"/>
                          <a:ea typeface="Segoe UI" pitchFamily="34" charset="-122"/>
                          <a:cs typeface="Segoe UI" pitchFamily="34" charset="-120"/>
                        </a:rPr>
                        <a:t>Pass</a:t>
                      </a:r>
                      <a:endParaRPr lang="en-US" sz="1300" dirty="0">
                        <a:latin typeface="Segoe UI" charset="0"/>
                        <a:ea typeface="Segoe UI" charset="0"/>
                        <a:cs typeface="Segoe UI" charset="0"/>
                      </a:endParaRPr>
                    </a:p>
                  </a:txBody>
                  <a:tcPr marL="50800" marR="50800" marT="76200" marB="76200" anchor="ctr">
                    <a:lnL w="7620" cap="flat" cmpd="sng" algn="ctr">
                      <a:solidFill>
                        <a:srgbClr val="1E2A3D"/>
                      </a:solidFill>
                      <a:prstDash val="solid"/>
                      <a:round/>
                      <a:headEnd type="none" w="med" len="med"/>
                      <a:tailEnd type="none" w="med" len="med"/>
                    </a:lnL>
                    <a:lnR w="7620" cap="flat" cmpd="sng" algn="ctr">
                      <a:solidFill>
                        <a:srgbClr val="1E2A3D"/>
                      </a:solidFill>
                      <a:prstDash val="solid"/>
                      <a:round/>
                      <a:headEnd type="none" w="med" len="med"/>
                      <a:tailEnd type="none" w="med" len="med"/>
                    </a:lnR>
                    <a:lnT w="7620" cap="flat" cmpd="sng" algn="ctr">
                      <a:solidFill>
                        <a:srgbClr val="1E2A3D"/>
                      </a:solidFill>
                      <a:prstDash val="solid"/>
                      <a:round/>
                      <a:headEnd type="none" w="med" len="med"/>
                      <a:tailEnd type="none" w="med" len="med"/>
                    </a:lnT>
                    <a:lnB w="7620" cap="flat" cmpd="sng" algn="ctr">
                      <a:solidFill>
                        <a:srgbClr val="1E2A3D"/>
                      </a:solidFill>
                      <a:prstDash val="solid"/>
                      <a:round/>
                      <a:headEnd type="none" w="med" len="med"/>
                      <a:tailEnd type="none" w="med" len="med"/>
                    </a:lnB>
                    <a:solidFill>
                      <a:srgbClr val="0F1525"/>
                    </a:solidFill>
                  </a:tcPr>
                </a:tc>
              </a:tr>
            </a:tbl>
          </a:graphicData>
        </a:graphic>
      </p:graphicFrame>
      <p:sp>
        <p:nvSpPr>
          <p:cNvPr id="14" name="Shape 10"/>
          <p:cNvSpPr/>
          <p:nvPr/>
        </p:nvSpPr>
        <p:spPr>
          <a:xfrm>
            <a:off x="950976" y="5669280"/>
            <a:ext cx="5394960" cy="2331720"/>
          </a:xfrm>
          <a:prstGeom prst="rect">
            <a:avLst/>
          </a:prstGeom>
          <a:solidFill>
            <a:srgbClr val="0F1525"/>
          </a:solidFill>
          <a:ln w="8636">
            <a:solidFill>
              <a:srgbClr val="1E2A3D"/>
            </a:solidFill>
            <a:prstDash val="solid"/>
          </a:ln>
        </p:spPr>
      </p:sp>
      <p:sp>
        <p:nvSpPr>
          <p:cNvPr id="15" name="Text 11"/>
          <p:cNvSpPr/>
          <p:nvPr/>
        </p:nvSpPr>
        <p:spPr>
          <a:xfrm>
            <a:off x="1152144" y="5797296"/>
            <a:ext cx="4992624" cy="292608"/>
          </a:xfrm>
          <a:prstGeom prst="rect">
            <a:avLst/>
          </a:prstGeom>
          <a:noFill/>
          <a:ln/>
        </p:spPr>
        <p:txBody>
          <a:bodyPr wrap="square" lIns="0" tIns="0" rIns="0" bIns="0" rtlCol="0" anchor="ctr"/>
          <a:lstStyle/>
          <a:p>
            <a:r>
              <a:rPr lang="en-US" sz="1200" spc="110" kern="0" dirty="0">
                <a:solidFill>
                  <a:srgbClr val="C9A227"/>
                </a:solidFill>
                <a:latin typeface="Segoe UI" pitchFamily="34" charset="0"/>
                <a:ea typeface="Segoe UI" pitchFamily="34" charset="-122"/>
                <a:cs typeface="Segoe UI" pitchFamily="34" charset="-120"/>
              </a:rPr>
              <a:t>01  SUPPORT CHATBOT</a:t>
            </a:r>
            <a:endParaRPr lang="en-US" sz="1200" dirty="0"/>
          </a:p>
        </p:txBody>
      </p:sp>
      <p:sp>
        <p:nvSpPr>
          <p:cNvPr id="16" name="Text 12"/>
          <p:cNvSpPr/>
          <p:nvPr/>
        </p:nvSpPr>
        <p:spPr>
          <a:xfrm>
            <a:off x="1152144" y="6126480"/>
            <a:ext cx="4992624" cy="310896"/>
          </a:xfrm>
          <a:prstGeom prst="rect">
            <a:avLst/>
          </a:prstGeom>
          <a:noFill/>
          <a:ln/>
        </p:spPr>
        <p:txBody>
          <a:bodyPr wrap="square" lIns="0" tIns="0" rIns="0" bIns="0" rtlCol="0" anchor="ctr"/>
          <a:lstStyle/>
          <a:p>
            <a:r>
              <a:rPr lang="en-US" sz="1500" dirty="0">
                <a:solidFill>
                  <a:srgbClr val="F5F0EB"/>
                </a:solidFill>
                <a:latin typeface="Segoe UI" pitchFamily="34" charset="0"/>
                <a:ea typeface="Segoe UI" pitchFamily="34" charset="-122"/>
                <a:cs typeface="Segoe UI" pitchFamily="34" charset="-120"/>
              </a:rPr>
              <a:t>show_reply  ·  R1</a:t>
            </a:r>
            <a:endParaRPr lang="en-US" sz="1500" dirty="0"/>
          </a:p>
        </p:txBody>
      </p:sp>
      <p:sp>
        <p:nvSpPr>
          <p:cNvPr id="17" name="Text 13"/>
          <p:cNvSpPr/>
          <p:nvPr/>
        </p:nvSpPr>
        <p:spPr>
          <a:xfrm>
            <a:off x="1152144" y="6473952"/>
            <a:ext cx="4992624" cy="365760"/>
          </a:xfrm>
          <a:prstGeom prst="rect">
            <a:avLst/>
          </a:prstGeom>
          <a:noFill/>
          <a:ln/>
        </p:spPr>
        <p:txBody>
          <a:bodyPr wrap="square" lIns="0" tIns="0" rIns="0" bIns="0" rtlCol="0" anchor="t"/>
          <a:lstStyle/>
          <a:p>
            <a:r>
              <a:rPr lang="en-US" sz="1400" dirty="0">
                <a:solidFill>
                  <a:srgbClr val="D0C8B8"/>
                </a:solidFill>
                <a:latin typeface="Segoe UI" pitchFamily="34" charset="0"/>
                <a:ea typeface="Segoe UI" pitchFamily="34" charset="-122"/>
                <a:cs typeface="Segoe UI" pitchFamily="34" charset="-120"/>
              </a:rPr>
              <a:t>R1 × Unsupported + hedged</a:t>
            </a:r>
            <a:endParaRPr lang="en-US" sz="1400" dirty="0"/>
          </a:p>
        </p:txBody>
      </p:sp>
      <p:sp>
        <p:nvSpPr>
          <p:cNvPr id="18" name="Text 14"/>
          <p:cNvSpPr/>
          <p:nvPr/>
        </p:nvSpPr>
        <p:spPr>
          <a:xfrm>
            <a:off x="1152144" y="6903720"/>
            <a:ext cx="4992624" cy="640080"/>
          </a:xfrm>
          <a:prstGeom prst="rect">
            <a:avLst/>
          </a:prstGeom>
          <a:noFill/>
          <a:ln/>
        </p:spPr>
        <p:txBody>
          <a:bodyPr wrap="square" lIns="0" tIns="0" rIns="0" bIns="0" rtlCol="0" anchor="ctr"/>
          <a:lstStyle/>
          <a:p>
            <a:r>
              <a:rPr lang="en-US" sz="2200" b="1" dirty="0">
                <a:solidFill>
                  <a:srgbClr val="F5F0EB"/>
                </a:solidFill>
                <a:latin typeface="Segoe UI" pitchFamily="34" charset="0"/>
                <a:ea typeface="Segoe UI" pitchFamily="34" charset="-122"/>
                <a:cs typeface="Segoe UI" pitchFamily="34" charset="-120"/>
              </a:rPr>
              <a:t>Pass + annotate</a:t>
            </a:r>
            <a:endParaRPr lang="en-US" sz="2200" dirty="0"/>
          </a:p>
        </p:txBody>
      </p:sp>
      <p:sp>
        <p:nvSpPr>
          <p:cNvPr id="19" name="Shape 15"/>
          <p:cNvSpPr/>
          <p:nvPr/>
        </p:nvSpPr>
        <p:spPr>
          <a:xfrm>
            <a:off x="6528816" y="5669280"/>
            <a:ext cx="5394960" cy="2331720"/>
          </a:xfrm>
          <a:prstGeom prst="rect">
            <a:avLst/>
          </a:prstGeom>
          <a:solidFill>
            <a:srgbClr val="0F1525"/>
          </a:solidFill>
          <a:ln w="8636">
            <a:solidFill>
              <a:srgbClr val="1E2A3D"/>
            </a:solidFill>
            <a:prstDash val="solid"/>
          </a:ln>
        </p:spPr>
      </p:sp>
      <p:sp>
        <p:nvSpPr>
          <p:cNvPr id="20" name="Text 16"/>
          <p:cNvSpPr/>
          <p:nvPr/>
        </p:nvSpPr>
        <p:spPr>
          <a:xfrm>
            <a:off x="6729984" y="5797296"/>
            <a:ext cx="4992624" cy="292608"/>
          </a:xfrm>
          <a:prstGeom prst="rect">
            <a:avLst/>
          </a:prstGeom>
          <a:noFill/>
          <a:ln/>
        </p:spPr>
        <p:txBody>
          <a:bodyPr wrap="square" lIns="0" tIns="0" rIns="0" bIns="0" rtlCol="0" anchor="ctr"/>
          <a:lstStyle/>
          <a:p>
            <a:r>
              <a:rPr lang="en-US" sz="1200" spc="110" kern="0" dirty="0">
                <a:solidFill>
                  <a:srgbClr val="C9A227"/>
                </a:solidFill>
                <a:latin typeface="Segoe UI" pitchFamily="34" charset="0"/>
                <a:ea typeface="Segoe UI" pitchFamily="34" charset="-122"/>
                <a:cs typeface="Segoe UI" pitchFamily="34" charset="-120"/>
              </a:rPr>
              <a:t>02  KNOWLEDGE COPILOT</a:t>
            </a:r>
            <a:endParaRPr lang="en-US" sz="1200" dirty="0"/>
          </a:p>
        </p:txBody>
      </p:sp>
      <p:sp>
        <p:nvSpPr>
          <p:cNvPr id="21" name="Text 17"/>
          <p:cNvSpPr/>
          <p:nvPr/>
        </p:nvSpPr>
        <p:spPr>
          <a:xfrm>
            <a:off x="6729984" y="6126480"/>
            <a:ext cx="4992624" cy="310896"/>
          </a:xfrm>
          <a:prstGeom prst="rect">
            <a:avLst/>
          </a:prstGeom>
          <a:noFill/>
          <a:ln/>
        </p:spPr>
        <p:txBody>
          <a:bodyPr wrap="square" lIns="0" tIns="0" rIns="0" bIns="0" rtlCol="0" anchor="ctr"/>
          <a:lstStyle/>
          <a:p>
            <a:r>
              <a:rPr lang="en-US" sz="1500" dirty="0">
                <a:solidFill>
                  <a:srgbClr val="F5F0EB"/>
                </a:solidFill>
                <a:latin typeface="Segoe UI" pitchFamily="34" charset="0"/>
                <a:ea typeface="Segoe UI" pitchFamily="34" charset="-122"/>
                <a:cs typeface="Segoe UI" pitchFamily="34" charset="-120"/>
              </a:rPr>
              <a:t>draft_partner_email  ·  R2</a:t>
            </a:r>
            <a:endParaRPr lang="en-US" sz="1500" dirty="0"/>
          </a:p>
        </p:txBody>
      </p:sp>
      <p:sp>
        <p:nvSpPr>
          <p:cNvPr id="22" name="Text 18"/>
          <p:cNvSpPr/>
          <p:nvPr/>
        </p:nvSpPr>
        <p:spPr>
          <a:xfrm>
            <a:off x="6729984" y="6473952"/>
            <a:ext cx="4992624" cy="365760"/>
          </a:xfrm>
          <a:prstGeom prst="rect">
            <a:avLst/>
          </a:prstGeom>
          <a:noFill/>
          <a:ln/>
        </p:spPr>
        <p:txBody>
          <a:bodyPr wrap="square" lIns="0" tIns="0" rIns="0" bIns="0" rtlCol="0" anchor="t"/>
          <a:lstStyle/>
          <a:p>
            <a:r>
              <a:rPr lang="en-US" sz="1400" dirty="0">
                <a:solidFill>
                  <a:srgbClr val="D0C8B8"/>
                </a:solidFill>
                <a:latin typeface="Segoe UI" pitchFamily="34" charset="0"/>
                <a:ea typeface="Segoe UI" pitchFamily="34" charset="-122"/>
                <a:cs typeface="Segoe UI" pitchFamily="34" charset="-120"/>
              </a:rPr>
              <a:t>R2 × Unsupported + categorical</a:t>
            </a:r>
            <a:endParaRPr lang="en-US" sz="1400" dirty="0"/>
          </a:p>
        </p:txBody>
      </p:sp>
      <p:sp>
        <p:nvSpPr>
          <p:cNvPr id="23" name="Text 19"/>
          <p:cNvSpPr/>
          <p:nvPr/>
        </p:nvSpPr>
        <p:spPr>
          <a:xfrm>
            <a:off x="6729984" y="6903720"/>
            <a:ext cx="4992624" cy="640080"/>
          </a:xfrm>
          <a:prstGeom prst="rect">
            <a:avLst/>
          </a:prstGeom>
          <a:noFill/>
          <a:ln/>
        </p:spPr>
        <p:txBody>
          <a:bodyPr wrap="square" lIns="0" tIns="0" rIns="0" bIns="0" rtlCol="0" anchor="ctr"/>
          <a:lstStyle/>
          <a:p>
            <a:r>
              <a:rPr lang="en-US" sz="2200" b="1" dirty="0">
                <a:solidFill>
                  <a:srgbClr val="F5F0EB"/>
                </a:solidFill>
                <a:latin typeface="Segoe UI" pitchFamily="34" charset="0"/>
                <a:ea typeface="Segoe UI" pitchFamily="34" charset="-122"/>
                <a:cs typeface="Segoe UI" pitchFamily="34" charset="-120"/>
              </a:rPr>
              <a:t>Edit</a:t>
            </a:r>
            <a:endParaRPr lang="en-US" sz="2200" dirty="0"/>
          </a:p>
        </p:txBody>
      </p:sp>
      <p:sp>
        <p:nvSpPr>
          <p:cNvPr id="24" name="Shape 20"/>
          <p:cNvSpPr/>
          <p:nvPr/>
        </p:nvSpPr>
        <p:spPr>
          <a:xfrm>
            <a:off x="12106656" y="5669280"/>
            <a:ext cx="5394960" cy="2331720"/>
          </a:xfrm>
          <a:prstGeom prst="rect">
            <a:avLst/>
          </a:prstGeom>
          <a:solidFill>
            <a:srgbClr val="0F1525"/>
          </a:solidFill>
          <a:ln w="8636">
            <a:solidFill>
              <a:srgbClr val="1E2A3D"/>
            </a:solidFill>
            <a:prstDash val="solid"/>
          </a:ln>
        </p:spPr>
      </p:sp>
      <p:sp>
        <p:nvSpPr>
          <p:cNvPr id="25" name="Text 21"/>
          <p:cNvSpPr/>
          <p:nvPr/>
        </p:nvSpPr>
        <p:spPr>
          <a:xfrm>
            <a:off x="12307824" y="5797296"/>
            <a:ext cx="4992624" cy="292608"/>
          </a:xfrm>
          <a:prstGeom prst="rect">
            <a:avLst/>
          </a:prstGeom>
          <a:noFill/>
          <a:ln/>
        </p:spPr>
        <p:txBody>
          <a:bodyPr wrap="square" lIns="0" tIns="0" rIns="0" bIns="0" rtlCol="0" anchor="ctr"/>
          <a:lstStyle/>
          <a:p>
            <a:r>
              <a:rPr lang="en-US" sz="1200" spc="110" kern="0" dirty="0">
                <a:solidFill>
                  <a:srgbClr val="C9A227"/>
                </a:solidFill>
                <a:latin typeface="Segoe UI" pitchFamily="34" charset="0"/>
                <a:ea typeface="Segoe UI" pitchFamily="34" charset="-122"/>
                <a:cs typeface="Segoe UI" pitchFamily="34" charset="-120"/>
              </a:rPr>
              <a:t>03  DECISION-SUPPORT REFUND</a:t>
            </a:r>
            <a:endParaRPr lang="en-US" sz="1200" dirty="0"/>
          </a:p>
        </p:txBody>
      </p:sp>
      <p:sp>
        <p:nvSpPr>
          <p:cNvPr id="26" name="Text 22"/>
          <p:cNvSpPr/>
          <p:nvPr/>
        </p:nvSpPr>
        <p:spPr>
          <a:xfrm>
            <a:off x="12307824" y="6126480"/>
            <a:ext cx="4992624" cy="310896"/>
          </a:xfrm>
          <a:prstGeom prst="rect">
            <a:avLst/>
          </a:prstGeom>
          <a:noFill/>
          <a:ln/>
        </p:spPr>
        <p:txBody>
          <a:bodyPr wrap="square" lIns="0" tIns="0" rIns="0" bIns="0" rtlCol="0" anchor="ctr"/>
          <a:lstStyle/>
          <a:p>
            <a:r>
              <a:rPr lang="en-US" sz="1500" dirty="0">
                <a:solidFill>
                  <a:srgbClr val="F5F0EB"/>
                </a:solidFill>
                <a:latin typeface="Segoe UI" pitchFamily="34" charset="0"/>
                <a:ea typeface="Segoe UI" pitchFamily="34" charset="-122"/>
                <a:cs typeface="Segoe UI" pitchFamily="34" charset="-120"/>
              </a:rPr>
              <a:t>issue_refund  ·  R3</a:t>
            </a:r>
            <a:endParaRPr lang="en-US" sz="1500" dirty="0"/>
          </a:p>
        </p:txBody>
      </p:sp>
      <p:sp>
        <p:nvSpPr>
          <p:cNvPr id="27" name="Text 23"/>
          <p:cNvSpPr/>
          <p:nvPr/>
        </p:nvSpPr>
        <p:spPr>
          <a:xfrm>
            <a:off x="12307824" y="6473952"/>
            <a:ext cx="4992624" cy="365760"/>
          </a:xfrm>
          <a:prstGeom prst="rect">
            <a:avLst/>
          </a:prstGeom>
          <a:noFill/>
          <a:ln/>
        </p:spPr>
        <p:txBody>
          <a:bodyPr wrap="square" lIns="0" tIns="0" rIns="0" bIns="0" rtlCol="0" anchor="t"/>
          <a:lstStyle/>
          <a:p>
            <a:r>
              <a:rPr lang="en-US" sz="1400" dirty="0">
                <a:solidFill>
                  <a:srgbClr val="D0C8B8"/>
                </a:solidFill>
                <a:latin typeface="Segoe UI" pitchFamily="34" charset="0"/>
                <a:ea typeface="Segoe UI" pitchFamily="34" charset="-122"/>
                <a:cs typeface="Segoe UI" pitchFamily="34" charset="-120"/>
              </a:rPr>
              <a:t>R3 × Unsupported + categorical</a:t>
            </a:r>
            <a:endParaRPr lang="en-US" sz="1400" dirty="0"/>
          </a:p>
        </p:txBody>
      </p:sp>
      <p:sp>
        <p:nvSpPr>
          <p:cNvPr id="28" name="Text 24"/>
          <p:cNvSpPr/>
          <p:nvPr/>
        </p:nvSpPr>
        <p:spPr>
          <a:xfrm>
            <a:off x="12307824" y="6903720"/>
            <a:ext cx="4992624" cy="640080"/>
          </a:xfrm>
          <a:prstGeom prst="rect">
            <a:avLst/>
          </a:prstGeom>
          <a:noFill/>
          <a:ln/>
        </p:spPr>
        <p:txBody>
          <a:bodyPr wrap="square" lIns="0" tIns="0" rIns="0" bIns="0" rtlCol="0" anchor="ctr"/>
          <a:lstStyle/>
          <a:p>
            <a:r>
              <a:rPr lang="en-US" sz="2200" b="1" dirty="0">
                <a:solidFill>
                  <a:srgbClr val="D4AF37"/>
                </a:solidFill>
                <a:latin typeface="Segoe UI" pitchFamily="34" charset="0"/>
                <a:ea typeface="Segoe UI" pitchFamily="34" charset="-122"/>
                <a:cs typeface="Segoe UI" pitchFamily="34" charset="-120"/>
              </a:rPr>
              <a:t>Escalate</a:t>
            </a:r>
            <a:endParaRPr lang="en-US" sz="2200" dirty="0"/>
          </a:p>
        </p:txBody>
      </p:sp>
      <p:sp>
        <p:nvSpPr>
          <p:cNvPr id="29" name="Text 25"/>
          <p:cNvSpPr/>
          <p:nvPr/>
        </p:nvSpPr>
        <p:spPr>
          <a:xfrm>
            <a:off x="950976" y="8138160"/>
            <a:ext cx="16386048" cy="329184"/>
          </a:xfrm>
          <a:prstGeom prst="rect">
            <a:avLst/>
          </a:prstGeom>
          <a:noFill/>
          <a:ln/>
        </p:spPr>
        <p:txBody>
          <a:bodyPr wrap="square" lIns="0" tIns="0" rIns="0" bIns="0" rtlCol="0" anchor="ctr"/>
          <a:lstStyle/>
          <a:p>
            <a:r>
              <a:rPr lang="en-US" sz="1500" dirty="0">
                <a:solidFill>
                  <a:srgbClr val="8892B0"/>
                </a:solidFill>
                <a:latin typeface="Segoe UI" pitchFamily="34" charset="0"/>
                <a:ea typeface="Segoe UI" pitchFamily="34" charset="-122"/>
                <a:cs typeface="Segoe UI" pitchFamily="34" charset="-120"/>
              </a:rPr>
              <a:t>Same plane. Three Round 2 use cases. Three actuators. The verdict is hostile. The action is proportionate.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12182A">
              <a:alpha val="30000"/>
            </a:srgbClr>
          </a:solidFill>
          <a:ln/>
        </p:spPr>
      </p:sp>
      <p:sp>
        <p:nvSpPr>
          <p:cNvPr id="3" name="Text 1"/>
          <p:cNvSpPr/>
          <p:nvPr/>
        </p:nvSpPr>
        <p:spPr>
          <a:xfrm>
            <a:off x="384048" y="402336"/>
            <a:ext cx="210312" cy="228600"/>
          </a:xfrm>
          <a:prstGeom prst="rect">
            <a:avLst/>
          </a:prstGeom>
          <a:noFill/>
          <a:ln/>
        </p:spPr>
        <p:txBody>
          <a:bodyPr wrap="square" lIns="0" tIns="0" rIns="0" bIns="0" rtlCol="0" anchor="ctr"/>
          <a:lstStyle/>
          <a:p>
            <a:r>
              <a:rPr lang="en-US" sz="1200" dirty="0">
                <a:solidFill>
                  <a:srgbClr val="C9A227"/>
                </a:solidFill>
                <a:latin typeface="Segoe UI" pitchFamily="34" charset="0"/>
                <a:ea typeface="Segoe UI" pitchFamily="34" charset="-122"/>
                <a:cs typeface="Segoe UI" pitchFamily="34" charset="-120"/>
              </a:rPr>
              <a:t>◢</a:t>
            </a:r>
            <a:endParaRPr lang="en-US" sz="1200" dirty="0"/>
          </a:p>
        </p:txBody>
      </p:sp>
      <p:sp>
        <p:nvSpPr>
          <p:cNvPr id="4" name="Text 2"/>
          <p:cNvSpPr/>
          <p:nvPr/>
        </p:nvSpPr>
        <p:spPr>
          <a:xfrm>
            <a:off x="621792" y="384048"/>
            <a:ext cx="3840480" cy="265176"/>
          </a:xfrm>
          <a:prstGeom prst="rect">
            <a:avLst/>
          </a:prstGeom>
          <a:noFill/>
          <a:ln/>
        </p:spPr>
        <p:txBody>
          <a:bodyPr wrap="square" lIns="0" tIns="0" rIns="0" bIns="0" rtlCol="0" anchor="ctr"/>
          <a:lstStyle/>
          <a:p>
            <a:r>
              <a:rPr lang="en-US" sz="1500" spc="150" kern="0" dirty="0">
                <a:solidFill>
                  <a:srgbClr val="F5F0EB"/>
                </a:solidFill>
                <a:latin typeface="Segoe UI" pitchFamily="34" charset="0"/>
                <a:ea typeface="Segoe UI" pitchFamily="34" charset="-122"/>
                <a:cs typeface="Segoe UI" pitchFamily="34" charset="-120"/>
              </a:rPr>
              <a:t>CONTROLPLANE//SYS</a:t>
            </a:r>
            <a:endParaRPr lang="en-US" sz="1500" dirty="0"/>
          </a:p>
        </p:txBody>
      </p:sp>
      <p:sp>
        <p:nvSpPr>
          <p:cNvPr id="5" name="Text 3"/>
          <p:cNvSpPr/>
          <p:nvPr/>
        </p:nvSpPr>
        <p:spPr>
          <a:xfrm>
            <a:off x="11521440" y="384048"/>
            <a:ext cx="6217920" cy="265176"/>
          </a:xfrm>
          <a:prstGeom prst="rect">
            <a:avLst/>
          </a:prstGeom>
          <a:noFill/>
          <a:ln/>
        </p:spPr>
        <p:txBody>
          <a:bodyPr wrap="square" lIns="0" tIns="0" rIns="0" bIns="0" rtlCol="0" anchor="ctr"/>
          <a:lstStyle/>
          <a:p>
            <a:pPr algn="r"/>
            <a:r>
              <a:rPr lang="en-US" sz="1500" spc="150" kern="0" dirty="0">
                <a:solidFill>
                  <a:srgbClr val="8892B0"/>
                </a:solidFill>
                <a:latin typeface="Segoe UI" pitchFamily="34" charset="0"/>
                <a:ea typeface="Segoe UI" pitchFamily="34" charset="-122"/>
                <a:cs typeface="Segoe UI" pitchFamily="34" charset="-120"/>
              </a:rPr>
              <a:t>11 // ROADMAP</a:t>
            </a:r>
            <a:endParaRPr lang="en-US" sz="1500" dirty="0"/>
          </a:p>
        </p:txBody>
      </p:sp>
      <p:sp>
        <p:nvSpPr>
          <p:cNvPr id="6" name="Text 4"/>
          <p:cNvSpPr/>
          <p:nvPr/>
        </p:nvSpPr>
        <p:spPr>
          <a:xfrm>
            <a:off x="17775936" y="402336"/>
            <a:ext cx="210312" cy="228600"/>
          </a:xfrm>
          <a:prstGeom prst="rect">
            <a:avLst/>
          </a:prstGeom>
          <a:noFill/>
          <a:ln/>
        </p:spPr>
        <p:txBody>
          <a:bodyPr wrap="square" lIns="0" tIns="0" rIns="0" bIns="0" rtlCol="0" anchor="ctr"/>
          <a:lstStyle/>
          <a:p>
            <a:r>
              <a:rPr lang="en-US" sz="1200" dirty="0">
                <a:solidFill>
                  <a:srgbClr val="C9A227"/>
                </a:solidFill>
                <a:latin typeface="Segoe UI" pitchFamily="34" charset="0"/>
                <a:ea typeface="Segoe UI" pitchFamily="34" charset="-122"/>
                <a:cs typeface="Segoe UI" pitchFamily="34" charset="-120"/>
              </a:rPr>
              <a:t>◣</a:t>
            </a:r>
            <a:endParaRPr lang="en-US" sz="1200" dirty="0"/>
          </a:p>
        </p:txBody>
      </p:sp>
      <p:sp>
        <p:nvSpPr>
          <p:cNvPr id="7" name="Shape 5"/>
          <p:cNvSpPr/>
          <p:nvPr/>
        </p:nvSpPr>
        <p:spPr>
          <a:xfrm>
            <a:off x="384048" y="9747504"/>
            <a:ext cx="91440" cy="91440"/>
          </a:xfrm>
          <a:prstGeom prst="rect">
            <a:avLst/>
          </a:prstGeom>
          <a:solidFill>
            <a:srgbClr val="C9A227"/>
          </a:solidFill>
          <a:ln/>
        </p:spPr>
      </p:sp>
      <p:sp>
        <p:nvSpPr>
          <p:cNvPr id="8" name="Text 6"/>
          <p:cNvSpPr/>
          <p:nvPr/>
        </p:nvSpPr>
        <p:spPr>
          <a:xfrm>
            <a:off x="566928" y="9683496"/>
            <a:ext cx="2194560" cy="265176"/>
          </a:xfrm>
          <a:prstGeom prst="rect">
            <a:avLst/>
          </a:prstGeom>
          <a:noFill/>
          <a:ln/>
        </p:spPr>
        <p:txBody>
          <a:bodyPr wrap="square" lIns="0" tIns="0" rIns="0" bIns="0" rtlCol="0" anchor="ctr"/>
          <a:lstStyle/>
          <a:p>
            <a:r>
              <a:rPr lang="en-US" sz="1500" dirty="0">
                <a:solidFill>
                  <a:srgbClr val="8892B0"/>
                </a:solidFill>
                <a:latin typeface="Segoe UI" pitchFamily="34" charset="0"/>
                <a:ea typeface="Segoe UI" pitchFamily="34" charset="-122"/>
                <a:cs typeface="Segoe UI" pitchFamily="34" charset="-120"/>
              </a:rPr>
              <a:t>ADMIT//PROVE</a:t>
            </a:r>
            <a:endParaRPr lang="en-US" sz="1500" dirty="0"/>
          </a:p>
        </p:txBody>
      </p:sp>
      <p:sp>
        <p:nvSpPr>
          <p:cNvPr id="9" name="Text 7"/>
          <p:cNvSpPr/>
          <p:nvPr/>
        </p:nvSpPr>
        <p:spPr>
          <a:xfrm>
            <a:off x="13350240" y="9683496"/>
            <a:ext cx="4480560" cy="265176"/>
          </a:xfrm>
          <a:prstGeom prst="rect">
            <a:avLst/>
          </a:prstGeom>
          <a:noFill/>
          <a:ln/>
        </p:spPr>
        <p:txBody>
          <a:bodyPr wrap="square" lIns="0" tIns="0" rIns="0" bIns="0" rtlCol="0" anchor="ctr"/>
          <a:lstStyle/>
          <a:p>
            <a:pPr algn="r"/>
            <a:r>
              <a:rPr lang="en-US" sz="1500" spc="150" kern="0" dirty="0">
                <a:solidFill>
                  <a:srgbClr val="8892B0"/>
                </a:solidFill>
                <a:latin typeface="Segoe UI" pitchFamily="34" charset="0"/>
                <a:ea typeface="Segoe UI" pitchFamily="34" charset="-122"/>
                <a:cs typeface="Segoe UI" pitchFamily="34" charset="-120"/>
              </a:rPr>
              <a:t>AIC.2026 · PS #1 · IITGN</a:t>
            </a:r>
            <a:endParaRPr lang="en-US" sz="1500" dirty="0"/>
          </a:p>
        </p:txBody>
      </p:sp>
      <p:sp>
        <p:nvSpPr>
          <p:cNvPr id="11" name="Text 8"/>
          <p:cNvSpPr/>
          <p:nvPr/>
        </p:nvSpPr>
        <p:spPr>
          <a:xfrm>
            <a:off x="950976" y="914400"/>
            <a:ext cx="12801600" cy="265176"/>
          </a:xfrm>
          <a:prstGeom prst="rect">
            <a:avLst/>
          </a:prstGeom>
          <a:noFill/>
          <a:ln/>
        </p:spPr>
        <p:txBody>
          <a:bodyPr wrap="square" lIns="0" tIns="0" rIns="0" bIns="0" rtlCol="0" anchor="ctr"/>
          <a:lstStyle/>
          <a:p>
            <a:pPr algn="l"/>
            <a:r>
              <a:rPr lang="en-US" sz="1500" spc="300" kern="0" dirty="0">
                <a:solidFill>
                  <a:srgbClr val="C9A227"/>
                </a:solidFill>
                <a:latin typeface="Segoe UI" pitchFamily="34" charset="0"/>
                <a:ea typeface="Segoe UI" pitchFamily="34" charset="-122"/>
                <a:cs typeface="Segoe UI" pitchFamily="34" charset="-120"/>
              </a:rPr>
              <a:t>11 · BUSINESS CASE + ROADMAP</a:t>
            </a:r>
            <a:endParaRPr lang="en-US" sz="1500" dirty="0"/>
          </a:p>
        </p:txBody>
      </p:sp>
      <p:sp>
        <p:nvSpPr>
          <p:cNvPr id="12" name="Text 9"/>
          <p:cNvSpPr/>
          <p:nvPr/>
        </p:nvSpPr>
        <p:spPr>
          <a:xfrm>
            <a:off x="950976" y="1207008"/>
            <a:ext cx="11155680" cy="475488"/>
          </a:xfrm>
          <a:prstGeom prst="rect">
            <a:avLst/>
          </a:prstGeom>
          <a:noFill/>
          <a:ln/>
        </p:spPr>
        <p:txBody>
          <a:bodyPr wrap="square" lIns="0" tIns="0" rIns="0" bIns="0" rtlCol="0" anchor="t"/>
          <a:lstStyle/>
          <a:p>
            <a:pPr algn="l"/>
            <a:r>
              <a:rPr lang="en-US" sz="2800" b="1" spc="-75" kern="0" dirty="0">
                <a:solidFill>
                  <a:srgbClr val="F5F0EB"/>
                </a:solidFill>
                <a:latin typeface="Segoe UI" pitchFamily="34" charset="0"/>
                <a:ea typeface="Segoe UI" pitchFamily="34" charset="-122"/>
                <a:cs typeface="Segoe UI" pitchFamily="34" charset="-120"/>
              </a:rPr>
              <a:t>BUDGET FOLLOWS </a:t>
            </a:r>
            <a:pPr algn="l"/>
            <a:r>
              <a:rPr lang="en-US" sz="2800" b="1" spc="-75" kern="0" dirty="0">
                <a:solidFill>
                  <a:srgbClr val="C9A227"/>
                </a:solidFill>
                <a:latin typeface="Segoe UI" pitchFamily="34" charset="0"/>
                <a:ea typeface="Segoe UI" pitchFamily="34" charset="-122"/>
                <a:cs typeface="Segoe UI" pitchFamily="34" charset="-120"/>
              </a:rPr>
              <a:t>BLAST RADIUS</a:t>
            </a:r>
            <a:pPr algn="l"/>
            <a:r>
              <a:rPr lang="en-US" sz="2800" b="1" spc="-75" kern="0" dirty="0">
                <a:solidFill>
                  <a:srgbClr val="F5F0EB"/>
                </a:solidFill>
                <a:latin typeface="Segoe UI" pitchFamily="34" charset="0"/>
                <a:ea typeface="Segoe UI" pitchFamily="34" charset="-122"/>
                <a:cs typeface="Segoe UI" pitchFamily="34" charset="-120"/>
              </a:rPr>
              <a:t>.</a:t>
            </a:r>
            <a:endParaRPr lang="en-US" sz="2800" dirty="0"/>
          </a:p>
        </p:txBody>
      </p:sp>
      <p:sp>
        <p:nvSpPr>
          <p:cNvPr id="13" name="Text 10"/>
          <p:cNvSpPr/>
          <p:nvPr/>
        </p:nvSpPr>
        <p:spPr>
          <a:xfrm>
            <a:off x="12252960" y="1170432"/>
            <a:ext cx="5084064" cy="438912"/>
          </a:xfrm>
          <a:prstGeom prst="rect">
            <a:avLst/>
          </a:prstGeom>
          <a:noFill/>
          <a:ln/>
        </p:spPr>
        <p:txBody>
          <a:bodyPr wrap="square" lIns="0" tIns="0" rIns="0" bIns="0" rtlCol="0" anchor="ctr"/>
          <a:lstStyle/>
          <a:p>
            <a:pPr algn="r"/>
            <a:r>
              <a:rPr lang="en-US" sz="2400" b="1" dirty="0">
                <a:solidFill>
                  <a:srgbClr val="F5F0EB"/>
                </a:solidFill>
                <a:latin typeface="Segoe UI" pitchFamily="34" charset="0"/>
                <a:ea typeface="Segoe UI" pitchFamily="34" charset="-122"/>
                <a:cs typeface="Segoe UI" pitchFamily="34" charset="-120"/>
              </a:rPr>
              <a:t>Tens of thousands / week  (directional)</a:t>
            </a:r>
            <a:endParaRPr lang="en-US" sz="2400" dirty="0"/>
          </a:p>
        </p:txBody>
      </p:sp>
      <p:sp>
        <p:nvSpPr>
          <p:cNvPr id="14" name="Text 11"/>
          <p:cNvSpPr/>
          <p:nvPr/>
        </p:nvSpPr>
        <p:spPr>
          <a:xfrm>
            <a:off x="12252960" y="1609344"/>
            <a:ext cx="5084064" cy="256032"/>
          </a:xfrm>
          <a:prstGeom prst="rect">
            <a:avLst/>
          </a:prstGeom>
          <a:noFill/>
          <a:ln/>
        </p:spPr>
        <p:txBody>
          <a:bodyPr wrap="square" lIns="0" tIns="0" rIns="0" bIns="0" rtlCol="0" anchor="ctr"/>
          <a:lstStyle/>
          <a:p>
            <a:pPr algn="r"/>
            <a:r>
              <a:rPr lang="en-US" sz="1100" spc="60" kern="0" dirty="0">
                <a:solidFill>
                  <a:srgbClr val="8892B0"/>
                </a:solidFill>
                <a:latin typeface="Segoe UI" pitchFamily="34" charset="0"/>
                <a:ea typeface="Segoe UI" pitchFamily="34" charset="-122"/>
                <a:cs typeface="Segoe UI" pitchFamily="34" charset="-120"/>
              </a:rPr>
              <a:t>DIRECTIONAL  ·  R0/R1 ≈ 80–90%  →  LANE 1</a:t>
            </a:r>
            <a:endParaRPr lang="en-US" sz="1100" dirty="0"/>
          </a:p>
        </p:txBody>
      </p:sp>
      <p:sp>
        <p:nvSpPr>
          <p:cNvPr id="15" name="Shape 12"/>
          <p:cNvSpPr/>
          <p:nvPr/>
        </p:nvSpPr>
        <p:spPr>
          <a:xfrm>
            <a:off x="950976" y="1975104"/>
            <a:ext cx="5394960" cy="2011680"/>
          </a:xfrm>
          <a:prstGeom prst="rect">
            <a:avLst/>
          </a:prstGeom>
          <a:solidFill>
            <a:srgbClr val="0F1525"/>
          </a:solidFill>
          <a:ln w="8636">
            <a:solidFill>
              <a:srgbClr val="1E2A3D"/>
            </a:solidFill>
            <a:prstDash val="solid"/>
          </a:ln>
        </p:spPr>
      </p:sp>
      <p:sp>
        <p:nvSpPr>
          <p:cNvPr id="16" name="Shape 13"/>
          <p:cNvSpPr/>
          <p:nvPr/>
        </p:nvSpPr>
        <p:spPr>
          <a:xfrm>
            <a:off x="950976" y="1975104"/>
            <a:ext cx="5394960" cy="41148"/>
          </a:xfrm>
          <a:prstGeom prst="rect">
            <a:avLst/>
          </a:prstGeom>
          <a:solidFill>
            <a:srgbClr val="C9A227"/>
          </a:solidFill>
          <a:ln/>
        </p:spPr>
      </p:sp>
      <p:sp>
        <p:nvSpPr>
          <p:cNvPr id="17" name="Text 14"/>
          <p:cNvSpPr/>
          <p:nvPr/>
        </p:nvSpPr>
        <p:spPr>
          <a:xfrm>
            <a:off x="1152144" y="2103120"/>
            <a:ext cx="4992624" cy="256032"/>
          </a:xfrm>
          <a:prstGeom prst="rect">
            <a:avLst/>
          </a:prstGeom>
          <a:noFill/>
          <a:ln/>
        </p:spPr>
        <p:txBody>
          <a:bodyPr wrap="square" lIns="0" tIns="0" rIns="0" bIns="0" rtlCol="0" anchor="ctr"/>
          <a:lstStyle/>
          <a:p>
            <a:r>
              <a:rPr lang="en-US" sz="1200" spc="140" kern="0" dirty="0">
                <a:solidFill>
                  <a:srgbClr val="C9A227"/>
                </a:solidFill>
                <a:latin typeface="Segoe UI" pitchFamily="34" charset="0"/>
                <a:ea typeface="Segoe UI" pitchFamily="34" charset="-122"/>
                <a:cs typeface="Segoe UI" pitchFamily="34" charset="-120"/>
              </a:rPr>
              <a:t>01</a:t>
            </a:r>
            <a:endParaRPr lang="en-US" sz="1200" dirty="0"/>
          </a:p>
        </p:txBody>
      </p:sp>
      <p:sp>
        <p:nvSpPr>
          <p:cNvPr id="18" name="Text 15"/>
          <p:cNvSpPr/>
          <p:nvPr/>
        </p:nvSpPr>
        <p:spPr>
          <a:xfrm>
            <a:off x="1152144" y="2377440"/>
            <a:ext cx="4992624" cy="640080"/>
          </a:xfrm>
          <a:prstGeom prst="rect">
            <a:avLst/>
          </a:prstGeom>
          <a:noFill/>
          <a:ln/>
        </p:spPr>
        <p:txBody>
          <a:bodyPr wrap="square" lIns="0" tIns="0" rIns="0" bIns="0" rtlCol="0" anchor="ctr"/>
          <a:lstStyle/>
          <a:p>
            <a:r>
              <a:rPr lang="en-US" sz="1500" b="1" dirty="0">
                <a:solidFill>
                  <a:srgbClr val="F5F0EB"/>
                </a:solidFill>
                <a:latin typeface="Segoe UI" pitchFamily="34" charset="0"/>
                <a:ea typeface="Segoe UI" pitchFamily="34" charset="-122"/>
                <a:cs typeface="Segoe UI" pitchFamily="34" charset="-120"/>
              </a:rPr>
              <a:t>HELD IRREVERSIBLE ACTIONS</a:t>
            </a:r>
            <a:endParaRPr lang="en-US" sz="1500" dirty="0"/>
          </a:p>
        </p:txBody>
      </p:sp>
      <p:sp>
        <p:nvSpPr>
          <p:cNvPr id="19" name="Text 16"/>
          <p:cNvSpPr/>
          <p:nvPr/>
        </p:nvSpPr>
        <p:spPr>
          <a:xfrm>
            <a:off x="1152144" y="3035808"/>
            <a:ext cx="4992624" cy="731520"/>
          </a:xfrm>
          <a:prstGeom prst="rect">
            <a:avLst/>
          </a:prstGeom>
          <a:noFill/>
          <a:ln/>
        </p:spPr>
        <p:txBody>
          <a:bodyPr wrap="square" lIns="0" tIns="0" rIns="0" bIns="0" rtlCol="0" anchor="t"/>
          <a:lstStyle/>
          <a:p>
            <a:r>
              <a:rPr lang="en-US" sz="1400" dirty="0">
                <a:solidFill>
                  <a:srgbClr val="D0C8B8"/>
                </a:solidFill>
                <a:latin typeface="Segoe UI" pitchFamily="34" charset="0"/>
                <a:ea typeface="Segoe UI" pitchFamily="34" charset="-122"/>
                <a:cs typeface="Segoe UI" pitchFamily="34" charset="-120"/>
              </a:rPr>
              <a:t>R3 × unsupported-categorical → held packet, not a Tuesday payout.</a:t>
            </a:r>
            <a:endParaRPr lang="en-US" sz="1400" dirty="0"/>
          </a:p>
        </p:txBody>
      </p:sp>
      <p:sp>
        <p:nvSpPr>
          <p:cNvPr id="20" name="Shape 17"/>
          <p:cNvSpPr/>
          <p:nvPr/>
        </p:nvSpPr>
        <p:spPr>
          <a:xfrm>
            <a:off x="6528816" y="1975104"/>
            <a:ext cx="5394960" cy="2011680"/>
          </a:xfrm>
          <a:prstGeom prst="rect">
            <a:avLst/>
          </a:prstGeom>
          <a:solidFill>
            <a:srgbClr val="0F1525"/>
          </a:solidFill>
          <a:ln w="8636">
            <a:solidFill>
              <a:srgbClr val="1E2A3D"/>
            </a:solidFill>
            <a:prstDash val="solid"/>
          </a:ln>
        </p:spPr>
      </p:sp>
      <p:sp>
        <p:nvSpPr>
          <p:cNvPr id="21" name="Shape 18"/>
          <p:cNvSpPr/>
          <p:nvPr/>
        </p:nvSpPr>
        <p:spPr>
          <a:xfrm>
            <a:off x="6528816" y="1975104"/>
            <a:ext cx="5394960" cy="41148"/>
          </a:xfrm>
          <a:prstGeom prst="rect">
            <a:avLst/>
          </a:prstGeom>
          <a:solidFill>
            <a:srgbClr val="C9A227"/>
          </a:solidFill>
          <a:ln/>
        </p:spPr>
      </p:sp>
      <p:sp>
        <p:nvSpPr>
          <p:cNvPr id="22" name="Text 19"/>
          <p:cNvSpPr/>
          <p:nvPr/>
        </p:nvSpPr>
        <p:spPr>
          <a:xfrm>
            <a:off x="6729984" y="2103120"/>
            <a:ext cx="4992624" cy="256032"/>
          </a:xfrm>
          <a:prstGeom prst="rect">
            <a:avLst/>
          </a:prstGeom>
          <a:noFill/>
          <a:ln/>
        </p:spPr>
        <p:txBody>
          <a:bodyPr wrap="square" lIns="0" tIns="0" rIns="0" bIns="0" rtlCol="0" anchor="ctr"/>
          <a:lstStyle/>
          <a:p>
            <a:r>
              <a:rPr lang="en-US" sz="1200" spc="140" kern="0" dirty="0">
                <a:solidFill>
                  <a:srgbClr val="C9A227"/>
                </a:solidFill>
                <a:latin typeface="Segoe UI" pitchFamily="34" charset="0"/>
                <a:ea typeface="Segoe UI" pitchFamily="34" charset="-122"/>
                <a:cs typeface="Segoe UI" pitchFamily="34" charset="-120"/>
              </a:rPr>
              <a:t>02</a:t>
            </a:r>
            <a:endParaRPr lang="en-US" sz="1200" dirty="0"/>
          </a:p>
        </p:txBody>
      </p:sp>
      <p:sp>
        <p:nvSpPr>
          <p:cNvPr id="23" name="Text 20"/>
          <p:cNvSpPr/>
          <p:nvPr/>
        </p:nvSpPr>
        <p:spPr>
          <a:xfrm>
            <a:off x="6729984" y="2377440"/>
            <a:ext cx="4992624" cy="640080"/>
          </a:xfrm>
          <a:prstGeom prst="rect">
            <a:avLst/>
          </a:prstGeom>
          <a:noFill/>
          <a:ln/>
        </p:spPr>
        <p:txBody>
          <a:bodyPr wrap="square" lIns="0" tIns="0" rIns="0" bIns="0" rtlCol="0" anchor="ctr"/>
          <a:lstStyle/>
          <a:p>
            <a:r>
              <a:rPr lang="en-US" sz="1500" b="1" dirty="0">
                <a:solidFill>
                  <a:srgbClr val="F5F0EB"/>
                </a:solidFill>
                <a:latin typeface="Segoe UI" pitchFamily="34" charset="0"/>
                <a:ea typeface="Segoe UI" pitchFamily="34" charset="-122"/>
                <a:cs typeface="Segoe UI" pitchFamily="34" charset="-120"/>
              </a:rPr>
              <a:t>ENTITLEMENT INCIDENTS PREVENTED</a:t>
            </a:r>
            <a:endParaRPr lang="en-US" sz="1500" dirty="0"/>
          </a:p>
        </p:txBody>
      </p:sp>
      <p:sp>
        <p:nvSpPr>
          <p:cNvPr id="24" name="Text 21"/>
          <p:cNvSpPr/>
          <p:nvPr/>
        </p:nvSpPr>
        <p:spPr>
          <a:xfrm>
            <a:off x="6729984" y="3035808"/>
            <a:ext cx="4992624" cy="731520"/>
          </a:xfrm>
          <a:prstGeom prst="rect">
            <a:avLst/>
          </a:prstGeom>
          <a:noFill/>
          <a:ln/>
        </p:spPr>
        <p:txBody>
          <a:bodyPr wrap="square" lIns="0" tIns="0" rIns="0" bIns="0" rtlCol="0" anchor="t"/>
          <a:lstStyle/>
          <a:p>
            <a:r>
              <a:rPr lang="en-US" sz="1400" dirty="0">
                <a:solidFill>
                  <a:srgbClr val="D0C8B8"/>
                </a:solidFill>
                <a:latin typeface="Segoe UI" pitchFamily="34" charset="0"/>
                <a:ea typeface="Segoe UI" pitchFamily="34" charset="-122"/>
                <a:cs typeface="Segoe UI" pitchFamily="34" charset="-120"/>
              </a:rPr>
              <a:t>Over-permissioned index × wrong caller → Edit/Block, microseconds.</a:t>
            </a:r>
            <a:endParaRPr lang="en-US" sz="1400" dirty="0"/>
          </a:p>
        </p:txBody>
      </p:sp>
      <p:sp>
        <p:nvSpPr>
          <p:cNvPr id="25" name="Shape 22"/>
          <p:cNvSpPr/>
          <p:nvPr/>
        </p:nvSpPr>
        <p:spPr>
          <a:xfrm>
            <a:off x="12106656" y="1975104"/>
            <a:ext cx="5394960" cy="2011680"/>
          </a:xfrm>
          <a:prstGeom prst="rect">
            <a:avLst/>
          </a:prstGeom>
          <a:solidFill>
            <a:srgbClr val="0F1525"/>
          </a:solidFill>
          <a:ln w="8636">
            <a:solidFill>
              <a:srgbClr val="1E2A3D"/>
            </a:solidFill>
            <a:prstDash val="solid"/>
          </a:ln>
        </p:spPr>
      </p:sp>
      <p:sp>
        <p:nvSpPr>
          <p:cNvPr id="26" name="Shape 23"/>
          <p:cNvSpPr/>
          <p:nvPr/>
        </p:nvSpPr>
        <p:spPr>
          <a:xfrm>
            <a:off x="12106656" y="1975104"/>
            <a:ext cx="5394960" cy="41148"/>
          </a:xfrm>
          <a:prstGeom prst="rect">
            <a:avLst/>
          </a:prstGeom>
          <a:solidFill>
            <a:srgbClr val="C9A227"/>
          </a:solidFill>
          <a:ln/>
        </p:spPr>
      </p:sp>
      <p:sp>
        <p:nvSpPr>
          <p:cNvPr id="27" name="Text 24"/>
          <p:cNvSpPr/>
          <p:nvPr/>
        </p:nvSpPr>
        <p:spPr>
          <a:xfrm>
            <a:off x="12307824" y="2103120"/>
            <a:ext cx="4992624" cy="256032"/>
          </a:xfrm>
          <a:prstGeom prst="rect">
            <a:avLst/>
          </a:prstGeom>
          <a:noFill/>
          <a:ln/>
        </p:spPr>
        <p:txBody>
          <a:bodyPr wrap="square" lIns="0" tIns="0" rIns="0" bIns="0" rtlCol="0" anchor="ctr"/>
          <a:lstStyle/>
          <a:p>
            <a:r>
              <a:rPr lang="en-US" sz="1200" spc="140" kern="0" dirty="0">
                <a:solidFill>
                  <a:srgbClr val="C9A227"/>
                </a:solidFill>
                <a:latin typeface="Segoe UI" pitchFamily="34" charset="0"/>
                <a:ea typeface="Segoe UI" pitchFamily="34" charset="-122"/>
                <a:cs typeface="Segoe UI" pitchFamily="34" charset="-120"/>
              </a:rPr>
              <a:t>03</a:t>
            </a:r>
            <a:endParaRPr lang="en-US" sz="1200" dirty="0"/>
          </a:p>
        </p:txBody>
      </p:sp>
      <p:sp>
        <p:nvSpPr>
          <p:cNvPr id="28" name="Text 25"/>
          <p:cNvSpPr/>
          <p:nvPr/>
        </p:nvSpPr>
        <p:spPr>
          <a:xfrm>
            <a:off x="12307824" y="2377440"/>
            <a:ext cx="4992624" cy="640080"/>
          </a:xfrm>
          <a:prstGeom prst="rect">
            <a:avLst/>
          </a:prstGeom>
          <a:noFill/>
          <a:ln/>
        </p:spPr>
        <p:txBody>
          <a:bodyPr wrap="square" lIns="0" tIns="0" rIns="0" bIns="0" rtlCol="0" anchor="ctr"/>
          <a:lstStyle/>
          <a:p>
            <a:r>
              <a:rPr lang="en-US" sz="1500" b="1" dirty="0">
                <a:solidFill>
                  <a:srgbClr val="F5F0EB"/>
                </a:solidFill>
                <a:latin typeface="Segoe UI" pitchFamily="34" charset="0"/>
                <a:ea typeface="Segoe UI" pitchFamily="34" charset="-122"/>
                <a:cs typeface="Segoe UI" pitchFamily="34" charset="-120"/>
              </a:rPr>
              <a:t>DEAD COMPUTE, NAMED</a:t>
            </a:r>
            <a:endParaRPr lang="en-US" sz="1500" dirty="0"/>
          </a:p>
        </p:txBody>
      </p:sp>
      <p:sp>
        <p:nvSpPr>
          <p:cNvPr id="29" name="Text 26"/>
          <p:cNvSpPr/>
          <p:nvPr/>
        </p:nvSpPr>
        <p:spPr>
          <a:xfrm>
            <a:off x="12307824" y="3035808"/>
            <a:ext cx="4992624" cy="731520"/>
          </a:xfrm>
          <a:prstGeom prst="rect">
            <a:avLst/>
          </a:prstGeom>
          <a:noFill/>
          <a:ln/>
        </p:spPr>
        <p:txBody>
          <a:bodyPr wrap="square" lIns="0" tIns="0" rIns="0" bIns="0" rtlCol="0" anchor="t"/>
          <a:lstStyle/>
          <a:p>
            <a:r>
              <a:rPr lang="en-US" sz="1400" dirty="0">
                <a:solidFill>
                  <a:srgbClr val="D0C8B8"/>
                </a:solidFill>
                <a:latin typeface="Segoe UI" pitchFamily="34" charset="0"/>
                <a:ea typeface="Segoe UI" pitchFamily="34" charset="-122"/>
                <a:cs typeface="Segoe UI" pitchFamily="34" charset="-120"/>
              </a:rPr>
              <a:t>Walk the graph backward: steps that grounded zero accepted claims.</a:t>
            </a:r>
            <a:endParaRPr lang="en-US" sz="1400" dirty="0"/>
          </a:p>
        </p:txBody>
      </p:sp>
      <p:sp>
        <p:nvSpPr>
          <p:cNvPr id="30" name="Shape 27"/>
          <p:cNvSpPr/>
          <p:nvPr/>
        </p:nvSpPr>
        <p:spPr>
          <a:xfrm>
            <a:off x="950976" y="4151376"/>
            <a:ext cx="4114800" cy="2606040"/>
          </a:xfrm>
          <a:prstGeom prst="rect">
            <a:avLst/>
          </a:prstGeom>
          <a:solidFill>
            <a:srgbClr val="0F1525"/>
          </a:solidFill>
          <a:ln w="8636">
            <a:solidFill>
              <a:srgbClr val="1E2A3D"/>
            </a:solidFill>
            <a:prstDash val="solid"/>
          </a:ln>
        </p:spPr>
      </p:sp>
      <p:sp>
        <p:nvSpPr>
          <p:cNvPr id="31" name="Text 28"/>
          <p:cNvSpPr/>
          <p:nvPr/>
        </p:nvSpPr>
        <p:spPr>
          <a:xfrm>
            <a:off x="1133856" y="4279392"/>
            <a:ext cx="3749040" cy="237744"/>
          </a:xfrm>
          <a:prstGeom prst="rect">
            <a:avLst/>
          </a:prstGeom>
          <a:noFill/>
          <a:ln/>
        </p:spPr>
        <p:txBody>
          <a:bodyPr wrap="square" lIns="0" tIns="0" rIns="0" bIns="0" rtlCol="0" anchor="ctr"/>
          <a:lstStyle/>
          <a:p>
            <a:r>
              <a:rPr lang="en-US" sz="1200" spc="140" kern="0" dirty="0">
                <a:solidFill>
                  <a:srgbClr val="C9A227"/>
                </a:solidFill>
                <a:latin typeface="Segoe UI" pitchFamily="34" charset="0"/>
                <a:ea typeface="Segoe UI" pitchFamily="34" charset="-122"/>
                <a:cs typeface="Segoe UI" pitchFamily="34" charset="-120"/>
              </a:rPr>
              <a:t>PHASE 0</a:t>
            </a:r>
            <a:endParaRPr lang="en-US" sz="1200" dirty="0"/>
          </a:p>
        </p:txBody>
      </p:sp>
      <p:sp>
        <p:nvSpPr>
          <p:cNvPr id="32" name="Text 29"/>
          <p:cNvSpPr/>
          <p:nvPr/>
        </p:nvSpPr>
        <p:spPr>
          <a:xfrm>
            <a:off x="1133856" y="4535424"/>
            <a:ext cx="3749040" cy="347472"/>
          </a:xfrm>
          <a:prstGeom prst="rect">
            <a:avLst/>
          </a:prstGeom>
          <a:noFill/>
          <a:ln/>
        </p:spPr>
        <p:txBody>
          <a:bodyPr wrap="square" lIns="0" tIns="0" rIns="0" bIns="0" rtlCol="0" anchor="ctr"/>
          <a:lstStyle/>
          <a:p>
            <a:r>
              <a:rPr lang="en-US" sz="1600" b="1" dirty="0">
                <a:solidFill>
                  <a:srgbClr val="F5F0EB"/>
                </a:solidFill>
                <a:latin typeface="Segoe UI" pitchFamily="34" charset="0"/>
                <a:ea typeface="Segoe UI" pitchFamily="34" charset="-122"/>
                <a:cs typeface="Segoe UI" pitchFamily="34" charset="-120"/>
              </a:rPr>
              <a:t>SHADOW</a:t>
            </a:r>
            <a:endParaRPr lang="en-US" sz="1600" dirty="0"/>
          </a:p>
        </p:txBody>
      </p:sp>
      <p:sp>
        <p:nvSpPr>
          <p:cNvPr id="33" name="Text 30"/>
          <p:cNvSpPr/>
          <p:nvPr/>
        </p:nvSpPr>
        <p:spPr>
          <a:xfrm>
            <a:off x="1133856" y="4901184"/>
            <a:ext cx="3749040" cy="256032"/>
          </a:xfrm>
          <a:prstGeom prst="rect">
            <a:avLst/>
          </a:prstGeom>
          <a:noFill/>
          <a:ln/>
        </p:spPr>
        <p:txBody>
          <a:bodyPr wrap="square" lIns="0" tIns="0" rIns="0" bIns="0" rtlCol="0" anchor="ctr"/>
          <a:lstStyle/>
          <a:p>
            <a:r>
              <a:rPr lang="en-US" sz="1300" dirty="0">
                <a:solidFill>
                  <a:srgbClr val="D4AF37"/>
                </a:solidFill>
                <a:latin typeface="Segoe UI" pitchFamily="34" charset="0"/>
                <a:ea typeface="Segoe UI" pitchFamily="34" charset="-122"/>
                <a:cs typeface="Segoe UI" pitchFamily="34" charset="-120"/>
              </a:rPr>
              <a:t>weeks 0–6</a:t>
            </a:r>
            <a:endParaRPr lang="en-US" sz="1300" dirty="0"/>
          </a:p>
        </p:txBody>
      </p:sp>
      <p:sp>
        <p:nvSpPr>
          <p:cNvPr id="34" name="Text 31"/>
          <p:cNvSpPr/>
          <p:nvPr/>
        </p:nvSpPr>
        <p:spPr>
          <a:xfrm>
            <a:off x="1133856" y="5230368"/>
            <a:ext cx="3749040" cy="1280160"/>
          </a:xfrm>
          <a:prstGeom prst="rect">
            <a:avLst/>
          </a:prstGeom>
          <a:noFill/>
          <a:ln/>
        </p:spPr>
        <p:txBody>
          <a:bodyPr wrap="square" lIns="0" tIns="0" rIns="0" bIns="0" rtlCol="0" anchor="t"/>
          <a:lstStyle/>
          <a:p>
            <a:r>
              <a:rPr lang="en-US" sz="1300" dirty="0">
                <a:solidFill>
                  <a:srgbClr val="D0C8B8"/>
                </a:solidFill>
                <a:latin typeface="Segoe UI" pitchFamily="34" charset="0"/>
                <a:ea typeface="Segoe UI" pitchFamily="34" charset="-122"/>
                <a:cs typeface="Segoe UI" pitchFamily="34" charset="-120"/>
              </a:rPr>
              <a:t>Proxy + SDK hook; dual-emit. Would have held N, of which M were true positives.</a:t>
            </a:r>
            <a:endParaRPr lang="en-US" sz="1300" dirty="0"/>
          </a:p>
        </p:txBody>
      </p:sp>
      <p:sp>
        <p:nvSpPr>
          <p:cNvPr id="35" name="Shape 32"/>
          <p:cNvSpPr/>
          <p:nvPr/>
        </p:nvSpPr>
        <p:spPr>
          <a:xfrm>
            <a:off x="5230368" y="4151376"/>
            <a:ext cx="4114800" cy="2606040"/>
          </a:xfrm>
          <a:prstGeom prst="rect">
            <a:avLst/>
          </a:prstGeom>
          <a:solidFill>
            <a:srgbClr val="0F1525"/>
          </a:solidFill>
          <a:ln w="8636">
            <a:solidFill>
              <a:srgbClr val="1E2A3D"/>
            </a:solidFill>
            <a:prstDash val="solid"/>
          </a:ln>
        </p:spPr>
      </p:sp>
      <p:sp>
        <p:nvSpPr>
          <p:cNvPr id="36" name="Text 33"/>
          <p:cNvSpPr/>
          <p:nvPr/>
        </p:nvSpPr>
        <p:spPr>
          <a:xfrm>
            <a:off x="5413248" y="4279392"/>
            <a:ext cx="3749040" cy="237744"/>
          </a:xfrm>
          <a:prstGeom prst="rect">
            <a:avLst/>
          </a:prstGeom>
          <a:noFill/>
          <a:ln/>
        </p:spPr>
        <p:txBody>
          <a:bodyPr wrap="square" lIns="0" tIns="0" rIns="0" bIns="0" rtlCol="0" anchor="ctr"/>
          <a:lstStyle/>
          <a:p>
            <a:r>
              <a:rPr lang="en-US" sz="1200" spc="140" kern="0" dirty="0">
                <a:solidFill>
                  <a:srgbClr val="C9A227"/>
                </a:solidFill>
                <a:latin typeface="Segoe UI" pitchFamily="34" charset="0"/>
                <a:ea typeface="Segoe UI" pitchFamily="34" charset="-122"/>
                <a:cs typeface="Segoe UI" pitchFamily="34" charset="-120"/>
              </a:rPr>
              <a:t>PHASE 1</a:t>
            </a:r>
            <a:endParaRPr lang="en-US" sz="1200" dirty="0"/>
          </a:p>
        </p:txBody>
      </p:sp>
      <p:sp>
        <p:nvSpPr>
          <p:cNvPr id="37" name="Text 34"/>
          <p:cNvSpPr/>
          <p:nvPr/>
        </p:nvSpPr>
        <p:spPr>
          <a:xfrm>
            <a:off x="5413248" y="4535424"/>
            <a:ext cx="3749040" cy="347472"/>
          </a:xfrm>
          <a:prstGeom prst="rect">
            <a:avLst/>
          </a:prstGeom>
          <a:noFill/>
          <a:ln/>
        </p:spPr>
        <p:txBody>
          <a:bodyPr wrap="square" lIns="0" tIns="0" rIns="0" bIns="0" rtlCol="0" anchor="ctr"/>
          <a:lstStyle/>
          <a:p>
            <a:r>
              <a:rPr lang="en-US" sz="1600" b="1" dirty="0">
                <a:solidFill>
                  <a:srgbClr val="F5F0EB"/>
                </a:solidFill>
                <a:latin typeface="Segoe UI" pitchFamily="34" charset="0"/>
                <a:ea typeface="Segoe UI" pitchFamily="34" charset="-122"/>
                <a:cs typeface="Segoe UI" pitchFamily="34" charset="-120"/>
              </a:rPr>
              <a:t>ENFORCE R3</a:t>
            </a:r>
            <a:endParaRPr lang="en-US" sz="1600" dirty="0"/>
          </a:p>
        </p:txBody>
      </p:sp>
      <p:sp>
        <p:nvSpPr>
          <p:cNvPr id="38" name="Text 35"/>
          <p:cNvSpPr/>
          <p:nvPr/>
        </p:nvSpPr>
        <p:spPr>
          <a:xfrm>
            <a:off x="5413248" y="4901184"/>
            <a:ext cx="3749040" cy="256032"/>
          </a:xfrm>
          <a:prstGeom prst="rect">
            <a:avLst/>
          </a:prstGeom>
          <a:noFill/>
          <a:ln/>
        </p:spPr>
        <p:txBody>
          <a:bodyPr wrap="square" lIns="0" tIns="0" rIns="0" bIns="0" rtlCol="0" anchor="ctr"/>
          <a:lstStyle/>
          <a:p>
            <a:r>
              <a:rPr lang="en-US" sz="1300" dirty="0">
                <a:solidFill>
                  <a:srgbClr val="D4AF37"/>
                </a:solidFill>
                <a:latin typeface="Segoe UI" pitchFamily="34" charset="0"/>
                <a:ea typeface="Segoe UI" pitchFamily="34" charset="-122"/>
                <a:cs typeface="Segoe UI" pitchFamily="34" charset="-120"/>
              </a:rPr>
              <a:t>weeks 6–12</a:t>
            </a:r>
            <a:endParaRPr lang="en-US" sz="1300" dirty="0"/>
          </a:p>
        </p:txBody>
      </p:sp>
      <p:sp>
        <p:nvSpPr>
          <p:cNvPr id="39" name="Text 36"/>
          <p:cNvSpPr/>
          <p:nvPr/>
        </p:nvSpPr>
        <p:spPr>
          <a:xfrm>
            <a:off x="5413248" y="5230368"/>
            <a:ext cx="3749040" cy="1280160"/>
          </a:xfrm>
          <a:prstGeom prst="rect">
            <a:avLst/>
          </a:prstGeom>
          <a:noFill/>
          <a:ln/>
        </p:spPr>
        <p:txBody>
          <a:bodyPr wrap="square" lIns="0" tIns="0" rIns="0" bIns="0" rtlCol="0" anchor="t"/>
          <a:lstStyle/>
          <a:p>
            <a:r>
              <a:rPr lang="en-US" sz="1300" dirty="0">
                <a:solidFill>
                  <a:srgbClr val="D0C8B8"/>
                </a:solidFill>
                <a:latin typeface="Segoe UI" pitchFamily="34" charset="0"/>
                <a:ea typeface="Segoe UI" pitchFamily="34" charset="-122"/>
                <a:cs typeface="Segoe UI" pitchFamily="34" charset="-120"/>
              </a:rPr>
              <a:t>Payments, deletion, publication, regulated advice. Fail closed or escalate.</a:t>
            </a:r>
            <a:endParaRPr lang="en-US" sz="1300" dirty="0"/>
          </a:p>
        </p:txBody>
      </p:sp>
      <p:sp>
        <p:nvSpPr>
          <p:cNvPr id="40" name="Shape 37"/>
          <p:cNvSpPr/>
          <p:nvPr/>
        </p:nvSpPr>
        <p:spPr>
          <a:xfrm>
            <a:off x="9509760" y="4151376"/>
            <a:ext cx="4114800" cy="2606040"/>
          </a:xfrm>
          <a:prstGeom prst="rect">
            <a:avLst/>
          </a:prstGeom>
          <a:solidFill>
            <a:srgbClr val="0F1525"/>
          </a:solidFill>
          <a:ln w="8636">
            <a:solidFill>
              <a:srgbClr val="1E2A3D"/>
            </a:solidFill>
            <a:prstDash val="solid"/>
          </a:ln>
        </p:spPr>
      </p:sp>
      <p:sp>
        <p:nvSpPr>
          <p:cNvPr id="41" name="Text 38"/>
          <p:cNvSpPr/>
          <p:nvPr/>
        </p:nvSpPr>
        <p:spPr>
          <a:xfrm>
            <a:off x="9692640" y="4279392"/>
            <a:ext cx="3749040" cy="237744"/>
          </a:xfrm>
          <a:prstGeom prst="rect">
            <a:avLst/>
          </a:prstGeom>
          <a:noFill/>
          <a:ln/>
        </p:spPr>
        <p:txBody>
          <a:bodyPr wrap="square" lIns="0" tIns="0" rIns="0" bIns="0" rtlCol="0" anchor="ctr"/>
          <a:lstStyle/>
          <a:p>
            <a:r>
              <a:rPr lang="en-US" sz="1200" spc="140" kern="0" dirty="0">
                <a:solidFill>
                  <a:srgbClr val="C9A227"/>
                </a:solidFill>
                <a:latin typeface="Segoe UI" pitchFamily="34" charset="0"/>
                <a:ea typeface="Segoe UI" pitchFamily="34" charset="-122"/>
                <a:cs typeface="Segoe UI" pitchFamily="34" charset="-120"/>
              </a:rPr>
              <a:t>PHASE 2</a:t>
            </a:r>
            <a:endParaRPr lang="en-US" sz="1200" dirty="0"/>
          </a:p>
        </p:txBody>
      </p:sp>
      <p:sp>
        <p:nvSpPr>
          <p:cNvPr id="42" name="Text 39"/>
          <p:cNvSpPr/>
          <p:nvPr/>
        </p:nvSpPr>
        <p:spPr>
          <a:xfrm>
            <a:off x="9692640" y="4535424"/>
            <a:ext cx="3749040" cy="347472"/>
          </a:xfrm>
          <a:prstGeom prst="rect">
            <a:avLst/>
          </a:prstGeom>
          <a:noFill/>
          <a:ln/>
        </p:spPr>
        <p:txBody>
          <a:bodyPr wrap="square" lIns="0" tIns="0" rIns="0" bIns="0" rtlCol="0" anchor="ctr"/>
          <a:lstStyle/>
          <a:p>
            <a:r>
              <a:rPr lang="en-US" sz="1600" b="1" dirty="0">
                <a:solidFill>
                  <a:srgbClr val="F5F0EB"/>
                </a:solidFill>
                <a:latin typeface="Segoe UI" pitchFamily="34" charset="0"/>
                <a:ea typeface="Segoe UI" pitchFamily="34" charset="-122"/>
                <a:cs typeface="Segoe UI" pitchFamily="34" charset="-120"/>
              </a:rPr>
              <a:t>ENFORCE R2</a:t>
            </a:r>
            <a:endParaRPr lang="en-US" sz="1600" dirty="0"/>
          </a:p>
        </p:txBody>
      </p:sp>
      <p:sp>
        <p:nvSpPr>
          <p:cNvPr id="43" name="Text 40"/>
          <p:cNvSpPr/>
          <p:nvPr/>
        </p:nvSpPr>
        <p:spPr>
          <a:xfrm>
            <a:off x="9692640" y="4901184"/>
            <a:ext cx="3749040" cy="256032"/>
          </a:xfrm>
          <a:prstGeom prst="rect">
            <a:avLst/>
          </a:prstGeom>
          <a:noFill/>
          <a:ln/>
        </p:spPr>
        <p:txBody>
          <a:bodyPr wrap="square" lIns="0" tIns="0" rIns="0" bIns="0" rtlCol="0" anchor="ctr"/>
          <a:lstStyle/>
          <a:p>
            <a:r>
              <a:rPr lang="en-US" sz="1300" dirty="0">
                <a:solidFill>
                  <a:srgbClr val="D4AF37"/>
                </a:solidFill>
                <a:latin typeface="Segoe UI" pitchFamily="34" charset="0"/>
                <a:ea typeface="Segoe UI" pitchFamily="34" charset="-122"/>
                <a:cs typeface="Segoe UI" pitchFamily="34" charset="-120"/>
              </a:rPr>
              <a:t>weeks 12–20</a:t>
            </a:r>
            <a:endParaRPr lang="en-US" sz="1300" dirty="0"/>
          </a:p>
        </p:txBody>
      </p:sp>
      <p:sp>
        <p:nvSpPr>
          <p:cNvPr id="44" name="Text 41"/>
          <p:cNvSpPr/>
          <p:nvPr/>
        </p:nvSpPr>
        <p:spPr>
          <a:xfrm>
            <a:off x="9692640" y="5230368"/>
            <a:ext cx="3749040" cy="1280160"/>
          </a:xfrm>
          <a:prstGeom prst="rect">
            <a:avLst/>
          </a:prstGeom>
          <a:noFill/>
          <a:ln/>
        </p:spPr>
        <p:txBody>
          <a:bodyPr wrap="square" lIns="0" tIns="0" rIns="0" bIns="0" rtlCol="0" anchor="t"/>
          <a:lstStyle/>
          <a:p>
            <a:r>
              <a:rPr lang="en-US" sz="1300" dirty="0">
                <a:solidFill>
                  <a:srgbClr val="D0C8B8"/>
                </a:solidFill>
                <a:latin typeface="Segoe UI" pitchFamily="34" charset="0"/>
                <a:ea typeface="Segoe UI" pitchFamily="34" charset="-122"/>
                <a:cs typeface="Segoe UI" pitchFamily="34" charset="-120"/>
              </a:rPr>
              <a:t>Reversible writes / external sends. Autonomy downgrade.</a:t>
            </a:r>
            <a:endParaRPr lang="en-US" sz="1300" dirty="0"/>
          </a:p>
        </p:txBody>
      </p:sp>
      <p:sp>
        <p:nvSpPr>
          <p:cNvPr id="45" name="Shape 42"/>
          <p:cNvSpPr/>
          <p:nvPr/>
        </p:nvSpPr>
        <p:spPr>
          <a:xfrm>
            <a:off x="13789152" y="4151376"/>
            <a:ext cx="4114800" cy="2606040"/>
          </a:xfrm>
          <a:prstGeom prst="rect">
            <a:avLst/>
          </a:prstGeom>
          <a:solidFill>
            <a:srgbClr val="0F1525"/>
          </a:solidFill>
          <a:ln w="8636">
            <a:solidFill>
              <a:srgbClr val="1E2A3D"/>
            </a:solidFill>
            <a:prstDash val="solid"/>
          </a:ln>
        </p:spPr>
      </p:sp>
      <p:sp>
        <p:nvSpPr>
          <p:cNvPr id="46" name="Text 43"/>
          <p:cNvSpPr/>
          <p:nvPr/>
        </p:nvSpPr>
        <p:spPr>
          <a:xfrm>
            <a:off x="13972032" y="4279392"/>
            <a:ext cx="3749040" cy="237744"/>
          </a:xfrm>
          <a:prstGeom prst="rect">
            <a:avLst/>
          </a:prstGeom>
          <a:noFill/>
          <a:ln/>
        </p:spPr>
        <p:txBody>
          <a:bodyPr wrap="square" lIns="0" tIns="0" rIns="0" bIns="0" rtlCol="0" anchor="ctr"/>
          <a:lstStyle/>
          <a:p>
            <a:r>
              <a:rPr lang="en-US" sz="1200" spc="140" kern="0" dirty="0">
                <a:solidFill>
                  <a:srgbClr val="C9A227"/>
                </a:solidFill>
                <a:latin typeface="Segoe UI" pitchFamily="34" charset="0"/>
                <a:ea typeface="Segoe UI" pitchFamily="34" charset="-122"/>
                <a:cs typeface="Segoe UI" pitchFamily="34" charset="-120"/>
              </a:rPr>
              <a:t>PHASE 3</a:t>
            </a:r>
            <a:endParaRPr lang="en-US" sz="1200" dirty="0"/>
          </a:p>
        </p:txBody>
      </p:sp>
      <p:sp>
        <p:nvSpPr>
          <p:cNvPr id="47" name="Text 44"/>
          <p:cNvSpPr/>
          <p:nvPr/>
        </p:nvSpPr>
        <p:spPr>
          <a:xfrm>
            <a:off x="13972032" y="4535424"/>
            <a:ext cx="3749040" cy="347472"/>
          </a:xfrm>
          <a:prstGeom prst="rect">
            <a:avLst/>
          </a:prstGeom>
          <a:noFill/>
          <a:ln/>
        </p:spPr>
        <p:txBody>
          <a:bodyPr wrap="square" lIns="0" tIns="0" rIns="0" bIns="0" rtlCol="0" anchor="ctr"/>
          <a:lstStyle/>
          <a:p>
            <a:r>
              <a:rPr lang="en-US" sz="1600" b="1" dirty="0">
                <a:solidFill>
                  <a:srgbClr val="F5F0EB"/>
                </a:solidFill>
                <a:latin typeface="Segoe UI" pitchFamily="34" charset="0"/>
                <a:ea typeface="Segoe UI" pitchFamily="34" charset="-122"/>
                <a:cs typeface="Segoe UI" pitchFamily="34" charset="-120"/>
              </a:rPr>
              <a:t>FNR + LOOPS</a:t>
            </a:r>
            <a:endParaRPr lang="en-US" sz="1600" dirty="0"/>
          </a:p>
        </p:txBody>
      </p:sp>
      <p:sp>
        <p:nvSpPr>
          <p:cNvPr id="48" name="Text 45"/>
          <p:cNvSpPr/>
          <p:nvPr/>
        </p:nvSpPr>
        <p:spPr>
          <a:xfrm>
            <a:off x="13972032" y="4901184"/>
            <a:ext cx="3749040" cy="256032"/>
          </a:xfrm>
          <a:prstGeom prst="rect">
            <a:avLst/>
          </a:prstGeom>
          <a:noFill/>
          <a:ln/>
        </p:spPr>
        <p:txBody>
          <a:bodyPr wrap="square" lIns="0" tIns="0" rIns="0" bIns="0" rtlCol="0" anchor="ctr"/>
          <a:lstStyle/>
          <a:p>
            <a:r>
              <a:rPr lang="en-US" sz="1300" dirty="0">
                <a:solidFill>
                  <a:srgbClr val="D4AF37"/>
                </a:solidFill>
                <a:latin typeface="Segoe UI" pitchFamily="34" charset="0"/>
                <a:ea typeface="Segoe UI" pitchFamily="34" charset="-122"/>
                <a:cs typeface="Segoe UI" pitchFamily="34" charset="-120"/>
              </a:rPr>
              <a:t>from week 16</a:t>
            </a:r>
            <a:endParaRPr lang="en-US" sz="1300" dirty="0"/>
          </a:p>
        </p:txBody>
      </p:sp>
      <p:sp>
        <p:nvSpPr>
          <p:cNvPr id="49" name="Text 46"/>
          <p:cNvSpPr/>
          <p:nvPr/>
        </p:nvSpPr>
        <p:spPr>
          <a:xfrm>
            <a:off x="13972032" y="5230368"/>
            <a:ext cx="3749040" cy="1280160"/>
          </a:xfrm>
          <a:prstGeom prst="rect">
            <a:avLst/>
          </a:prstGeom>
          <a:noFill/>
          <a:ln/>
        </p:spPr>
        <p:txBody>
          <a:bodyPr wrap="square" lIns="0" tIns="0" rIns="0" bIns="0" rtlCol="0" anchor="t"/>
          <a:lstStyle/>
          <a:p>
            <a:r>
              <a:rPr lang="en-US" sz="1300" dirty="0">
                <a:solidFill>
                  <a:srgbClr val="D0C8B8"/>
                </a:solidFill>
                <a:latin typeface="Segoe UI" pitchFamily="34" charset="0"/>
                <a:ea typeface="Segoe UI" pitchFamily="34" charset="-122"/>
                <a:cs typeface="Segoe UI" pitchFamily="34" charset="-120"/>
              </a:rPr>
              <a:t>Per-route FNR with CI; override capture; geographic packs as DAG content.</a:t>
            </a:r>
            <a:endParaRPr lang="en-US" sz="1300" dirty="0"/>
          </a:p>
        </p:txBody>
      </p:sp>
      <p:sp>
        <p:nvSpPr>
          <p:cNvPr id="50" name="Shape 47"/>
          <p:cNvSpPr/>
          <p:nvPr/>
        </p:nvSpPr>
        <p:spPr>
          <a:xfrm>
            <a:off x="950976" y="6931152"/>
            <a:ext cx="16386048" cy="2304288"/>
          </a:xfrm>
          <a:prstGeom prst="rect">
            <a:avLst/>
          </a:prstGeom>
          <a:solidFill>
            <a:srgbClr val="0F1525"/>
          </a:solidFill>
          <a:ln w="8636">
            <a:solidFill>
              <a:srgbClr val="1E2A3D"/>
            </a:solidFill>
            <a:prstDash val="solid"/>
          </a:ln>
        </p:spPr>
      </p:sp>
      <p:sp>
        <p:nvSpPr>
          <p:cNvPr id="51" name="Text 48"/>
          <p:cNvSpPr/>
          <p:nvPr/>
        </p:nvSpPr>
        <p:spPr>
          <a:xfrm>
            <a:off x="1243584" y="7077456"/>
            <a:ext cx="15819120" cy="329184"/>
          </a:xfrm>
          <a:prstGeom prst="rect">
            <a:avLst/>
          </a:prstGeom>
          <a:noFill/>
          <a:ln/>
        </p:spPr>
        <p:txBody>
          <a:bodyPr wrap="square" lIns="0" tIns="0" rIns="0" bIns="0" rtlCol="0" anchor="ctr"/>
          <a:lstStyle/>
          <a:p>
            <a:r>
              <a:rPr lang="en-US" sz="1500" b="1" dirty="0">
                <a:solidFill>
                  <a:srgbClr val="F5F0EB"/>
                </a:solidFill>
                <a:latin typeface="Segoe UI" pitchFamily="34" charset="0"/>
                <a:ea typeface="Segoe UI" pitchFamily="34" charset="-122"/>
                <a:cs typeface="Segoe UI" pitchFamily="34" charset="-120"/>
              </a:rPr>
              <a:t>LATENCY TARGETS    ≤40 ms p50  /  ≤200 ms p95 added on R0/R1 text.  Never quote 40 as p95.</a:t>
            </a:r>
            <a:endParaRPr lang="en-US" sz="1500" dirty="0"/>
          </a:p>
        </p:txBody>
      </p:sp>
      <p:sp>
        <p:nvSpPr>
          <p:cNvPr id="52" name="Text 49"/>
          <p:cNvSpPr/>
          <p:nvPr/>
        </p:nvSpPr>
        <p:spPr>
          <a:xfrm>
            <a:off x="1243584" y="7424928"/>
            <a:ext cx="15819120" cy="329184"/>
          </a:xfrm>
          <a:prstGeom prst="rect">
            <a:avLst/>
          </a:prstGeom>
          <a:noFill/>
          <a:ln/>
        </p:spPr>
        <p:txBody>
          <a:bodyPr wrap="square" lIns="0" tIns="0" rIns="0" bIns="0" rtlCol="0" anchor="ctr"/>
          <a:lstStyle/>
          <a:p>
            <a:r>
              <a:rPr lang="en-US" sz="1400" dirty="0">
                <a:solidFill>
                  <a:srgbClr val="D4AF37"/>
                </a:solidFill>
                <a:latin typeface="Segoe UI" pitchFamily="34" charset="0"/>
                <a:ea typeface="Segoe UI" pitchFamily="34" charset="-122"/>
                <a:cs typeface="Segoe UI" pitchFamily="34" charset="-120"/>
              </a:rPr>
              <a:t>Measured gate (submission/latency_bench.json, n=10000): p50=0.43 ms · p95=0.48 ms — under target; quote measured vs targets separately.</a:t>
            </a:r>
            <a:endParaRPr lang="en-US" sz="1400" dirty="0"/>
          </a:p>
        </p:txBody>
      </p:sp>
      <p:sp>
        <p:nvSpPr>
          <p:cNvPr id="53" name="Text 50"/>
          <p:cNvSpPr/>
          <p:nvPr/>
        </p:nvSpPr>
        <p:spPr>
          <a:xfrm>
            <a:off x="1243584" y="7772400"/>
            <a:ext cx="15819120" cy="1234440"/>
          </a:xfrm>
          <a:prstGeom prst="rect">
            <a:avLst/>
          </a:prstGeom>
          <a:noFill/>
          <a:ln/>
        </p:spPr>
        <p:txBody>
          <a:bodyPr wrap="square" lIns="0" tIns="0" rIns="0" bIns="0" rtlCol="0" anchor="t"/>
          <a:lstStyle/>
          <a:p>
            <a:r>
              <a:rPr lang="en-US" sz="1500" dirty="0">
                <a:solidFill>
                  <a:srgbClr val="D0C8B8"/>
                </a:solidFill>
                <a:latin typeface="Segoe UI" pitchFamily="34" charset="0"/>
                <a:ea typeface="Segoe UI" pitchFamily="34" charset="-122"/>
                <a:cs typeface="Segoe UI" pitchFamily="34" charset="-120"/>
              </a:rPr>
              <a:t>We do not eliminate hallucinations. We do not claim drop-in. We do not claim zero added latency: we never make the model feel slow; we make the action wait. The integration cost is the moat — we hook context assembly.</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12182A">
              <a:alpha val="30000"/>
            </a:srgbClr>
          </a:solidFill>
          <a:ln/>
        </p:spPr>
      </p:sp>
      <p:sp>
        <p:nvSpPr>
          <p:cNvPr id="3" name="Text 1"/>
          <p:cNvSpPr/>
          <p:nvPr/>
        </p:nvSpPr>
        <p:spPr>
          <a:xfrm>
            <a:off x="384048" y="402336"/>
            <a:ext cx="210312" cy="228600"/>
          </a:xfrm>
          <a:prstGeom prst="rect">
            <a:avLst/>
          </a:prstGeom>
          <a:noFill/>
          <a:ln/>
        </p:spPr>
        <p:txBody>
          <a:bodyPr wrap="square" lIns="0" tIns="0" rIns="0" bIns="0" rtlCol="0" anchor="ctr"/>
          <a:lstStyle/>
          <a:p>
            <a:r>
              <a:rPr lang="en-US" sz="1200" dirty="0">
                <a:solidFill>
                  <a:srgbClr val="C9A227"/>
                </a:solidFill>
                <a:latin typeface="Segoe UI" pitchFamily="34" charset="0"/>
                <a:ea typeface="Segoe UI" pitchFamily="34" charset="-122"/>
                <a:cs typeface="Segoe UI" pitchFamily="34" charset="-120"/>
              </a:rPr>
              <a:t>◢</a:t>
            </a:r>
            <a:endParaRPr lang="en-US" sz="1200" dirty="0"/>
          </a:p>
        </p:txBody>
      </p:sp>
      <p:sp>
        <p:nvSpPr>
          <p:cNvPr id="4" name="Text 2"/>
          <p:cNvSpPr/>
          <p:nvPr/>
        </p:nvSpPr>
        <p:spPr>
          <a:xfrm>
            <a:off x="621792" y="384048"/>
            <a:ext cx="3840480" cy="265176"/>
          </a:xfrm>
          <a:prstGeom prst="rect">
            <a:avLst/>
          </a:prstGeom>
          <a:noFill/>
          <a:ln/>
        </p:spPr>
        <p:txBody>
          <a:bodyPr wrap="square" lIns="0" tIns="0" rIns="0" bIns="0" rtlCol="0" anchor="ctr"/>
          <a:lstStyle/>
          <a:p>
            <a:r>
              <a:rPr lang="en-US" sz="1500" spc="150" kern="0" dirty="0">
                <a:solidFill>
                  <a:srgbClr val="F5F0EB"/>
                </a:solidFill>
                <a:latin typeface="Segoe UI" pitchFamily="34" charset="0"/>
                <a:ea typeface="Segoe UI" pitchFamily="34" charset="-122"/>
                <a:cs typeface="Segoe UI" pitchFamily="34" charset="-120"/>
              </a:rPr>
              <a:t>CONTROLPLANE//SYS</a:t>
            </a:r>
            <a:endParaRPr lang="en-US" sz="1500" dirty="0"/>
          </a:p>
        </p:txBody>
      </p:sp>
      <p:sp>
        <p:nvSpPr>
          <p:cNvPr id="5" name="Text 3"/>
          <p:cNvSpPr/>
          <p:nvPr/>
        </p:nvSpPr>
        <p:spPr>
          <a:xfrm>
            <a:off x="11521440" y="384048"/>
            <a:ext cx="6217920" cy="265176"/>
          </a:xfrm>
          <a:prstGeom prst="rect">
            <a:avLst/>
          </a:prstGeom>
          <a:noFill/>
          <a:ln/>
        </p:spPr>
        <p:txBody>
          <a:bodyPr wrap="square" lIns="0" tIns="0" rIns="0" bIns="0" rtlCol="0" anchor="ctr"/>
          <a:lstStyle/>
          <a:p>
            <a:pPr algn="r"/>
            <a:r>
              <a:rPr lang="en-US" sz="1500" spc="150" kern="0" dirty="0">
                <a:solidFill>
                  <a:srgbClr val="8892B0"/>
                </a:solidFill>
                <a:latin typeface="Segoe UI" pitchFamily="34" charset="0"/>
                <a:ea typeface="Segoe UI" pitchFamily="34" charset="-122"/>
                <a:cs typeface="Segoe UI" pitchFamily="34" charset="-120"/>
              </a:rPr>
              <a:t>12 // FNR</a:t>
            </a:r>
            <a:endParaRPr lang="en-US" sz="1500" dirty="0"/>
          </a:p>
        </p:txBody>
      </p:sp>
      <p:sp>
        <p:nvSpPr>
          <p:cNvPr id="6" name="Text 4"/>
          <p:cNvSpPr/>
          <p:nvPr/>
        </p:nvSpPr>
        <p:spPr>
          <a:xfrm>
            <a:off x="17775936" y="402336"/>
            <a:ext cx="210312" cy="228600"/>
          </a:xfrm>
          <a:prstGeom prst="rect">
            <a:avLst/>
          </a:prstGeom>
          <a:noFill/>
          <a:ln/>
        </p:spPr>
        <p:txBody>
          <a:bodyPr wrap="square" lIns="0" tIns="0" rIns="0" bIns="0" rtlCol="0" anchor="ctr"/>
          <a:lstStyle/>
          <a:p>
            <a:r>
              <a:rPr lang="en-US" sz="1200" dirty="0">
                <a:solidFill>
                  <a:srgbClr val="C9A227"/>
                </a:solidFill>
                <a:latin typeface="Segoe UI" pitchFamily="34" charset="0"/>
                <a:ea typeface="Segoe UI" pitchFamily="34" charset="-122"/>
                <a:cs typeface="Segoe UI" pitchFamily="34" charset="-120"/>
              </a:rPr>
              <a:t>◣</a:t>
            </a:r>
            <a:endParaRPr lang="en-US" sz="1200" dirty="0"/>
          </a:p>
        </p:txBody>
      </p:sp>
      <p:sp>
        <p:nvSpPr>
          <p:cNvPr id="7" name="Shape 5"/>
          <p:cNvSpPr/>
          <p:nvPr/>
        </p:nvSpPr>
        <p:spPr>
          <a:xfrm>
            <a:off x="384048" y="9747504"/>
            <a:ext cx="91440" cy="91440"/>
          </a:xfrm>
          <a:prstGeom prst="rect">
            <a:avLst/>
          </a:prstGeom>
          <a:solidFill>
            <a:srgbClr val="C9A227"/>
          </a:solidFill>
          <a:ln/>
        </p:spPr>
      </p:sp>
      <p:sp>
        <p:nvSpPr>
          <p:cNvPr id="8" name="Text 6"/>
          <p:cNvSpPr/>
          <p:nvPr/>
        </p:nvSpPr>
        <p:spPr>
          <a:xfrm>
            <a:off x="566928" y="9683496"/>
            <a:ext cx="2194560" cy="265176"/>
          </a:xfrm>
          <a:prstGeom prst="rect">
            <a:avLst/>
          </a:prstGeom>
          <a:noFill/>
          <a:ln/>
        </p:spPr>
        <p:txBody>
          <a:bodyPr wrap="square" lIns="0" tIns="0" rIns="0" bIns="0" rtlCol="0" anchor="ctr"/>
          <a:lstStyle/>
          <a:p>
            <a:r>
              <a:rPr lang="en-US" sz="1500" dirty="0">
                <a:solidFill>
                  <a:srgbClr val="8892B0"/>
                </a:solidFill>
                <a:latin typeface="Segoe UI" pitchFamily="34" charset="0"/>
                <a:ea typeface="Segoe UI" pitchFamily="34" charset="-122"/>
                <a:cs typeface="Segoe UI" pitchFamily="34" charset="-120"/>
              </a:rPr>
              <a:t>ADMIT//PROVE</a:t>
            </a:r>
            <a:endParaRPr lang="en-US" sz="1500" dirty="0"/>
          </a:p>
        </p:txBody>
      </p:sp>
      <p:sp>
        <p:nvSpPr>
          <p:cNvPr id="9" name="Text 7"/>
          <p:cNvSpPr/>
          <p:nvPr/>
        </p:nvSpPr>
        <p:spPr>
          <a:xfrm>
            <a:off x="13350240" y="9683496"/>
            <a:ext cx="4480560" cy="265176"/>
          </a:xfrm>
          <a:prstGeom prst="rect">
            <a:avLst/>
          </a:prstGeom>
          <a:noFill/>
          <a:ln/>
        </p:spPr>
        <p:txBody>
          <a:bodyPr wrap="square" lIns="0" tIns="0" rIns="0" bIns="0" rtlCol="0" anchor="ctr"/>
          <a:lstStyle/>
          <a:p>
            <a:pPr algn="r"/>
            <a:r>
              <a:rPr lang="en-US" sz="1500" spc="150" kern="0" dirty="0">
                <a:solidFill>
                  <a:srgbClr val="8892B0"/>
                </a:solidFill>
                <a:latin typeface="Segoe UI" pitchFamily="34" charset="0"/>
                <a:ea typeface="Segoe UI" pitchFamily="34" charset="-122"/>
                <a:cs typeface="Segoe UI" pitchFamily="34" charset="-120"/>
              </a:rPr>
              <a:t>AIC.2026 · PS #1 · IITGN</a:t>
            </a:r>
            <a:endParaRPr lang="en-US" sz="1500" dirty="0"/>
          </a:p>
        </p:txBody>
      </p:sp>
      <p:sp>
        <p:nvSpPr>
          <p:cNvPr id="11" name="Text 8"/>
          <p:cNvSpPr/>
          <p:nvPr/>
        </p:nvSpPr>
        <p:spPr>
          <a:xfrm>
            <a:off x="950976" y="914400"/>
            <a:ext cx="10972800" cy="265176"/>
          </a:xfrm>
          <a:prstGeom prst="rect">
            <a:avLst/>
          </a:prstGeom>
          <a:noFill/>
          <a:ln/>
        </p:spPr>
        <p:txBody>
          <a:bodyPr wrap="square" lIns="0" tIns="0" rIns="0" bIns="0" rtlCol="0" anchor="ctr"/>
          <a:lstStyle/>
          <a:p>
            <a:pPr algn="l"/>
            <a:r>
              <a:rPr lang="en-US" sz="1500" spc="300" kern="0" dirty="0">
                <a:solidFill>
                  <a:srgbClr val="C9A227"/>
                </a:solidFill>
                <a:latin typeface="Segoe UI" pitchFamily="34" charset="0"/>
                <a:ea typeface="Segoe UI" pitchFamily="34" charset="-122"/>
                <a:cs typeface="Segoe UI" pitchFamily="34" charset="-120"/>
              </a:rPr>
              <a:t>12 · RISKS WE PUBLISH</a:t>
            </a:r>
            <a:endParaRPr lang="en-US" sz="1500" dirty="0"/>
          </a:p>
        </p:txBody>
      </p:sp>
      <p:sp>
        <p:nvSpPr>
          <p:cNvPr id="12" name="Text 9"/>
          <p:cNvSpPr/>
          <p:nvPr/>
        </p:nvSpPr>
        <p:spPr>
          <a:xfrm>
            <a:off x="950976" y="1207008"/>
            <a:ext cx="16367760" cy="475488"/>
          </a:xfrm>
          <a:prstGeom prst="rect">
            <a:avLst/>
          </a:prstGeom>
          <a:noFill/>
          <a:ln/>
        </p:spPr>
        <p:txBody>
          <a:bodyPr wrap="square" lIns="0" tIns="0" rIns="0" bIns="0" rtlCol="0" anchor="t"/>
          <a:lstStyle/>
          <a:p>
            <a:pPr algn="l"/>
            <a:r>
              <a:rPr lang="en-US" sz="2800" b="1" spc="-75" kern="0" dirty="0">
                <a:solidFill>
                  <a:srgbClr val="F5F0EB"/>
                </a:solidFill>
                <a:latin typeface="Segoe UI" pitchFamily="34" charset="0"/>
                <a:ea typeface="Segoe UI" pitchFamily="34" charset="-122"/>
                <a:cs typeface="Segoe UI" pitchFamily="34" charset="-120"/>
              </a:rPr>
              <a:t>WE PUBLISH OUR OWN </a:t>
            </a:r>
            <a:pPr algn="l"/>
            <a:r>
              <a:rPr lang="en-US" sz="2800" b="1" spc="-75" kern="0" dirty="0">
                <a:solidFill>
                  <a:srgbClr val="C9A227"/>
                </a:solidFill>
                <a:latin typeface="Segoe UI" pitchFamily="34" charset="0"/>
                <a:ea typeface="Segoe UI" pitchFamily="34" charset="-122"/>
                <a:cs typeface="Segoe UI" pitchFamily="34" charset="-120"/>
              </a:rPr>
              <a:t>MISS RATE</a:t>
            </a:r>
            <a:pPr algn="l"/>
            <a:r>
              <a:rPr lang="en-US" sz="2800" b="1" spc="-75" kern="0" dirty="0">
                <a:solidFill>
                  <a:srgbClr val="F5F0EB"/>
                </a:solidFill>
                <a:latin typeface="Segoe UI" pitchFamily="34" charset="0"/>
                <a:ea typeface="Segoe UI" pitchFamily="34" charset="-122"/>
                <a:cs typeface="Segoe UI" pitchFamily="34" charset="-120"/>
              </a:rPr>
              <a:t>.</a:t>
            </a:r>
            <a:endParaRPr lang="en-US" sz="2800" dirty="0"/>
          </a:p>
        </p:txBody>
      </p:sp>
      <p:sp>
        <p:nvSpPr>
          <p:cNvPr id="13" name="Text 10"/>
          <p:cNvSpPr/>
          <p:nvPr/>
        </p:nvSpPr>
        <p:spPr>
          <a:xfrm>
            <a:off x="950976" y="1719072"/>
            <a:ext cx="16367760" cy="292608"/>
          </a:xfrm>
          <a:prstGeom prst="rect">
            <a:avLst/>
          </a:prstGeom>
          <a:noFill/>
          <a:ln/>
        </p:spPr>
        <p:txBody>
          <a:bodyPr wrap="square" lIns="0" tIns="0" rIns="0" bIns="0" rtlCol="0" anchor="ctr"/>
          <a:lstStyle/>
          <a:p>
            <a:r>
              <a:rPr lang="en-US" sz="1500" dirty="0">
                <a:solidFill>
                  <a:srgbClr val="D0C8B8"/>
                </a:solidFill>
                <a:latin typeface="Segoe UI" pitchFamily="34" charset="0"/>
                <a:ea typeface="Segoe UI" pitchFamily="34" charset="-122"/>
                <a:cs typeface="Segoe UI" pitchFamily="34" charset="-120"/>
              </a:rPr>
              <a:t>Per route. Not what we caught — what we missed. Schema empty until earned. This build: 1.1% FNR (0.2%–5.8%) on a self-authored corpus — next slide.</a:t>
            </a:r>
            <a:endParaRPr lang="en-US" sz="1500" dirty="0"/>
          </a:p>
        </p:txBody>
      </p:sp>
      <p:sp>
        <p:nvSpPr>
          <p:cNvPr id="14" name="Shape 11"/>
          <p:cNvSpPr/>
          <p:nvPr/>
        </p:nvSpPr>
        <p:spPr>
          <a:xfrm>
            <a:off x="950976" y="2121408"/>
            <a:ext cx="9281160" cy="7040880"/>
          </a:xfrm>
          <a:prstGeom prst="rect">
            <a:avLst/>
          </a:prstGeom>
          <a:solidFill>
            <a:srgbClr val="0F1525"/>
          </a:solidFill>
          <a:ln w="8636">
            <a:solidFill>
              <a:srgbClr val="2D3A52"/>
            </a:solidFill>
            <a:prstDash val="solid"/>
          </a:ln>
        </p:spPr>
      </p:sp>
      <p:sp>
        <p:nvSpPr>
          <p:cNvPr id="15" name="Shape 12"/>
          <p:cNvSpPr/>
          <p:nvPr/>
        </p:nvSpPr>
        <p:spPr>
          <a:xfrm>
            <a:off x="960120" y="2560320"/>
            <a:ext cx="9262872" cy="9144"/>
          </a:xfrm>
          <a:prstGeom prst="rect">
            <a:avLst/>
          </a:prstGeom>
          <a:solidFill>
            <a:srgbClr val="1E2A3D"/>
          </a:solidFill>
          <a:ln/>
        </p:spPr>
      </p:sp>
      <p:sp>
        <p:nvSpPr>
          <p:cNvPr id="16" name="Text 13"/>
          <p:cNvSpPr/>
          <p:nvPr/>
        </p:nvSpPr>
        <p:spPr>
          <a:xfrm>
            <a:off x="1115568" y="2194560"/>
            <a:ext cx="4810658" cy="292608"/>
          </a:xfrm>
          <a:prstGeom prst="rect">
            <a:avLst/>
          </a:prstGeom>
          <a:noFill/>
          <a:ln/>
        </p:spPr>
        <p:txBody>
          <a:bodyPr wrap="square" lIns="0" tIns="0" rIns="0" bIns="0" rtlCol="0" anchor="ctr"/>
          <a:lstStyle/>
          <a:p>
            <a:r>
              <a:rPr lang="en-US" sz="1300" spc="120" kern="0" dirty="0">
                <a:solidFill>
                  <a:srgbClr val="8892B0"/>
                </a:solidFill>
                <a:latin typeface="Segoe UI" pitchFamily="34" charset="0"/>
                <a:ea typeface="Segoe UI" pitchFamily="34" charset="-122"/>
                <a:cs typeface="Segoe UI" pitchFamily="34" charset="-120"/>
              </a:rPr>
              <a:t>▸ GATE REPORT</a:t>
            </a:r>
            <a:endParaRPr lang="en-US" sz="1300" dirty="0"/>
          </a:p>
        </p:txBody>
      </p:sp>
      <p:sp>
        <p:nvSpPr>
          <p:cNvPr id="17" name="Text 14"/>
          <p:cNvSpPr/>
          <p:nvPr/>
        </p:nvSpPr>
        <p:spPr>
          <a:xfrm>
            <a:off x="6334049" y="2194560"/>
            <a:ext cx="3715207" cy="292608"/>
          </a:xfrm>
          <a:prstGeom prst="rect">
            <a:avLst/>
          </a:prstGeom>
          <a:noFill/>
          <a:ln/>
        </p:spPr>
        <p:txBody>
          <a:bodyPr wrap="square" lIns="0" tIns="0" rIns="0" bIns="0" rtlCol="0" anchor="ctr"/>
          <a:lstStyle/>
          <a:p>
            <a:pPr algn="r"/>
            <a:r>
              <a:rPr lang="en-US" sz="1300" spc="100" kern="0" dirty="0">
                <a:solidFill>
                  <a:srgbClr val="8892B0"/>
                </a:solidFill>
                <a:latin typeface="Segoe UI" pitchFamily="34" charset="0"/>
                <a:ea typeface="Segoe UI" pitchFamily="34" charset="-122"/>
                <a:cs typeface="Segoe UI" pitchFamily="34" charset="-120"/>
              </a:rPr>
              <a:t>EMPTY UNTIL MEASURED</a:t>
            </a:r>
            <a:endParaRPr lang="en-US" sz="1300" dirty="0"/>
          </a:p>
        </p:txBody>
      </p:sp>
      <p:sp>
        <p:nvSpPr>
          <p:cNvPr id="18" name="Text 15"/>
          <p:cNvSpPr/>
          <p:nvPr/>
        </p:nvSpPr>
        <p:spPr>
          <a:xfrm>
            <a:off x="1207008" y="2724912"/>
            <a:ext cx="8778240" cy="6126480"/>
          </a:xfrm>
          <a:prstGeom prst="rect">
            <a:avLst/>
          </a:prstGeom>
          <a:noFill/>
          <a:ln/>
        </p:spPr>
        <p:txBody>
          <a:bodyPr wrap="square" lIns="0" tIns="0" rIns="0" bIns="0" rtlCol="0" anchor="t"/>
          <a:lstStyle/>
          <a:p>
            <a:r>
              <a:rPr lang="en-US" sz="1400" dirty="0">
                <a:solidFill>
                  <a:srgbClr val="D0C8B8"/>
                </a:solidFill>
                <a:latin typeface="SF Mono" pitchFamily="34" charset="0"/>
                <a:ea typeface="SF Mono" pitchFamily="34" charset="-122"/>
                <a:cs typeface="SF Mono" pitchFamily="34" charset="-120"/>
              </a:rPr>
              <a:t>route                     &lt;id&gt;</a:t>
            </a:r>
            <a:endParaRPr lang="en-US" sz="1400" dirty="0"/>
          </a:p>
          <a:p>
            <a:r>
              <a:rPr lang="en-US" sz="1400" dirty="0">
                <a:solidFill>
                  <a:srgbClr val="D0C8B8"/>
                </a:solidFill>
                <a:latin typeface="SF Mono" pitchFamily="34" charset="0"/>
                <a:ea typeface="SF Mono" pitchFamily="34" charset="-122"/>
                <a:cs typeface="SF Mono" pitchFamily="34" charset="-120"/>
              </a:rPr>
              <a:t>window                    &lt;start&gt;-&lt;end&gt;</a:t>
            </a:r>
            <a:endParaRPr lang="en-US" sz="1400" dirty="0"/>
          </a:p>
          <a:p>
            <a:r>
              <a:rPr lang="en-US" sz="1400" dirty="0">
                <a:solidFill>
                  <a:srgbClr val="D0C8B8"/>
                </a:solidFill>
                <a:latin typeface="SF Mono" pitchFamily="34" charset="0"/>
                <a:ea typeface="SF Mono" pitchFamily="34" charset="-122"/>
                <a:cs typeface="SF Mono" pitchFamily="34" charset="-120"/>
              </a:rPr>
              <a:t>volume                    &lt;n&gt;</a:t>
            </a:r>
            <a:endParaRPr lang="en-US" sz="1400" dirty="0"/>
          </a:p>
          <a:p>
            <a:r>
              <a:rPr lang="en-US" sz="1400" dirty="0">
                <a:solidFill>
                  <a:srgbClr val="D0C8B8"/>
                </a:solidFill>
                <a:latin typeface="SF Mono" pitchFamily="34" charset="0"/>
                <a:ea typeface="SF Mono" pitchFamily="34" charset="-122"/>
                <a:cs typeface="SF Mono" pitchFamily="34" charset="-120"/>
              </a:rPr>
              <a:t>holds                     &lt;n&gt;</a:t>
            </a:r>
            <a:endParaRPr lang="en-US" sz="1400" dirty="0"/>
          </a:p>
          <a:p>
            <a:r>
              <a:rPr lang="en-US" sz="1400" dirty="0">
                <a:solidFill>
                  <a:srgbClr val="D0C8B8"/>
                </a:solidFill>
                <a:latin typeface="SF Mono" pitchFamily="34" charset="0"/>
                <a:ea typeface="SF Mono" pitchFamily="34" charset="-122"/>
                <a:cs typeface="SF Mono" pitchFamily="34" charset="-120"/>
              </a:rPr>
              <a:t>escalations               &lt;n&gt;</a:t>
            </a:r>
            <a:endParaRPr lang="en-US" sz="1400" dirty="0"/>
          </a:p>
          <a:p>
            <a:r>
              <a:rPr lang="en-US" sz="1400" dirty="0">
                <a:solidFill>
                  <a:srgbClr val="D0C8B8"/>
                </a:solidFill>
                <a:latin typeface="SF Mono" pitchFamily="34" charset="0"/>
                <a:ea typeface="SF Mono" pitchFamily="34" charset="-122"/>
                <a:cs typeface="SF Mono" pitchFamily="34" charset="-120"/>
              </a:rPr>
              <a:t>edits                     &lt;n&gt;</a:t>
            </a:r>
            <a:endParaRPr lang="en-US" sz="1400" dirty="0"/>
          </a:p>
          <a:p>
            <a:r>
              <a:rPr lang="en-US" sz="1400" dirty="0">
                <a:solidFill>
                  <a:srgbClr val="D0C8B8"/>
                </a:solidFill>
                <a:latin typeface="SF Mono" pitchFamily="34" charset="0"/>
                <a:ea typeface="SF Mono" pitchFamily="34" charset="-122"/>
                <a:cs typeface="SF Mono" pitchFamily="34" charset="-120"/>
              </a:rPr>
              <a:t>blocks                    &lt;n&gt;</a:t>
            </a:r>
            <a:endParaRPr lang="en-US" sz="1400" dirty="0"/>
          </a:p>
          <a:p>
            <a:r>
              <a:rPr lang="en-US" sz="1400" dirty="0">
                <a:solidFill>
                  <a:srgbClr val="D0C8B8"/>
                </a:solidFill>
                <a:latin typeface="SF Mono" pitchFamily="34" charset="0"/>
                <a:ea typeface="SF Mono" pitchFamily="34" charset="-122"/>
                <a:cs typeface="SF Mono" pitchFamily="34" charset="-120"/>
              </a:rPr>
              <a:t>shadow_would_have_held    &lt;n&gt;</a:t>
            </a:r>
            <a:endParaRPr lang="en-US" sz="1400" dirty="0"/>
          </a:p>
          <a:p>
            <a:r>
              <a:rPr lang="en-US" sz="1400" dirty="0">
                <a:solidFill>
                  <a:srgbClr val="D0C8B8"/>
                </a:solidFill>
                <a:latin typeface="SF Mono" pitchFamily="34" charset="0"/>
                <a:ea typeface="SF Mono" pitchFamily="34" charset="-122"/>
                <a:cs typeface="SF Mono" pitchFamily="34" charset="-120"/>
              </a:rPr>
              <a:t>true_positives_in_holds   &lt;n&gt;  (sampled)</a:t>
            </a:r>
            <a:endParaRPr lang="en-US" sz="1400" dirty="0"/>
          </a:p>
          <a:p>
            <a:r>
              <a:rPr lang="en-US" sz="1400" dirty="0">
                <a:solidFill>
                  <a:srgbClr val="D0C8B8"/>
                </a:solidFill>
                <a:latin typeface="SF Mono" pitchFamily="34" charset="0"/>
                <a:ea typeface="SF Mono" pitchFamily="34" charset="-122"/>
                <a:cs typeface="SF Mono" pitchFamily="34" charset="-120"/>
              </a:rPr>
              <a:t>false_negatives           &lt;n&gt;  (sampled)</a:t>
            </a:r>
            <a:endParaRPr lang="en-US" sz="1400" dirty="0"/>
          </a:p>
          <a:p>
            <a:r>
              <a:rPr lang="en-US" sz="1400" dirty="0">
                <a:solidFill>
                  <a:srgbClr val="D0C8B8"/>
                </a:solidFill>
                <a:latin typeface="SF Mono" pitchFamily="34" charset="0"/>
                <a:ea typeface="SF Mono" pitchFamily="34" charset="-122"/>
                <a:cs typeface="SF Mono" pitchFamily="34" charset="-120"/>
              </a:rPr>
              <a:t>FNR                       &lt;measured&gt;%  +/- &lt;CI&gt;  per route</a:t>
            </a:r>
            <a:endParaRPr lang="en-US" sz="1400" dirty="0"/>
          </a:p>
          <a:p>
            <a:r>
              <a:rPr lang="en-US" sz="1400" dirty="0">
                <a:solidFill>
                  <a:srgbClr val="D0C8B8"/>
                </a:solidFill>
                <a:latin typeface="SF Mono" pitchFamily="34" charset="0"/>
                <a:ea typeface="SF Mono" pitchFamily="34" charset="-122"/>
                <a:cs typeface="SF Mono" pitchFamily="34" charset="-120"/>
              </a:rPr>
              <a:t>dead_compute_share        &lt;measured&gt;%</a:t>
            </a:r>
            <a:endParaRPr lang="en-US" sz="1400" dirty="0"/>
          </a:p>
          <a:p>
            <a:r>
              <a:rPr lang="en-US" sz="1400" dirty="0">
                <a:solidFill>
                  <a:srgbClr val="D0C8B8"/>
                </a:solidFill>
                <a:latin typeface="SF Mono" pitchFamily="34" charset="0"/>
                <a:ea typeface="SF Mono" pitchFamily="34" charset="-122"/>
                <a:cs typeface="SF Mono" pitchFamily="34" charset="-120"/>
              </a:rPr>
              <a:t>override_rate             &lt;measured&gt; vs baseline</a:t>
            </a:r>
            <a:endParaRPr lang="en-US" sz="1400" dirty="0"/>
          </a:p>
          <a:p>
            <a:r>
              <a:rPr lang="en-US" sz="1400" dirty="0">
                <a:solidFill>
                  <a:srgbClr val="D0C8B8"/>
                </a:solidFill>
                <a:latin typeface="SF Mono" pitchFamily="34" charset="0"/>
                <a:ea typeface="SF Mono" pitchFamily="34" charset="-122"/>
                <a:cs typeface="SF Mono" pitchFamily="34" charset="-120"/>
              </a:rPr>
              <a:t>p50_added_ms              &lt;=40 (target)</a:t>
            </a:r>
            <a:endParaRPr lang="en-US" sz="1400" dirty="0"/>
          </a:p>
          <a:p>
            <a:r>
              <a:rPr lang="en-US" sz="1400" dirty="0">
                <a:solidFill>
                  <a:srgbClr val="D0C8B8"/>
                </a:solidFill>
                <a:latin typeface="SF Mono" pitchFamily="34" charset="0"/>
                <a:ea typeface="SF Mono" pitchFamily="34" charset="-122"/>
                <a:cs typeface="SF Mono" pitchFamily="34" charset="-120"/>
              </a:rPr>
              <a:t>p95_added_ms              &lt;=200 (target)</a:t>
            </a:r>
            <a:endParaRPr lang="en-US" sz="1400" dirty="0"/>
          </a:p>
          <a:p>
            <a:r>
              <a:rPr lang="en-US" sz="1400" dirty="0">
                <a:solidFill>
                  <a:srgbClr val="D0C8B8"/>
                </a:solidFill>
                <a:latin typeface="SF Mono" pitchFamily="34" charset="0"/>
                <a:ea typeface="SF Mono" pitchFamily="34" charset="-122"/>
                <a:cs typeface="SF Mono" pitchFamily="34" charset="-120"/>
              </a:rPr>
              <a:t>policy_version            &lt;id&gt;</a:t>
            </a:r>
            <a:endParaRPr lang="en-US" sz="1400" dirty="0"/>
          </a:p>
        </p:txBody>
      </p:sp>
      <p:sp>
        <p:nvSpPr>
          <p:cNvPr id="19" name="Shape 16"/>
          <p:cNvSpPr/>
          <p:nvPr/>
        </p:nvSpPr>
        <p:spPr>
          <a:xfrm>
            <a:off x="10442448" y="2121408"/>
            <a:ext cx="6894576" cy="3337560"/>
          </a:xfrm>
          <a:prstGeom prst="rect">
            <a:avLst/>
          </a:prstGeom>
          <a:solidFill>
            <a:srgbClr val="0F1525"/>
          </a:solidFill>
          <a:ln w="12700">
            <a:solidFill>
              <a:srgbClr val="C9A227"/>
            </a:solidFill>
            <a:prstDash val="solid"/>
          </a:ln>
        </p:spPr>
      </p:sp>
      <p:sp>
        <p:nvSpPr>
          <p:cNvPr id="20" name="Shape 17"/>
          <p:cNvSpPr/>
          <p:nvPr/>
        </p:nvSpPr>
        <p:spPr>
          <a:xfrm>
            <a:off x="10442448" y="2121408"/>
            <a:ext cx="6894576" cy="41148"/>
          </a:xfrm>
          <a:prstGeom prst="rect">
            <a:avLst/>
          </a:prstGeom>
          <a:solidFill>
            <a:srgbClr val="C9A227"/>
          </a:solidFill>
          <a:ln/>
        </p:spPr>
      </p:sp>
      <p:sp>
        <p:nvSpPr>
          <p:cNvPr id="21" name="Text 18"/>
          <p:cNvSpPr/>
          <p:nvPr/>
        </p:nvSpPr>
        <p:spPr>
          <a:xfrm>
            <a:off x="10716768" y="2304288"/>
            <a:ext cx="6400800" cy="274320"/>
          </a:xfrm>
          <a:prstGeom prst="rect">
            <a:avLst/>
          </a:prstGeom>
          <a:noFill/>
          <a:ln/>
        </p:spPr>
        <p:txBody>
          <a:bodyPr wrap="square" lIns="0" tIns="0" rIns="0" bIns="0" rtlCol="0" anchor="ctr"/>
          <a:lstStyle/>
          <a:p>
            <a:r>
              <a:rPr lang="en-US" sz="1200" spc="140" kern="0" dirty="0">
                <a:solidFill>
                  <a:srgbClr val="8892B0"/>
                </a:solidFill>
                <a:latin typeface="Segoe UI" pitchFamily="34" charset="0"/>
                <a:ea typeface="Segoe UI" pitchFamily="34" charset="-122"/>
                <a:cs typeface="Segoe UI" pitchFamily="34" charset="-120"/>
              </a:rPr>
              <a:t>STRONGEST RESIDUAL RISK</a:t>
            </a:r>
            <a:endParaRPr lang="en-US" sz="1200" dirty="0"/>
          </a:p>
        </p:txBody>
      </p:sp>
      <p:sp>
        <p:nvSpPr>
          <p:cNvPr id="22" name="Text 19"/>
          <p:cNvSpPr/>
          <p:nvPr/>
        </p:nvSpPr>
        <p:spPr>
          <a:xfrm>
            <a:off x="10716768" y="2670048"/>
            <a:ext cx="6400800" cy="777240"/>
          </a:xfrm>
          <a:prstGeom prst="rect">
            <a:avLst/>
          </a:prstGeom>
          <a:noFill/>
          <a:ln/>
        </p:spPr>
        <p:txBody>
          <a:bodyPr wrap="square" lIns="0" tIns="0" rIns="0" bIns="0" rtlCol="0" anchor="ctr"/>
          <a:lstStyle/>
          <a:p>
            <a:r>
              <a:rPr lang="en-US" sz="1800" b="1" dirty="0">
                <a:solidFill>
                  <a:srgbClr val="F5F0EB"/>
                </a:solidFill>
                <a:latin typeface="Segoe UI" pitchFamily="34" charset="0"/>
                <a:ea typeface="Segoe UI" pitchFamily="34" charset="-122"/>
                <a:cs typeface="Segoe UI" pitchFamily="34" charset="-120"/>
              </a:rPr>
              <a:t>False assurance on derived / multi-hop claims.</a:t>
            </a:r>
            <a:endParaRPr lang="en-US" sz="1800" dirty="0"/>
          </a:p>
        </p:txBody>
      </p:sp>
      <p:sp>
        <p:nvSpPr>
          <p:cNvPr id="23" name="Text 20"/>
          <p:cNvSpPr/>
          <p:nvPr/>
        </p:nvSpPr>
        <p:spPr>
          <a:xfrm>
            <a:off x="10716768" y="3547872"/>
            <a:ext cx="6400800" cy="1417320"/>
          </a:xfrm>
          <a:prstGeom prst="rect">
            <a:avLst/>
          </a:prstGeom>
          <a:noFill/>
          <a:ln/>
        </p:spPr>
        <p:txBody>
          <a:bodyPr wrap="square" lIns="0" tIns="0" rIns="0" bIns="0" rtlCol="0" anchor="t"/>
          <a:lstStyle/>
          <a:p>
            <a:r>
              <a:rPr lang="en-US" sz="1600" dirty="0">
                <a:solidFill>
                  <a:srgbClr val="D0C8B8"/>
                </a:solidFill>
                <a:latin typeface="Segoe UI" pitchFamily="34" charset="0"/>
                <a:ea typeface="Segoe UI" pitchFamily="34" charset="-122"/>
                <a:cs typeface="Segoe UI" pitchFamily="34" charset="-120"/>
              </a:rPr>
              <a:t>Derived → recompute, or UNKNOWN. UNKNOWN never collapses into SUPPORTED.</a:t>
            </a:r>
            <a:endParaRPr lang="en-US" sz="1600" dirty="0"/>
          </a:p>
        </p:txBody>
      </p:sp>
      <p:sp>
        <p:nvSpPr>
          <p:cNvPr id="24" name="Shape 21"/>
          <p:cNvSpPr/>
          <p:nvPr/>
        </p:nvSpPr>
        <p:spPr>
          <a:xfrm>
            <a:off x="10442448" y="5641848"/>
            <a:ext cx="6894576" cy="3520440"/>
          </a:xfrm>
          <a:prstGeom prst="rect">
            <a:avLst/>
          </a:prstGeom>
          <a:solidFill>
            <a:srgbClr val="0F1525"/>
          </a:solidFill>
          <a:ln w="8636">
            <a:solidFill>
              <a:srgbClr val="1E2A3D"/>
            </a:solidFill>
            <a:prstDash val="solid"/>
          </a:ln>
        </p:spPr>
      </p:sp>
      <p:sp>
        <p:nvSpPr>
          <p:cNvPr id="25" name="Text 22"/>
          <p:cNvSpPr/>
          <p:nvPr/>
        </p:nvSpPr>
        <p:spPr>
          <a:xfrm>
            <a:off x="10716768" y="5824728"/>
            <a:ext cx="6400800" cy="292608"/>
          </a:xfrm>
          <a:prstGeom prst="rect">
            <a:avLst/>
          </a:prstGeom>
          <a:noFill/>
          <a:ln/>
        </p:spPr>
        <p:txBody>
          <a:bodyPr wrap="square" lIns="0" tIns="0" rIns="0" bIns="0" rtlCol="0" anchor="ctr"/>
          <a:lstStyle/>
          <a:p>
            <a:r>
              <a:rPr lang="en-US" sz="1200" spc="120" kern="0" dirty="0">
                <a:solidFill>
                  <a:srgbClr val="C9A227"/>
                </a:solidFill>
                <a:latin typeface="Segoe UI" pitchFamily="34" charset="0"/>
                <a:ea typeface="Segoe UI" pitchFamily="34" charset="-122"/>
                <a:cs typeface="Segoe UI" pitchFamily="34" charset="-120"/>
              </a:rPr>
              <a:t>BIAS  ·  KEPT, IN MEASUREMENT TERMS</a:t>
            </a:r>
            <a:endParaRPr lang="en-US" sz="1200" dirty="0"/>
          </a:p>
        </p:txBody>
      </p:sp>
      <p:sp>
        <p:nvSpPr>
          <p:cNvPr id="26" name="Text 23"/>
          <p:cNvSpPr/>
          <p:nvPr/>
        </p:nvSpPr>
        <p:spPr>
          <a:xfrm>
            <a:off x="10716768" y="6217920"/>
            <a:ext cx="6400800" cy="1051560"/>
          </a:xfrm>
          <a:prstGeom prst="rect">
            <a:avLst/>
          </a:prstGeom>
          <a:noFill/>
          <a:ln/>
        </p:spPr>
        <p:txBody>
          <a:bodyPr wrap="square" lIns="0" tIns="0" rIns="0" bIns="0" rtlCol="0" anchor="ctr"/>
          <a:lstStyle/>
          <a:p>
            <a:r>
              <a:rPr lang="en-US" sz="1800" b="1" dirty="0">
                <a:solidFill>
                  <a:srgbClr val="F5F0EB"/>
                </a:solidFill>
                <a:latin typeface="Segoe UI" pitchFamily="34" charset="0"/>
                <a:ea typeface="Segoe UI" pitchFamily="34" charset="-122"/>
                <a:cs typeface="Segoe UI" pitchFamily="34" charset="-120"/>
              </a:rPr>
              <a:t>Counterfactual flip rate with a confidence interval, route-level, async.</a:t>
            </a:r>
            <a:endParaRPr lang="en-US" sz="1800" dirty="0"/>
          </a:p>
        </p:txBody>
      </p:sp>
      <p:sp>
        <p:nvSpPr>
          <p:cNvPr id="27" name="Text 24"/>
          <p:cNvSpPr/>
          <p:nvPr/>
        </p:nvSpPr>
        <p:spPr>
          <a:xfrm>
            <a:off x="10716768" y="7360920"/>
            <a:ext cx="6400800" cy="1325880"/>
          </a:xfrm>
          <a:prstGeom prst="rect">
            <a:avLst/>
          </a:prstGeom>
          <a:noFill/>
          <a:ln/>
        </p:spPr>
        <p:txBody>
          <a:bodyPr wrap="square" lIns="0" tIns="0" rIns="0" bIns="0" rtlCol="0" anchor="t"/>
          <a:lstStyle/>
          <a:p>
            <a:r>
              <a:rPr lang="en-US" sz="1500" dirty="0">
                <a:solidFill>
                  <a:srgbClr val="D0C8B8"/>
                </a:solidFill>
                <a:latin typeface="Segoe UI" pitchFamily="34" charset="0"/>
                <a:ea typeface="Segoe UI" pitchFamily="34" charset="-122"/>
                <a:cs typeface="Segoe UI" pitchFamily="34" charset="-120"/>
              </a:rPr>
              <a:t>Not a per-response verdict. Specified, not coded in this slice. If asked: that sentence is the whole answer.</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12182A">
              <a:alpha val="30000"/>
            </a:srgbClr>
          </a:solidFill>
          <a:ln/>
        </p:spPr>
      </p:sp>
      <p:sp>
        <p:nvSpPr>
          <p:cNvPr id="3" name="Text 1"/>
          <p:cNvSpPr/>
          <p:nvPr/>
        </p:nvSpPr>
        <p:spPr>
          <a:xfrm>
            <a:off x="384048" y="402336"/>
            <a:ext cx="210312" cy="228600"/>
          </a:xfrm>
          <a:prstGeom prst="rect">
            <a:avLst/>
          </a:prstGeom>
          <a:noFill/>
          <a:ln/>
        </p:spPr>
        <p:txBody>
          <a:bodyPr wrap="square" lIns="0" tIns="0" rIns="0" bIns="0" rtlCol="0" anchor="ctr"/>
          <a:lstStyle/>
          <a:p>
            <a:r>
              <a:rPr lang="en-US" sz="1200" dirty="0">
                <a:solidFill>
                  <a:srgbClr val="C9A227"/>
                </a:solidFill>
                <a:latin typeface="Segoe UI" pitchFamily="34" charset="0"/>
                <a:ea typeface="Segoe UI" pitchFamily="34" charset="-122"/>
                <a:cs typeface="Segoe UI" pitchFamily="34" charset="-120"/>
              </a:rPr>
              <a:t>◢</a:t>
            </a:r>
            <a:endParaRPr lang="en-US" sz="1200" dirty="0"/>
          </a:p>
        </p:txBody>
      </p:sp>
      <p:sp>
        <p:nvSpPr>
          <p:cNvPr id="4" name="Text 2"/>
          <p:cNvSpPr/>
          <p:nvPr/>
        </p:nvSpPr>
        <p:spPr>
          <a:xfrm>
            <a:off x="621792" y="384048"/>
            <a:ext cx="3840480" cy="265176"/>
          </a:xfrm>
          <a:prstGeom prst="rect">
            <a:avLst/>
          </a:prstGeom>
          <a:noFill/>
          <a:ln/>
        </p:spPr>
        <p:txBody>
          <a:bodyPr wrap="square" lIns="0" tIns="0" rIns="0" bIns="0" rtlCol="0" anchor="ctr"/>
          <a:lstStyle/>
          <a:p>
            <a:r>
              <a:rPr lang="en-US" sz="1500" spc="150" kern="0" dirty="0">
                <a:solidFill>
                  <a:srgbClr val="F5F0EB"/>
                </a:solidFill>
                <a:latin typeface="Segoe UI" pitchFamily="34" charset="0"/>
                <a:ea typeface="Segoe UI" pitchFamily="34" charset="-122"/>
                <a:cs typeface="Segoe UI" pitchFamily="34" charset="-120"/>
              </a:rPr>
              <a:t>CONTROLPLANE//SYS</a:t>
            </a:r>
            <a:endParaRPr lang="en-US" sz="1500" dirty="0"/>
          </a:p>
        </p:txBody>
      </p:sp>
      <p:sp>
        <p:nvSpPr>
          <p:cNvPr id="5" name="Text 3"/>
          <p:cNvSpPr/>
          <p:nvPr/>
        </p:nvSpPr>
        <p:spPr>
          <a:xfrm>
            <a:off x="11521440" y="384048"/>
            <a:ext cx="6217920" cy="265176"/>
          </a:xfrm>
          <a:prstGeom prst="rect">
            <a:avLst/>
          </a:prstGeom>
          <a:noFill/>
          <a:ln/>
        </p:spPr>
        <p:txBody>
          <a:bodyPr wrap="square" lIns="0" tIns="0" rIns="0" bIns="0" rtlCol="0" anchor="ctr"/>
          <a:lstStyle/>
          <a:p>
            <a:pPr algn="r"/>
            <a:r>
              <a:rPr lang="en-US" sz="1500" spc="150" kern="0" dirty="0">
                <a:solidFill>
                  <a:srgbClr val="8892B0"/>
                </a:solidFill>
                <a:latin typeface="Segoe UI" pitchFamily="34" charset="0"/>
                <a:ea typeface="Segoe UI" pitchFamily="34" charset="-122"/>
                <a:cs typeface="Segoe UI" pitchFamily="34" charset="-120"/>
              </a:rPr>
              <a:t>13 // MEASURED</a:t>
            </a:r>
            <a:endParaRPr lang="en-US" sz="1500" dirty="0"/>
          </a:p>
        </p:txBody>
      </p:sp>
      <p:sp>
        <p:nvSpPr>
          <p:cNvPr id="6" name="Text 4"/>
          <p:cNvSpPr/>
          <p:nvPr/>
        </p:nvSpPr>
        <p:spPr>
          <a:xfrm>
            <a:off x="17775936" y="402336"/>
            <a:ext cx="210312" cy="228600"/>
          </a:xfrm>
          <a:prstGeom prst="rect">
            <a:avLst/>
          </a:prstGeom>
          <a:noFill/>
          <a:ln/>
        </p:spPr>
        <p:txBody>
          <a:bodyPr wrap="square" lIns="0" tIns="0" rIns="0" bIns="0" rtlCol="0" anchor="ctr"/>
          <a:lstStyle/>
          <a:p>
            <a:r>
              <a:rPr lang="en-US" sz="1200" dirty="0">
                <a:solidFill>
                  <a:srgbClr val="C9A227"/>
                </a:solidFill>
                <a:latin typeface="Segoe UI" pitchFamily="34" charset="0"/>
                <a:ea typeface="Segoe UI" pitchFamily="34" charset="-122"/>
                <a:cs typeface="Segoe UI" pitchFamily="34" charset="-120"/>
              </a:rPr>
              <a:t>◣</a:t>
            </a:r>
            <a:endParaRPr lang="en-US" sz="1200" dirty="0"/>
          </a:p>
        </p:txBody>
      </p:sp>
      <p:sp>
        <p:nvSpPr>
          <p:cNvPr id="7" name="Shape 5"/>
          <p:cNvSpPr/>
          <p:nvPr/>
        </p:nvSpPr>
        <p:spPr>
          <a:xfrm>
            <a:off x="384048" y="9747504"/>
            <a:ext cx="91440" cy="91440"/>
          </a:xfrm>
          <a:prstGeom prst="rect">
            <a:avLst/>
          </a:prstGeom>
          <a:solidFill>
            <a:srgbClr val="C9A227"/>
          </a:solidFill>
          <a:ln/>
        </p:spPr>
      </p:sp>
      <p:sp>
        <p:nvSpPr>
          <p:cNvPr id="8" name="Text 6"/>
          <p:cNvSpPr/>
          <p:nvPr/>
        </p:nvSpPr>
        <p:spPr>
          <a:xfrm>
            <a:off x="566928" y="9683496"/>
            <a:ext cx="2194560" cy="265176"/>
          </a:xfrm>
          <a:prstGeom prst="rect">
            <a:avLst/>
          </a:prstGeom>
          <a:noFill/>
          <a:ln/>
        </p:spPr>
        <p:txBody>
          <a:bodyPr wrap="square" lIns="0" tIns="0" rIns="0" bIns="0" rtlCol="0" anchor="ctr"/>
          <a:lstStyle/>
          <a:p>
            <a:r>
              <a:rPr lang="en-US" sz="1500" dirty="0">
                <a:solidFill>
                  <a:srgbClr val="8892B0"/>
                </a:solidFill>
                <a:latin typeface="Segoe UI" pitchFamily="34" charset="0"/>
                <a:ea typeface="Segoe UI" pitchFamily="34" charset="-122"/>
                <a:cs typeface="Segoe UI" pitchFamily="34" charset="-120"/>
              </a:rPr>
              <a:t>ADMIT//PROVE</a:t>
            </a:r>
            <a:endParaRPr lang="en-US" sz="1500" dirty="0"/>
          </a:p>
        </p:txBody>
      </p:sp>
      <p:sp>
        <p:nvSpPr>
          <p:cNvPr id="9" name="Text 7"/>
          <p:cNvSpPr/>
          <p:nvPr/>
        </p:nvSpPr>
        <p:spPr>
          <a:xfrm>
            <a:off x="13350240" y="9683496"/>
            <a:ext cx="4480560" cy="265176"/>
          </a:xfrm>
          <a:prstGeom prst="rect">
            <a:avLst/>
          </a:prstGeom>
          <a:noFill/>
          <a:ln/>
        </p:spPr>
        <p:txBody>
          <a:bodyPr wrap="square" lIns="0" tIns="0" rIns="0" bIns="0" rtlCol="0" anchor="ctr"/>
          <a:lstStyle/>
          <a:p>
            <a:pPr algn="r"/>
            <a:r>
              <a:rPr lang="en-US" sz="1500" spc="150" kern="0" dirty="0">
                <a:solidFill>
                  <a:srgbClr val="8892B0"/>
                </a:solidFill>
                <a:latin typeface="Segoe UI" pitchFamily="34" charset="0"/>
                <a:ea typeface="Segoe UI" pitchFamily="34" charset="-122"/>
                <a:cs typeface="Segoe UI" pitchFamily="34" charset="-120"/>
              </a:rPr>
              <a:t>AIC.2026 · PS #1 · IITGN</a:t>
            </a:r>
            <a:endParaRPr lang="en-US" sz="1500" dirty="0"/>
          </a:p>
        </p:txBody>
      </p:sp>
      <p:sp>
        <p:nvSpPr>
          <p:cNvPr id="11" name="Text 8"/>
          <p:cNvSpPr/>
          <p:nvPr/>
        </p:nvSpPr>
        <p:spPr>
          <a:xfrm>
            <a:off x="950976" y="914400"/>
            <a:ext cx="12801600" cy="265176"/>
          </a:xfrm>
          <a:prstGeom prst="rect">
            <a:avLst/>
          </a:prstGeom>
          <a:noFill/>
          <a:ln/>
        </p:spPr>
        <p:txBody>
          <a:bodyPr wrap="square" lIns="0" tIns="0" rIns="0" bIns="0" rtlCol="0" anchor="ctr"/>
          <a:lstStyle/>
          <a:p>
            <a:pPr algn="l"/>
            <a:r>
              <a:rPr lang="en-US" sz="1500" spc="300" kern="0" dirty="0">
                <a:solidFill>
                  <a:srgbClr val="C9A227"/>
                </a:solidFill>
                <a:latin typeface="Segoe UI" pitchFamily="34" charset="0"/>
                <a:ea typeface="Segoe UI" pitchFamily="34" charset="-122"/>
                <a:cs typeface="Segoe UI" pitchFamily="34" charset="-120"/>
              </a:rPr>
              <a:t>13 · WHAT WE MEASURED  ·  AND WHAT WE REFUSE TO CLAIM</a:t>
            </a:r>
            <a:endParaRPr lang="en-US" sz="1500" dirty="0"/>
          </a:p>
        </p:txBody>
      </p:sp>
      <p:sp>
        <p:nvSpPr>
          <p:cNvPr id="12" name="Text 9"/>
          <p:cNvSpPr/>
          <p:nvPr/>
        </p:nvSpPr>
        <p:spPr>
          <a:xfrm>
            <a:off x="950976" y="1207008"/>
            <a:ext cx="16367760" cy="475488"/>
          </a:xfrm>
          <a:prstGeom prst="rect">
            <a:avLst/>
          </a:prstGeom>
          <a:noFill/>
          <a:ln/>
        </p:spPr>
        <p:txBody>
          <a:bodyPr wrap="square" lIns="0" tIns="0" rIns="0" bIns="0" rtlCol="0" anchor="t"/>
          <a:lstStyle/>
          <a:p>
            <a:pPr algn="l"/>
            <a:r>
              <a:rPr lang="en-US" sz="2800" b="1" spc="-75" kern="0" dirty="0">
                <a:solidFill>
                  <a:srgbClr val="F5F0EB"/>
                </a:solidFill>
                <a:latin typeface="Segoe UI" pitchFamily="34" charset="0"/>
                <a:ea typeface="Segoe UI" pitchFamily="34" charset="-122"/>
                <a:cs typeface="Segoe UI" pitchFamily="34" charset="-120"/>
              </a:rPr>
              <a:t>168 CASES. </a:t>
            </a:r>
            <a:pPr algn="l"/>
            <a:r>
              <a:rPr lang="en-US" sz="2800" b="1" spc="-75" kern="0" dirty="0">
                <a:solidFill>
                  <a:srgbClr val="C9A227"/>
                </a:solidFill>
                <a:latin typeface="Segoe UI" pitchFamily="34" charset="0"/>
                <a:ea typeface="Segoe UI" pitchFamily="34" charset="-122"/>
                <a:cs typeface="Segoe UI" pitchFamily="34" charset="-120"/>
              </a:rPr>
              <a:t>SELF-AUTHORED</a:t>
            </a:r>
            <a:pPr algn="l"/>
            <a:r>
              <a:rPr lang="en-US" sz="2800" b="1" spc="-75" kern="0" dirty="0">
                <a:solidFill>
                  <a:srgbClr val="F5F0EB"/>
                </a:solidFill>
                <a:latin typeface="Segoe UI" pitchFamily="34" charset="0"/>
                <a:ea typeface="Segoe UI" pitchFamily="34" charset="-122"/>
                <a:cs typeface="Segoe UI" pitchFamily="34" charset="-120"/>
              </a:rPr>
              <a:t>. NO PRODUCTION TRAFFIC.</a:t>
            </a:r>
            <a:endParaRPr lang="en-US" sz="2800" dirty="0"/>
          </a:p>
        </p:txBody>
      </p:sp>
      <p:sp>
        <p:nvSpPr>
          <p:cNvPr id="13" name="Text 10"/>
          <p:cNvSpPr/>
          <p:nvPr/>
        </p:nvSpPr>
        <p:spPr>
          <a:xfrm>
            <a:off x="950976" y="1719072"/>
            <a:ext cx="16367760" cy="292608"/>
          </a:xfrm>
          <a:prstGeom prst="rect">
            <a:avLst/>
          </a:prstGeom>
          <a:noFill/>
          <a:ln/>
        </p:spPr>
        <p:txBody>
          <a:bodyPr wrap="square" lIns="0" tIns="0" rIns="0" bIns="0" rtlCol="0" anchor="ctr"/>
          <a:lstStyle/>
          <a:p>
            <a:r>
              <a:rPr lang="en-US" sz="1500" dirty="0">
                <a:solidFill>
                  <a:srgbClr val="D0C8B8"/>
                </a:solidFill>
                <a:latin typeface="Segoe UI" pitchFamily="34" charset="0"/>
                <a:ea typeface="Segoe UI" pitchFamily="34" charset="-122"/>
                <a:cs typeface="Segoe UI" pitchFamily="34" charset="-120"/>
              </a:rPr>
              <a:t>Every number below regenerates from `make eval` and `make bench`. Intervals, not point estimates. The miss is published, not smoothed.</a:t>
            </a:r>
            <a:endParaRPr lang="en-US" sz="1500" dirty="0"/>
          </a:p>
        </p:txBody>
      </p:sp>
      <p:sp>
        <p:nvSpPr>
          <p:cNvPr id="14" name="Shape 11"/>
          <p:cNvSpPr/>
          <p:nvPr/>
        </p:nvSpPr>
        <p:spPr>
          <a:xfrm>
            <a:off x="950976" y="2121408"/>
            <a:ext cx="9281160" cy="4864608"/>
          </a:xfrm>
          <a:prstGeom prst="rect">
            <a:avLst/>
          </a:prstGeom>
          <a:solidFill>
            <a:srgbClr val="0F1525"/>
          </a:solidFill>
          <a:ln w="8636">
            <a:solidFill>
              <a:srgbClr val="2D3A52"/>
            </a:solidFill>
            <a:prstDash val="solid"/>
          </a:ln>
        </p:spPr>
      </p:sp>
      <p:sp>
        <p:nvSpPr>
          <p:cNvPr id="15" name="Shape 12"/>
          <p:cNvSpPr/>
          <p:nvPr/>
        </p:nvSpPr>
        <p:spPr>
          <a:xfrm>
            <a:off x="960120" y="2560320"/>
            <a:ext cx="9262872" cy="9144"/>
          </a:xfrm>
          <a:prstGeom prst="rect">
            <a:avLst/>
          </a:prstGeom>
          <a:solidFill>
            <a:srgbClr val="1E2A3D"/>
          </a:solidFill>
          <a:ln/>
        </p:spPr>
      </p:sp>
      <p:sp>
        <p:nvSpPr>
          <p:cNvPr id="16" name="Text 13"/>
          <p:cNvSpPr/>
          <p:nvPr/>
        </p:nvSpPr>
        <p:spPr>
          <a:xfrm>
            <a:off x="1115568" y="2194560"/>
            <a:ext cx="4810658" cy="292608"/>
          </a:xfrm>
          <a:prstGeom prst="rect">
            <a:avLst/>
          </a:prstGeom>
          <a:noFill/>
          <a:ln/>
        </p:spPr>
        <p:txBody>
          <a:bodyPr wrap="square" lIns="0" tIns="0" rIns="0" bIns="0" rtlCol="0" anchor="ctr"/>
          <a:lstStyle/>
          <a:p>
            <a:r>
              <a:rPr lang="en-US" sz="1300" spc="120" kern="0" dirty="0">
                <a:solidFill>
                  <a:srgbClr val="8892B0"/>
                </a:solidFill>
                <a:latin typeface="Segoe UI" pitchFamily="34" charset="0"/>
                <a:ea typeface="Segoe UI" pitchFamily="34" charset="-122"/>
                <a:cs typeface="Segoe UI" pitchFamily="34" charset="-120"/>
              </a:rPr>
              <a:t>▸ MEASURED — evals/last_run.json</a:t>
            </a:r>
            <a:endParaRPr lang="en-US" sz="1300" dirty="0"/>
          </a:p>
        </p:txBody>
      </p:sp>
      <p:sp>
        <p:nvSpPr>
          <p:cNvPr id="17" name="Text 14"/>
          <p:cNvSpPr/>
          <p:nvPr/>
        </p:nvSpPr>
        <p:spPr>
          <a:xfrm>
            <a:off x="6334049" y="2194560"/>
            <a:ext cx="3715207" cy="292608"/>
          </a:xfrm>
          <a:prstGeom prst="rect">
            <a:avLst/>
          </a:prstGeom>
          <a:noFill/>
          <a:ln/>
        </p:spPr>
        <p:txBody>
          <a:bodyPr wrap="square" lIns="0" tIns="0" rIns="0" bIns="0" rtlCol="0" anchor="ctr"/>
          <a:lstStyle/>
          <a:p>
            <a:pPr algn="r"/>
            <a:r>
              <a:rPr lang="en-US" sz="1300" spc="100" kern="0" dirty="0">
                <a:solidFill>
                  <a:srgbClr val="8892B0"/>
                </a:solidFill>
                <a:latin typeface="Segoe UI" pitchFamily="34" charset="0"/>
                <a:ea typeface="Segoe UI" pitchFamily="34" charset="-122"/>
                <a:cs typeface="Segoe UI" pitchFamily="34" charset="-120"/>
              </a:rPr>
              <a:t>168 CASES · SELF-AUTHORED</a:t>
            </a:r>
            <a:endParaRPr lang="en-US" sz="1300" dirty="0"/>
          </a:p>
        </p:txBody>
      </p:sp>
      <p:sp>
        <p:nvSpPr>
          <p:cNvPr id="18" name="Text 15"/>
          <p:cNvSpPr/>
          <p:nvPr/>
        </p:nvSpPr>
        <p:spPr>
          <a:xfrm>
            <a:off x="1207008" y="2724912"/>
            <a:ext cx="8778240" cy="4023360"/>
          </a:xfrm>
          <a:prstGeom prst="rect">
            <a:avLst/>
          </a:prstGeom>
          <a:noFill/>
          <a:ln/>
        </p:spPr>
        <p:txBody>
          <a:bodyPr wrap="square" lIns="0" tIns="0" rIns="0" bIns="0" rtlCol="0" anchor="t"/>
          <a:lstStyle/>
          <a:p>
            <a:r>
              <a:rPr lang="en-US" sz="1400" dirty="0">
                <a:solidFill>
                  <a:srgbClr val="D0C8B8"/>
                </a:solidFill>
                <a:latin typeface="SF Mono" pitchFamily="34" charset="0"/>
                <a:ea typeface="SF Mono" pitchFamily="34" charset="-122"/>
                <a:cs typeface="SF Mono" pitchFamily="34" charset="-120"/>
              </a:rPr>
              <a:t>corpus                    168 cases, self-authored</a:t>
            </a:r>
            <a:endParaRPr lang="en-US" sz="1400" dirty="0"/>
          </a:p>
          <a:p>
            <a:r>
              <a:rPr lang="en-US" sz="1400" dirty="0">
                <a:solidFill>
                  <a:srgbClr val="D0C8B8"/>
                </a:solidFill>
                <a:latin typeface="SF Mono" pitchFamily="34" charset="0"/>
                <a:ea typeface="SF Mono" pitchFamily="34" charset="-122"/>
                <a:cs typeface="SF Mono" pitchFamily="34" charset="-120"/>
              </a:rPr>
              <a:t>production traffic        none</a:t>
            </a:r>
            <a:endParaRPr lang="en-US" sz="1400" dirty="0"/>
          </a:p>
          <a:p>
            <a:r>
              <a:rPr lang="en-US" sz="1400" dirty="0">
                <a:solidFill>
                  <a:srgbClr val="D0C8B8"/>
                </a:solidFill>
                <a:latin typeface="SF Mono" pitchFamily="34" charset="0"/>
                <a:ea typeface="SF Mono" pitchFamily="34" charset="-122"/>
                <a:cs typeface="SF Mono" pitchFamily="34" charset="-120"/>
              </a:rPr>
              <a:t>ungrounded FNR            1.1%   95% CI 0.2% - 5.8%</a:t>
            </a:r>
            <a:endParaRPr lang="en-US" sz="1400" dirty="0"/>
          </a:p>
          <a:p>
            <a:r>
              <a:rPr lang="en-US" sz="1400" dirty="0">
                <a:solidFill>
                  <a:srgbClr val="D0C8B8"/>
                </a:solidFill>
                <a:latin typeface="SF Mono" pitchFamily="34" charset="0"/>
                <a:ea typeface="SF Mono" pitchFamily="34" charset="-122"/>
                <a:cs typeface="SF Mono" pitchFamily="34" charset="-120"/>
              </a:rPr>
              <a:t>passable-action FPR       0.0%   95% upper bound 15.5%</a:t>
            </a:r>
            <a:endParaRPr lang="en-US" sz="1400" dirty="0"/>
          </a:p>
          <a:p>
            <a:r>
              <a:rPr lang="en-US" sz="1400" dirty="0">
                <a:solidFill>
                  <a:srgbClr val="D0C8B8"/>
                </a:solidFill>
                <a:latin typeface="SF Mono" pitchFamily="34" charset="0"/>
                <a:ea typeface="SF Mono" pitchFamily="34" charset="-122"/>
                <a:cs typeface="SF Mono" pitchFamily="34" charset="-120"/>
              </a:rPr>
              <a:t>hard-negative hold rate   64%    95% CI 50.7% - 75.7%</a:t>
            </a:r>
            <a:endParaRPr lang="en-US" sz="1400" dirty="0"/>
          </a:p>
          <a:p>
            <a:r>
              <a:rPr lang="en-US" sz="1400" dirty="0">
                <a:solidFill>
                  <a:srgbClr val="D0C8B8"/>
                </a:solidFill>
                <a:latin typeface="SF Mono" pitchFamily="34" charset="0"/>
                <a:ea typeface="SF Mono" pitchFamily="34" charset="-122"/>
                <a:cs typeface="SF Mono" pitchFamily="34" charset="-120"/>
              </a:rPr>
              <a:t>gate latency  n=10000     p50 0.43ms</a:t>
            </a:r>
            <a:endParaRPr lang="en-US" sz="1400" dirty="0"/>
          </a:p>
          <a:p>
            <a:r>
              <a:rPr lang="en-US" sz="1400" dirty="0">
                <a:solidFill>
                  <a:srgbClr val="D0C8B8"/>
                </a:solidFill>
                <a:latin typeface="SF Mono" pitchFamily="34" charset="0"/>
                <a:ea typeface="SF Mono" pitchFamily="34" charset="-122"/>
                <a:cs typeface="SF Mono" pitchFamily="34" charset="-120"/>
              </a:rPr>
              <a:t>                          p95 0.48ms</a:t>
            </a:r>
            <a:endParaRPr lang="en-US" sz="1400" dirty="0"/>
          </a:p>
          <a:p>
            <a:r>
              <a:rPr lang="en-US" sz="1400" dirty="0">
                <a:solidFill>
                  <a:srgbClr val="D0C8B8"/>
                </a:solidFill>
                <a:latin typeface="SF Mono" pitchFamily="34" charset="0"/>
                <a:ea typeface="SF Mono" pitchFamily="34" charset="-122"/>
                <a:cs typeface="SF Mono" pitchFamily="34" charset="-120"/>
              </a:rPr>
              <a:t>                          p99 0.60ms</a:t>
            </a:r>
            <a:endParaRPr lang="en-US" sz="1400" dirty="0"/>
          </a:p>
        </p:txBody>
      </p:sp>
      <p:sp>
        <p:nvSpPr>
          <p:cNvPr id="19" name="Shape 16"/>
          <p:cNvSpPr/>
          <p:nvPr/>
        </p:nvSpPr>
        <p:spPr>
          <a:xfrm>
            <a:off x="950976" y="7187184"/>
            <a:ext cx="9281160" cy="1975104"/>
          </a:xfrm>
          <a:prstGeom prst="rect">
            <a:avLst/>
          </a:prstGeom>
          <a:solidFill>
            <a:srgbClr val="162032"/>
          </a:solidFill>
          <a:ln w="12700">
            <a:solidFill>
              <a:srgbClr val="C9A227"/>
            </a:solidFill>
            <a:prstDash val="solid"/>
          </a:ln>
        </p:spPr>
      </p:sp>
      <p:sp>
        <p:nvSpPr>
          <p:cNvPr id="20" name="Shape 17"/>
          <p:cNvSpPr/>
          <p:nvPr/>
        </p:nvSpPr>
        <p:spPr>
          <a:xfrm>
            <a:off x="950976" y="7187184"/>
            <a:ext cx="9281160" cy="41148"/>
          </a:xfrm>
          <a:prstGeom prst="rect">
            <a:avLst/>
          </a:prstGeom>
          <a:solidFill>
            <a:srgbClr val="C9A227"/>
          </a:solidFill>
          <a:ln/>
        </p:spPr>
      </p:sp>
      <p:sp>
        <p:nvSpPr>
          <p:cNvPr id="21" name="Text 18"/>
          <p:cNvSpPr/>
          <p:nvPr/>
        </p:nvSpPr>
        <p:spPr>
          <a:xfrm>
            <a:off x="1225296" y="7370064"/>
            <a:ext cx="8732520" cy="274320"/>
          </a:xfrm>
          <a:prstGeom prst="rect">
            <a:avLst/>
          </a:prstGeom>
          <a:noFill/>
          <a:ln/>
        </p:spPr>
        <p:txBody>
          <a:bodyPr wrap="square" lIns="0" tIns="0" rIns="0" bIns="0" rtlCol="0" anchor="ctr"/>
          <a:lstStyle/>
          <a:p>
            <a:r>
              <a:rPr lang="en-US" sz="1200" spc="140" kern="0" dirty="0">
                <a:solidFill>
                  <a:srgbClr val="8892B0"/>
                </a:solidFill>
                <a:latin typeface="Segoe UI" pitchFamily="34" charset="0"/>
                <a:ea typeface="Segoe UI" pitchFamily="34" charset="-122"/>
                <a:cs typeface="Segoe UI" pitchFamily="34" charset="-120"/>
              </a:rPr>
              <a:t>THE MISS  ·  NAMED, NOT SMOOTHED</a:t>
            </a:r>
            <a:endParaRPr lang="en-US" sz="1200" dirty="0"/>
          </a:p>
        </p:txBody>
      </p:sp>
      <p:sp>
        <p:nvSpPr>
          <p:cNvPr id="22" name="Text 19"/>
          <p:cNvSpPr/>
          <p:nvPr/>
        </p:nvSpPr>
        <p:spPr>
          <a:xfrm>
            <a:off x="1225296" y="7717536"/>
            <a:ext cx="8732520" cy="384048"/>
          </a:xfrm>
          <a:prstGeom prst="rect">
            <a:avLst/>
          </a:prstGeom>
          <a:noFill/>
          <a:ln/>
        </p:spPr>
        <p:txBody>
          <a:bodyPr wrap="square" lIns="0" tIns="0" rIns="0" bIns="0" rtlCol="0" anchor="ctr"/>
          <a:lstStyle/>
          <a:p>
            <a:r>
              <a:rPr lang="en-US" sz="2000" b="1" dirty="0">
                <a:solidFill>
                  <a:srgbClr val="F5F0EB"/>
                </a:solidFill>
                <a:latin typeface="Segoe UI" pitchFamily="34" charset="0"/>
                <a:ea typeface="Segoe UI" pitchFamily="34" charset="-122"/>
                <a:cs typeface="Segoe UI" pitchFamily="34" charset="-120"/>
              </a:rPr>
              <a:t>Hard-negative hold rate 64% — we over-flag.</a:t>
            </a:r>
            <a:endParaRPr lang="en-US" sz="2000" dirty="0"/>
          </a:p>
        </p:txBody>
      </p:sp>
      <p:sp>
        <p:nvSpPr>
          <p:cNvPr id="23" name="Text 20"/>
          <p:cNvSpPr/>
          <p:nvPr/>
        </p:nvSpPr>
        <p:spPr>
          <a:xfrm>
            <a:off x="1225296" y="8174736"/>
            <a:ext cx="8732520" cy="868680"/>
          </a:xfrm>
          <a:prstGeom prst="rect">
            <a:avLst/>
          </a:prstGeom>
          <a:noFill/>
          <a:ln/>
        </p:spPr>
        <p:txBody>
          <a:bodyPr wrap="square" lIns="0" tIns="0" rIns="0" bIns="0" rtlCol="0" anchor="t"/>
          <a:lstStyle/>
          <a:p>
            <a:r>
              <a:rPr lang="en-US" sz="1500" dirty="0">
                <a:solidFill>
                  <a:srgbClr val="D0C8B8"/>
                </a:solidFill>
                <a:latin typeface="Segoe UI" pitchFamily="34" charset="0"/>
                <a:ea typeface="Segoe UI" pitchFamily="34" charset="-122"/>
                <a:cs typeface="Segoe UI" pitchFamily="34" charset="-120"/>
              </a:rPr>
              <a:t>Measured, published, and named as the next milestone. 53/168 cases are hard negatives (31.5%). Published miss: struct-miss-000.</a:t>
            </a:r>
            <a:endParaRPr lang="en-US" sz="1500" dirty="0"/>
          </a:p>
        </p:txBody>
      </p:sp>
      <p:sp>
        <p:nvSpPr>
          <p:cNvPr id="24" name="Shape 21"/>
          <p:cNvSpPr/>
          <p:nvPr/>
        </p:nvSpPr>
        <p:spPr>
          <a:xfrm>
            <a:off x="10442448" y="2121408"/>
            <a:ext cx="6894576" cy="7040880"/>
          </a:xfrm>
          <a:prstGeom prst="rect">
            <a:avLst/>
          </a:prstGeom>
          <a:solidFill>
            <a:srgbClr val="0F1525"/>
          </a:solidFill>
          <a:ln w="12700">
            <a:solidFill>
              <a:srgbClr val="C9A227"/>
            </a:solidFill>
            <a:prstDash val="solid"/>
          </a:ln>
        </p:spPr>
      </p:sp>
      <p:sp>
        <p:nvSpPr>
          <p:cNvPr id="25" name="Shape 22"/>
          <p:cNvSpPr/>
          <p:nvPr/>
        </p:nvSpPr>
        <p:spPr>
          <a:xfrm>
            <a:off x="10442448" y="2121408"/>
            <a:ext cx="6894576" cy="41148"/>
          </a:xfrm>
          <a:prstGeom prst="rect">
            <a:avLst/>
          </a:prstGeom>
          <a:solidFill>
            <a:srgbClr val="C9A227"/>
          </a:solidFill>
          <a:ln/>
        </p:spPr>
      </p:sp>
      <p:sp>
        <p:nvSpPr>
          <p:cNvPr id="26" name="Text 23"/>
          <p:cNvSpPr/>
          <p:nvPr/>
        </p:nvSpPr>
        <p:spPr>
          <a:xfrm>
            <a:off x="10716768" y="2304288"/>
            <a:ext cx="6400800" cy="274320"/>
          </a:xfrm>
          <a:prstGeom prst="rect">
            <a:avLst/>
          </a:prstGeom>
          <a:noFill/>
          <a:ln/>
        </p:spPr>
        <p:txBody>
          <a:bodyPr wrap="square" lIns="0" tIns="0" rIns="0" bIns="0" rtlCol="0" anchor="ctr"/>
          <a:lstStyle/>
          <a:p>
            <a:r>
              <a:rPr lang="en-US" sz="1200" spc="120" kern="0" dirty="0">
                <a:solidFill>
                  <a:srgbClr val="8892B0"/>
                </a:solidFill>
                <a:latin typeface="Segoe UI" pitchFamily="34" charset="0"/>
                <a:ea typeface="Segoe UI" pitchFamily="34" charset="-122"/>
                <a:cs typeface="Segoe UI" pitchFamily="34" charset="-120"/>
              </a:rPr>
              <a:t>WE REFUSE TO CLAIM  ·  ABOUT US, NOT COMPETITORS</a:t>
            </a:r>
            <a:endParaRPr lang="en-US" sz="1200" dirty="0"/>
          </a:p>
        </p:txBody>
      </p:sp>
      <p:sp>
        <p:nvSpPr>
          <p:cNvPr id="27" name="Text 24"/>
          <p:cNvSpPr/>
          <p:nvPr/>
        </p:nvSpPr>
        <p:spPr>
          <a:xfrm>
            <a:off x="10716768" y="2688336"/>
            <a:ext cx="6400800" cy="365760"/>
          </a:xfrm>
          <a:prstGeom prst="rect">
            <a:avLst/>
          </a:prstGeom>
          <a:noFill/>
          <a:ln/>
        </p:spPr>
        <p:txBody>
          <a:bodyPr wrap="square" lIns="0" tIns="0" rIns="0" bIns="0" rtlCol="0" anchor="ctr"/>
          <a:lstStyle/>
          <a:p>
            <a:r>
              <a:rPr lang="en-US" sz="2000" b="1" dirty="0">
                <a:solidFill>
                  <a:srgbClr val="F5F0EB"/>
                </a:solidFill>
                <a:latin typeface="Segoe UI" pitchFamily="34" charset="0"/>
                <a:ea typeface="Segoe UI" pitchFamily="34" charset="-122"/>
                <a:cs typeface="Segoe UI" pitchFamily="34" charset="-120"/>
              </a:rPr>
              <a:t>We do not claim:</a:t>
            </a:r>
            <a:endParaRPr lang="en-US" sz="2000" dirty="0"/>
          </a:p>
        </p:txBody>
      </p:sp>
      <p:sp>
        <p:nvSpPr>
          <p:cNvPr id="28" name="Text 25"/>
          <p:cNvSpPr/>
          <p:nvPr/>
        </p:nvSpPr>
        <p:spPr>
          <a:xfrm>
            <a:off x="10716768" y="3218688"/>
            <a:ext cx="6400800" cy="2834640"/>
          </a:xfrm>
          <a:prstGeom prst="rect">
            <a:avLst/>
          </a:prstGeom>
          <a:noFill/>
          <a:ln/>
        </p:spPr>
        <p:txBody>
          <a:bodyPr wrap="square" lIns="0" tIns="0" rIns="0" bIns="0" rtlCol="0" anchor="t"/>
          <a:lstStyle/>
          <a:p>
            <a:r>
              <a:rPr lang="en-US" sz="1500" dirty="0">
                <a:solidFill>
                  <a:srgbClr val="D0C8B8"/>
                </a:solidFill>
                <a:latin typeface="SF Mono" pitchFamily="34" charset="0"/>
                <a:ea typeface="SF Mono" pitchFamily="34" charset="-122"/>
                <a:cs typeface="SF Mono" pitchFamily="34" charset="-120"/>
              </a:rPr>
              <a:t>-  eliminated hallucinations</a:t>
            </a:r>
            <a:endParaRPr lang="en-US" sz="1500" dirty="0"/>
          </a:p>
          <a:p>
            <a:r>
              <a:rPr lang="en-US" sz="1500" dirty="0">
                <a:solidFill>
                  <a:srgbClr val="D0C8B8"/>
                </a:solidFill>
                <a:latin typeface="SF Mono" pitchFamily="34" charset="0"/>
                <a:ea typeface="SF Mono" pitchFamily="34" charset="-122"/>
                <a:cs typeface="SF Mono" pitchFamily="34" charset="-120"/>
              </a:rPr>
              <a:t>-  zero integration</a:t>
            </a:r>
            <a:endParaRPr lang="en-US" sz="1500" dirty="0"/>
          </a:p>
          <a:p>
            <a:r>
              <a:rPr lang="en-US" sz="1500" dirty="0">
                <a:solidFill>
                  <a:srgbClr val="D0C8B8"/>
                </a:solidFill>
                <a:latin typeface="SF Mono" pitchFamily="34" charset="0"/>
                <a:ea typeface="SF Mono" pitchFamily="34" charset="-122"/>
                <a:cs typeface="SF Mono" pitchFamily="34" charset="-120"/>
              </a:rPr>
              <a:t>-  zero added latency</a:t>
            </a:r>
            <a:endParaRPr lang="en-US" sz="1500" dirty="0"/>
          </a:p>
          <a:p>
            <a:r>
              <a:rPr lang="en-US" sz="1500" dirty="0">
                <a:solidFill>
                  <a:srgbClr val="D0C8B8"/>
                </a:solidFill>
                <a:latin typeface="SF Mono" pitchFamily="34" charset="0"/>
                <a:ea typeface="SF Mono" pitchFamily="34" charset="-122"/>
                <a:cs typeface="SF Mono" pitchFamily="34" charset="-120"/>
              </a:rPr>
              <a:t>-  one accuracy number across</a:t>
            </a:r>
            <a:endParaRPr lang="en-US" sz="1500" dirty="0"/>
          </a:p>
          <a:p>
            <a:r>
              <a:rPr lang="en-US" sz="1500" dirty="0">
                <a:solidFill>
                  <a:srgbClr val="D0C8B8"/>
                </a:solidFill>
                <a:latin typeface="SF Mono" pitchFamily="34" charset="0"/>
                <a:ea typeface="SF Mono" pitchFamily="34" charset="-122"/>
                <a:cs typeface="SF Mono" pitchFamily="34" charset="-120"/>
              </a:rPr>
              <a:t>   three failure modes</a:t>
            </a:r>
            <a:endParaRPr lang="en-US" sz="1500" dirty="0"/>
          </a:p>
          <a:p>
            <a:r>
              <a:rPr lang="en-US" sz="1500" dirty="0">
                <a:solidFill>
                  <a:srgbClr val="D0C8B8"/>
                </a:solidFill>
                <a:latin typeface="SF Mono" pitchFamily="34" charset="0"/>
                <a:ea typeface="SF Mono" pitchFamily="34" charset="-122"/>
                <a:cs typeface="SF Mono" pitchFamily="34" charset="-120"/>
              </a:rPr>
              <a:t>-  production-scale proof</a:t>
            </a:r>
            <a:endParaRPr lang="en-US" sz="1500" dirty="0"/>
          </a:p>
        </p:txBody>
      </p:sp>
      <p:sp>
        <p:nvSpPr>
          <p:cNvPr id="29" name="Shape 26"/>
          <p:cNvSpPr/>
          <p:nvPr/>
        </p:nvSpPr>
        <p:spPr>
          <a:xfrm>
            <a:off x="10716768" y="6144768"/>
            <a:ext cx="6400800" cy="9144"/>
          </a:xfrm>
          <a:prstGeom prst="rect">
            <a:avLst/>
          </a:prstGeom>
          <a:solidFill>
            <a:srgbClr val="1E2A3D"/>
          </a:solidFill>
          <a:ln/>
        </p:spPr>
      </p:sp>
      <p:sp>
        <p:nvSpPr>
          <p:cNvPr id="30" name="Text 27"/>
          <p:cNvSpPr/>
          <p:nvPr/>
        </p:nvSpPr>
        <p:spPr>
          <a:xfrm>
            <a:off x="10716768" y="6382512"/>
            <a:ext cx="6400800" cy="1188720"/>
          </a:xfrm>
          <a:prstGeom prst="rect">
            <a:avLst/>
          </a:prstGeom>
          <a:noFill/>
          <a:ln/>
        </p:spPr>
        <p:txBody>
          <a:bodyPr wrap="square" lIns="0" tIns="0" rIns="0" bIns="0" rtlCol="0" anchor="t"/>
          <a:lstStyle/>
          <a:p>
            <a:r>
              <a:rPr lang="en-US" sz="1500" dirty="0">
                <a:solidFill>
                  <a:srgbClr val="D0C8B8"/>
                </a:solidFill>
                <a:latin typeface="Segoe UI" pitchFamily="34" charset="0"/>
                <a:ea typeface="Segoe UI" pitchFamily="34" charset="-122"/>
                <a:cs typeface="Segoe UI" pitchFamily="34" charset="-120"/>
              </a:rPr>
              <a:t>What we do claim is bounded: 168 self-authored cases, every rate published with its Wilson interval. Production is unknown until shadow replay.</a:t>
            </a:r>
            <a:endParaRPr lang="en-US" sz="1500" dirty="0"/>
          </a:p>
        </p:txBody>
      </p:sp>
      <p:sp>
        <p:nvSpPr>
          <p:cNvPr id="31" name="Text 28"/>
          <p:cNvSpPr/>
          <p:nvPr/>
        </p:nvSpPr>
        <p:spPr>
          <a:xfrm>
            <a:off x="10716768" y="7699248"/>
            <a:ext cx="6400800" cy="1005840"/>
          </a:xfrm>
          <a:prstGeom prst="rect">
            <a:avLst/>
          </a:prstGeom>
          <a:noFill/>
          <a:ln/>
        </p:spPr>
        <p:txBody>
          <a:bodyPr wrap="square" lIns="0" tIns="0" rIns="0" bIns="0" rtlCol="0" anchor="t"/>
          <a:lstStyle/>
          <a:p>
            <a:r>
              <a:rPr lang="en-US" sz="1700" b="1" dirty="0">
                <a:solidFill>
                  <a:srgbClr val="D4AF37"/>
                </a:solidFill>
                <a:latin typeface="Segoe UI" pitchFamily="34" charset="0"/>
                <a:ea typeface="Segoe UI" pitchFamily="34" charset="-122"/>
                <a:cs typeface="Segoe UI" pitchFamily="34" charset="-120"/>
              </a:rPr>
              <a:t>In the demo, the refund was held and escalated with the evidence packet.</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12182A">
              <a:alpha val="30000"/>
            </a:srgbClr>
          </a:solidFill>
          <a:ln/>
        </p:spPr>
      </p:sp>
      <p:sp>
        <p:nvSpPr>
          <p:cNvPr id="3" name="Text 1"/>
          <p:cNvSpPr/>
          <p:nvPr/>
        </p:nvSpPr>
        <p:spPr>
          <a:xfrm>
            <a:off x="384048" y="402336"/>
            <a:ext cx="210312" cy="228600"/>
          </a:xfrm>
          <a:prstGeom prst="rect">
            <a:avLst/>
          </a:prstGeom>
          <a:noFill/>
          <a:ln/>
        </p:spPr>
        <p:txBody>
          <a:bodyPr wrap="square" lIns="0" tIns="0" rIns="0" bIns="0" rtlCol="0" anchor="ctr"/>
          <a:lstStyle/>
          <a:p>
            <a:r>
              <a:rPr lang="en-US" sz="1200" dirty="0">
                <a:solidFill>
                  <a:srgbClr val="C9A227"/>
                </a:solidFill>
                <a:latin typeface="Segoe UI" pitchFamily="34" charset="0"/>
                <a:ea typeface="Segoe UI" pitchFamily="34" charset="-122"/>
                <a:cs typeface="Segoe UI" pitchFamily="34" charset="-120"/>
              </a:rPr>
              <a:t>◢</a:t>
            </a:r>
            <a:endParaRPr lang="en-US" sz="1200" dirty="0"/>
          </a:p>
        </p:txBody>
      </p:sp>
      <p:sp>
        <p:nvSpPr>
          <p:cNvPr id="4" name="Text 2"/>
          <p:cNvSpPr/>
          <p:nvPr/>
        </p:nvSpPr>
        <p:spPr>
          <a:xfrm>
            <a:off x="621792" y="384048"/>
            <a:ext cx="3840480" cy="265176"/>
          </a:xfrm>
          <a:prstGeom prst="rect">
            <a:avLst/>
          </a:prstGeom>
          <a:noFill/>
          <a:ln/>
        </p:spPr>
        <p:txBody>
          <a:bodyPr wrap="square" lIns="0" tIns="0" rIns="0" bIns="0" rtlCol="0" anchor="ctr"/>
          <a:lstStyle/>
          <a:p>
            <a:r>
              <a:rPr lang="en-US" sz="1500" spc="150" kern="0" dirty="0">
                <a:solidFill>
                  <a:srgbClr val="F5F0EB"/>
                </a:solidFill>
                <a:latin typeface="Segoe UI" pitchFamily="34" charset="0"/>
                <a:ea typeface="Segoe UI" pitchFamily="34" charset="-122"/>
                <a:cs typeface="Segoe UI" pitchFamily="34" charset="-120"/>
              </a:rPr>
              <a:t>CONTROLPLANE//SYS</a:t>
            </a:r>
            <a:endParaRPr lang="en-US" sz="1500" dirty="0"/>
          </a:p>
        </p:txBody>
      </p:sp>
      <p:sp>
        <p:nvSpPr>
          <p:cNvPr id="5" name="Text 3"/>
          <p:cNvSpPr/>
          <p:nvPr/>
        </p:nvSpPr>
        <p:spPr>
          <a:xfrm>
            <a:off x="11521440" y="384048"/>
            <a:ext cx="6217920" cy="265176"/>
          </a:xfrm>
          <a:prstGeom prst="rect">
            <a:avLst/>
          </a:prstGeom>
          <a:noFill/>
          <a:ln/>
        </p:spPr>
        <p:txBody>
          <a:bodyPr wrap="square" lIns="0" tIns="0" rIns="0" bIns="0" rtlCol="0" anchor="ctr"/>
          <a:lstStyle/>
          <a:p>
            <a:pPr algn="r"/>
            <a:r>
              <a:rPr lang="en-US" sz="1500" spc="150" kern="0" dirty="0">
                <a:solidFill>
                  <a:srgbClr val="8892B0"/>
                </a:solidFill>
                <a:latin typeface="Segoe UI" pitchFamily="34" charset="0"/>
                <a:ea typeface="Segoe UI" pitchFamily="34" charset="-122"/>
                <a:cs typeface="Segoe UI" pitchFamily="34" charset="-120"/>
              </a:rPr>
              <a:t>10 // TEAM</a:t>
            </a:r>
            <a:endParaRPr lang="en-US" sz="1500" dirty="0"/>
          </a:p>
        </p:txBody>
      </p:sp>
      <p:sp>
        <p:nvSpPr>
          <p:cNvPr id="6" name="Text 4"/>
          <p:cNvSpPr/>
          <p:nvPr/>
        </p:nvSpPr>
        <p:spPr>
          <a:xfrm>
            <a:off x="17775936" y="402336"/>
            <a:ext cx="210312" cy="228600"/>
          </a:xfrm>
          <a:prstGeom prst="rect">
            <a:avLst/>
          </a:prstGeom>
          <a:noFill/>
          <a:ln/>
        </p:spPr>
        <p:txBody>
          <a:bodyPr wrap="square" lIns="0" tIns="0" rIns="0" bIns="0" rtlCol="0" anchor="ctr"/>
          <a:lstStyle/>
          <a:p>
            <a:r>
              <a:rPr lang="en-US" sz="1200" dirty="0">
                <a:solidFill>
                  <a:srgbClr val="C9A227"/>
                </a:solidFill>
                <a:latin typeface="Segoe UI" pitchFamily="34" charset="0"/>
                <a:ea typeface="Segoe UI" pitchFamily="34" charset="-122"/>
                <a:cs typeface="Segoe UI" pitchFamily="34" charset="-120"/>
              </a:rPr>
              <a:t>◣</a:t>
            </a:r>
            <a:endParaRPr lang="en-US" sz="1200" dirty="0"/>
          </a:p>
        </p:txBody>
      </p:sp>
      <p:sp>
        <p:nvSpPr>
          <p:cNvPr id="7" name="Shape 5"/>
          <p:cNvSpPr/>
          <p:nvPr/>
        </p:nvSpPr>
        <p:spPr>
          <a:xfrm>
            <a:off x="384048" y="9747504"/>
            <a:ext cx="91440" cy="91440"/>
          </a:xfrm>
          <a:prstGeom prst="rect">
            <a:avLst/>
          </a:prstGeom>
          <a:solidFill>
            <a:srgbClr val="C9A227"/>
          </a:solidFill>
          <a:ln/>
        </p:spPr>
      </p:sp>
      <p:sp>
        <p:nvSpPr>
          <p:cNvPr id="8" name="Text 6"/>
          <p:cNvSpPr/>
          <p:nvPr/>
        </p:nvSpPr>
        <p:spPr>
          <a:xfrm>
            <a:off x="566928" y="9683496"/>
            <a:ext cx="2194560" cy="265176"/>
          </a:xfrm>
          <a:prstGeom prst="rect">
            <a:avLst/>
          </a:prstGeom>
          <a:noFill/>
          <a:ln/>
        </p:spPr>
        <p:txBody>
          <a:bodyPr wrap="square" lIns="0" tIns="0" rIns="0" bIns="0" rtlCol="0" anchor="ctr"/>
          <a:lstStyle/>
          <a:p>
            <a:r>
              <a:rPr lang="en-US" sz="1500" dirty="0">
                <a:solidFill>
                  <a:srgbClr val="8892B0"/>
                </a:solidFill>
                <a:latin typeface="Segoe UI" pitchFamily="34" charset="0"/>
                <a:ea typeface="Segoe UI" pitchFamily="34" charset="-122"/>
                <a:cs typeface="Segoe UI" pitchFamily="34" charset="-120"/>
              </a:rPr>
              <a:t>ADMIT//PROVE</a:t>
            </a:r>
            <a:endParaRPr lang="en-US" sz="1500" dirty="0"/>
          </a:p>
        </p:txBody>
      </p:sp>
      <p:sp>
        <p:nvSpPr>
          <p:cNvPr id="9" name="Text 7"/>
          <p:cNvSpPr/>
          <p:nvPr/>
        </p:nvSpPr>
        <p:spPr>
          <a:xfrm>
            <a:off x="13350240" y="9683496"/>
            <a:ext cx="4480560" cy="265176"/>
          </a:xfrm>
          <a:prstGeom prst="rect">
            <a:avLst/>
          </a:prstGeom>
          <a:noFill/>
          <a:ln/>
        </p:spPr>
        <p:txBody>
          <a:bodyPr wrap="square" lIns="0" tIns="0" rIns="0" bIns="0" rtlCol="0" anchor="ctr"/>
          <a:lstStyle/>
          <a:p>
            <a:pPr algn="r"/>
            <a:r>
              <a:rPr lang="en-US" sz="1500" spc="150" kern="0" dirty="0">
                <a:solidFill>
                  <a:srgbClr val="8892B0"/>
                </a:solidFill>
                <a:latin typeface="Segoe UI" pitchFamily="34" charset="0"/>
                <a:ea typeface="Segoe UI" pitchFamily="34" charset="-122"/>
                <a:cs typeface="Segoe UI" pitchFamily="34" charset="-120"/>
              </a:rPr>
              <a:t>AIC.2026 · PS #1 · IITGN</a:t>
            </a:r>
            <a:endParaRPr lang="en-US" sz="1500" dirty="0"/>
          </a:p>
        </p:txBody>
      </p:sp>
      <p:sp>
        <p:nvSpPr>
          <p:cNvPr id="11" name="Text 8"/>
          <p:cNvSpPr/>
          <p:nvPr/>
        </p:nvSpPr>
        <p:spPr>
          <a:xfrm>
            <a:off x="950976" y="914400"/>
            <a:ext cx="7315200" cy="265176"/>
          </a:xfrm>
          <a:prstGeom prst="rect">
            <a:avLst/>
          </a:prstGeom>
          <a:noFill/>
          <a:ln/>
        </p:spPr>
        <p:txBody>
          <a:bodyPr wrap="square" lIns="0" tIns="0" rIns="0" bIns="0" rtlCol="0" anchor="ctr"/>
          <a:lstStyle/>
          <a:p>
            <a:pPr algn="l"/>
            <a:r>
              <a:rPr lang="en-US" sz="1500" spc="300" kern="0" dirty="0">
                <a:solidFill>
                  <a:srgbClr val="C9A227"/>
                </a:solidFill>
                <a:latin typeface="Segoe UI" pitchFamily="34" charset="0"/>
                <a:ea typeface="Segoe UI" pitchFamily="34" charset="-122"/>
                <a:cs typeface="Segoe UI" pitchFamily="34" charset="-120"/>
              </a:rPr>
              <a:t>10 · TEAM</a:t>
            </a:r>
            <a:endParaRPr lang="en-US" sz="1500" dirty="0"/>
          </a:p>
        </p:txBody>
      </p:sp>
      <p:sp>
        <p:nvSpPr>
          <p:cNvPr id="12" name="Text 9"/>
          <p:cNvSpPr/>
          <p:nvPr/>
        </p:nvSpPr>
        <p:spPr>
          <a:xfrm>
            <a:off x="950976" y="1225296"/>
            <a:ext cx="16367760" cy="566928"/>
          </a:xfrm>
          <a:prstGeom prst="rect">
            <a:avLst/>
          </a:prstGeom>
          <a:noFill/>
          <a:ln/>
        </p:spPr>
        <p:txBody>
          <a:bodyPr wrap="square" lIns="0" tIns="0" rIns="0" bIns="0" rtlCol="0" anchor="t"/>
          <a:lstStyle/>
          <a:p>
            <a:pPr algn="l"/>
            <a:r>
              <a:rPr lang="en-US" sz="3200" b="1" spc="-75" kern="0" dirty="0">
                <a:solidFill>
                  <a:srgbClr val="F5F0EB"/>
                </a:solidFill>
                <a:latin typeface="Segoe UI" pitchFamily="34" charset="0"/>
                <a:ea typeface="Segoe UI" pitchFamily="34" charset="-122"/>
                <a:cs typeface="Segoe UI" pitchFamily="34" charset="-120"/>
              </a:rPr>
              <a:t>THE TEAM THAT </a:t>
            </a:r>
            <a:pPr algn="l"/>
            <a:r>
              <a:rPr lang="en-US" sz="3200" b="1" spc="-75" kern="0" dirty="0">
                <a:solidFill>
                  <a:srgbClr val="C9A227"/>
                </a:solidFill>
                <a:latin typeface="Segoe UI" pitchFamily="34" charset="0"/>
                <a:ea typeface="Segoe UI" pitchFamily="34" charset="-122"/>
                <a:cs typeface="Segoe UI" pitchFamily="34" charset="-120"/>
              </a:rPr>
              <a:t>BUILT IT</a:t>
            </a:r>
            <a:pPr algn="l"/>
            <a:r>
              <a:rPr lang="en-US" sz="3200" b="1" spc="-75" kern="0" dirty="0">
                <a:solidFill>
                  <a:srgbClr val="F5F0EB"/>
                </a:solidFill>
                <a:latin typeface="Segoe UI" pitchFamily="34" charset="0"/>
                <a:ea typeface="Segoe UI" pitchFamily="34" charset="-122"/>
                <a:cs typeface="Segoe UI" pitchFamily="34" charset="-120"/>
              </a:rPr>
              <a:t>.</a:t>
            </a:r>
            <a:endParaRPr lang="en-US" sz="3200" dirty="0"/>
          </a:p>
        </p:txBody>
      </p:sp>
      <p:sp>
        <p:nvSpPr>
          <p:cNvPr id="13" name="Text 10"/>
          <p:cNvSpPr/>
          <p:nvPr/>
        </p:nvSpPr>
        <p:spPr>
          <a:xfrm>
            <a:off x="950976" y="1810512"/>
            <a:ext cx="16367760" cy="329184"/>
          </a:xfrm>
          <a:prstGeom prst="rect">
            <a:avLst/>
          </a:prstGeom>
          <a:noFill/>
          <a:ln/>
        </p:spPr>
        <p:txBody>
          <a:bodyPr wrap="square" lIns="0" tIns="0" rIns="0" bIns="0" rtlCol="0" anchor="ctr"/>
          <a:lstStyle/>
          <a:p>
            <a:r>
              <a:rPr lang="en-US" sz="1700" dirty="0">
                <a:solidFill>
                  <a:srgbClr val="D0C8B8"/>
                </a:solidFill>
                <a:latin typeface="Segoe UI" pitchFamily="34" charset="0"/>
                <a:ea typeface="Segoe UI" pitchFamily="34" charset="-122"/>
                <a:cs typeface="Segoe UI" pitchFamily="34" charset="-120"/>
              </a:rPr>
              <a:t>Two people. One graph. Every portal artifact regenerated from measured JSON.</a:t>
            </a:r>
            <a:endParaRPr lang="en-US" sz="1700" dirty="0"/>
          </a:p>
        </p:txBody>
      </p:sp>
      <p:sp>
        <p:nvSpPr>
          <p:cNvPr id="14" name="Shape 11"/>
          <p:cNvSpPr/>
          <p:nvPr/>
        </p:nvSpPr>
        <p:spPr>
          <a:xfrm>
            <a:off x="950976" y="2542032"/>
            <a:ext cx="8101584" cy="4754880"/>
          </a:xfrm>
          <a:prstGeom prst="rect">
            <a:avLst/>
          </a:prstGeom>
          <a:solidFill>
            <a:srgbClr val="0F1525"/>
          </a:solidFill>
          <a:ln w="13970">
            <a:solidFill>
              <a:srgbClr val="C9A227"/>
            </a:solidFill>
            <a:prstDash val="solid"/>
          </a:ln>
        </p:spPr>
      </p:sp>
      <p:sp>
        <p:nvSpPr>
          <p:cNvPr id="15" name="Shape 12"/>
          <p:cNvSpPr/>
          <p:nvPr/>
        </p:nvSpPr>
        <p:spPr>
          <a:xfrm>
            <a:off x="950976" y="2542032"/>
            <a:ext cx="8101584" cy="41148"/>
          </a:xfrm>
          <a:prstGeom prst="rect">
            <a:avLst/>
          </a:prstGeom>
          <a:solidFill>
            <a:srgbClr val="C9A227"/>
          </a:solidFill>
          <a:ln/>
        </p:spPr>
      </p:sp>
      <p:sp>
        <p:nvSpPr>
          <p:cNvPr id="16" name="Text 13"/>
          <p:cNvSpPr/>
          <p:nvPr/>
        </p:nvSpPr>
        <p:spPr>
          <a:xfrm>
            <a:off x="1225296" y="2743200"/>
            <a:ext cx="7552944" cy="384048"/>
          </a:xfrm>
          <a:prstGeom prst="rect">
            <a:avLst/>
          </a:prstGeom>
          <a:noFill/>
          <a:ln/>
        </p:spPr>
        <p:txBody>
          <a:bodyPr wrap="square" lIns="0" tIns="0" rIns="0" bIns="0" rtlCol="0" anchor="ctr"/>
          <a:lstStyle/>
          <a:p>
            <a:r>
              <a:rPr lang="en-US" sz="2200" b="1" spc="120" kern="0" dirty="0">
                <a:solidFill>
                  <a:srgbClr val="F5F0EB"/>
                </a:solidFill>
                <a:latin typeface="Segoe UI" pitchFamily="34" charset="0"/>
                <a:ea typeface="Segoe UI" pitchFamily="34" charset="-122"/>
                <a:cs typeface="Segoe UI" pitchFamily="34" charset="-120"/>
              </a:rPr>
              <a:t>CHODA SRUJAN SAI</a:t>
            </a:r>
            <a:endParaRPr lang="en-US" sz="2200" dirty="0"/>
          </a:p>
        </p:txBody>
      </p:sp>
      <p:sp>
        <p:nvSpPr>
          <p:cNvPr id="17" name="Text 14"/>
          <p:cNvSpPr/>
          <p:nvPr/>
        </p:nvSpPr>
        <p:spPr>
          <a:xfrm>
            <a:off x="1225296" y="3218688"/>
            <a:ext cx="7552944" cy="292608"/>
          </a:xfrm>
          <a:prstGeom prst="rect">
            <a:avLst/>
          </a:prstGeom>
          <a:noFill/>
          <a:ln/>
        </p:spPr>
        <p:txBody>
          <a:bodyPr wrap="square" lIns="0" tIns="0" rIns="0" bIns="0" rtlCol="0" anchor="ctr"/>
          <a:lstStyle/>
          <a:p>
            <a:r>
              <a:rPr lang="en-US" sz="1300" spc="160" kern="0" dirty="0">
                <a:solidFill>
                  <a:srgbClr val="C9A227"/>
                </a:solidFill>
                <a:latin typeface="Segoe UI" pitchFamily="34" charset="0"/>
                <a:ea typeface="Segoe UI" pitchFamily="34" charset="-122"/>
                <a:cs typeface="Segoe UI" pitchFamily="34" charset="-120"/>
              </a:rPr>
              <a:t>ARCHITECTURE  ·  MECHANISM  ·  DEMO</a:t>
            </a:r>
            <a:endParaRPr lang="en-US" sz="1300" dirty="0"/>
          </a:p>
        </p:txBody>
      </p:sp>
      <p:sp>
        <p:nvSpPr>
          <p:cNvPr id="18" name="Text 15"/>
          <p:cNvSpPr/>
          <p:nvPr/>
        </p:nvSpPr>
        <p:spPr>
          <a:xfrm>
            <a:off x="1225296" y="3639312"/>
            <a:ext cx="7552944" cy="1645920"/>
          </a:xfrm>
          <a:prstGeom prst="rect">
            <a:avLst/>
          </a:prstGeom>
          <a:noFill/>
          <a:ln/>
        </p:spPr>
        <p:txBody>
          <a:bodyPr wrap="square" lIns="0" tIns="0" rIns="0" bIns="0" rtlCol="0" anchor="t"/>
          <a:lstStyle/>
          <a:p>
            <a:r>
              <a:rPr lang="en-US" sz="1500" dirty="0">
                <a:solidFill>
                  <a:srgbClr val="D0C8B8"/>
                </a:solidFill>
                <a:latin typeface="Segoe UI" pitchFamily="34" charset="0"/>
                <a:ea typeface="Segoe UI" pitchFamily="34" charset="-122"/>
                <a:cs typeface="Segoe UI" pitchFamily="34" charset="-120"/>
              </a:rPr>
              <a:t>Designs the interlock, builds the gate, runs the load bench. Owns the latency and eval numbers and the reproducible rebuild of every portal artifact.</a:t>
            </a:r>
            <a:endParaRPr lang="en-US" sz="1500" dirty="0"/>
          </a:p>
        </p:txBody>
      </p:sp>
      <p:sp>
        <p:nvSpPr>
          <p:cNvPr id="19" name="Text 16"/>
          <p:cNvSpPr/>
          <p:nvPr/>
        </p:nvSpPr>
        <p:spPr>
          <a:xfrm>
            <a:off x="1225296" y="5577840"/>
            <a:ext cx="7552944" cy="1554480"/>
          </a:xfrm>
          <a:prstGeom prst="rect">
            <a:avLst/>
          </a:prstGeom>
          <a:noFill/>
          <a:ln/>
        </p:spPr>
        <p:txBody>
          <a:bodyPr wrap="square" lIns="0" tIns="0" rIns="0" bIns="0" rtlCol="0" anchor="t"/>
          <a:lstStyle/>
          <a:p>
            <a:r>
              <a:rPr lang="en-US" sz="1200" dirty="0">
                <a:solidFill>
                  <a:srgbClr val="8892B0"/>
                </a:solidFill>
                <a:latin typeface="SF Mono" pitchFamily="34" charset="0"/>
                <a:ea typeface="SF Mono" pitchFamily="34" charset="-122"/>
                <a:cs typeface="SF Mono" pitchFamily="34" charset="-120"/>
              </a:rPr>
              <a:t>controlplane/interlock.py  ·  scripts/load_bench.py  ·  scripts/build_*_pdf.py</a:t>
            </a:r>
            <a:endParaRPr lang="en-US" sz="1200" dirty="0"/>
          </a:p>
        </p:txBody>
      </p:sp>
      <p:sp>
        <p:nvSpPr>
          <p:cNvPr id="20" name="Shape 17"/>
          <p:cNvSpPr/>
          <p:nvPr/>
        </p:nvSpPr>
        <p:spPr>
          <a:xfrm>
            <a:off x="9272016" y="2542032"/>
            <a:ext cx="8101584" cy="4754880"/>
          </a:xfrm>
          <a:prstGeom prst="rect">
            <a:avLst/>
          </a:prstGeom>
          <a:solidFill>
            <a:srgbClr val="0F1525"/>
          </a:solidFill>
          <a:ln w="13970">
            <a:solidFill>
              <a:srgbClr val="C9A227"/>
            </a:solidFill>
            <a:prstDash val="solid"/>
          </a:ln>
        </p:spPr>
      </p:sp>
      <p:sp>
        <p:nvSpPr>
          <p:cNvPr id="21" name="Shape 18"/>
          <p:cNvSpPr/>
          <p:nvPr/>
        </p:nvSpPr>
        <p:spPr>
          <a:xfrm>
            <a:off x="9272016" y="2542032"/>
            <a:ext cx="8101584" cy="41148"/>
          </a:xfrm>
          <a:prstGeom prst="rect">
            <a:avLst/>
          </a:prstGeom>
          <a:solidFill>
            <a:srgbClr val="C9A227"/>
          </a:solidFill>
          <a:ln/>
        </p:spPr>
      </p:sp>
      <p:sp>
        <p:nvSpPr>
          <p:cNvPr id="22" name="Text 19"/>
          <p:cNvSpPr/>
          <p:nvPr/>
        </p:nvSpPr>
        <p:spPr>
          <a:xfrm>
            <a:off x="9546336" y="2743200"/>
            <a:ext cx="7552944" cy="384048"/>
          </a:xfrm>
          <a:prstGeom prst="rect">
            <a:avLst/>
          </a:prstGeom>
          <a:noFill/>
          <a:ln/>
        </p:spPr>
        <p:txBody>
          <a:bodyPr wrap="square" lIns="0" tIns="0" rIns="0" bIns="0" rtlCol="0" anchor="ctr"/>
          <a:lstStyle/>
          <a:p>
            <a:r>
              <a:rPr lang="en-US" sz="2200" b="1" spc="120" kern="0" dirty="0">
                <a:solidFill>
                  <a:srgbClr val="F5F0EB"/>
                </a:solidFill>
                <a:latin typeface="Segoe UI" pitchFamily="34" charset="0"/>
                <a:ea typeface="Segoe UI" pitchFamily="34" charset="-122"/>
                <a:cs typeface="Segoe UI" pitchFamily="34" charset="-120"/>
              </a:rPr>
              <a:t>DHRITHIKA</a:t>
            </a:r>
            <a:endParaRPr lang="en-US" sz="2200" dirty="0"/>
          </a:p>
        </p:txBody>
      </p:sp>
      <p:sp>
        <p:nvSpPr>
          <p:cNvPr id="23" name="Text 20"/>
          <p:cNvSpPr/>
          <p:nvPr/>
        </p:nvSpPr>
        <p:spPr>
          <a:xfrm>
            <a:off x="9546336" y="3218688"/>
            <a:ext cx="7552944" cy="292608"/>
          </a:xfrm>
          <a:prstGeom prst="rect">
            <a:avLst/>
          </a:prstGeom>
          <a:noFill/>
          <a:ln/>
        </p:spPr>
        <p:txBody>
          <a:bodyPr wrap="square" lIns="0" tIns="0" rIns="0" bIns="0" rtlCol="0" anchor="ctr"/>
          <a:lstStyle/>
          <a:p>
            <a:r>
              <a:rPr lang="en-US" sz="1300" spc="160" kern="0" dirty="0">
                <a:solidFill>
                  <a:srgbClr val="C9A227"/>
                </a:solidFill>
                <a:latin typeface="Segoe UI" pitchFamily="34" charset="0"/>
                <a:ea typeface="Segoe UI" pitchFamily="34" charset="-122"/>
                <a:cs typeface="Segoe UI" pitchFamily="34" charset="-120"/>
              </a:rPr>
              <a:t>NARRATIVE  ·  PITCH  ·  HOSTILE Q&amp;A</a:t>
            </a:r>
            <a:endParaRPr lang="en-US" sz="1300" dirty="0"/>
          </a:p>
        </p:txBody>
      </p:sp>
      <p:sp>
        <p:nvSpPr>
          <p:cNvPr id="24" name="Text 21"/>
          <p:cNvSpPr/>
          <p:nvPr/>
        </p:nvSpPr>
        <p:spPr>
          <a:xfrm>
            <a:off x="9546336" y="3639312"/>
            <a:ext cx="7552944" cy="1645920"/>
          </a:xfrm>
          <a:prstGeom prst="rect">
            <a:avLst/>
          </a:prstGeom>
          <a:noFill/>
          <a:ln/>
        </p:spPr>
        <p:txBody>
          <a:bodyPr wrap="square" lIns="0" tIns="0" rIns="0" bIns="0" rtlCol="0" anchor="t"/>
          <a:lstStyle/>
          <a:p>
            <a:r>
              <a:rPr lang="en-US" sz="1500" dirty="0">
                <a:solidFill>
                  <a:srgbClr val="D0C8B8"/>
                </a:solidFill>
                <a:latin typeface="Segoe UI" pitchFamily="34" charset="0"/>
                <a:ea typeface="Segoe UI" pitchFamily="34" charset="-122"/>
                <a:cs typeface="Segoe UI" pitchFamily="34" charset="-120"/>
              </a:rPr>
              <a:t>Owns the story arc and the room defense. Leads the hostile-Q&amp;A drill (B1 and B5 hardest) and keeps the vocabulary disciplined (admit, authorise, hold — never watch, detect, trust).</a:t>
            </a:r>
            <a:endParaRPr lang="en-US" sz="1500" dirty="0"/>
          </a:p>
        </p:txBody>
      </p:sp>
      <p:sp>
        <p:nvSpPr>
          <p:cNvPr id="25" name="Text 22"/>
          <p:cNvSpPr/>
          <p:nvPr/>
        </p:nvSpPr>
        <p:spPr>
          <a:xfrm>
            <a:off x="9546336" y="5577840"/>
            <a:ext cx="7552944" cy="1554480"/>
          </a:xfrm>
          <a:prstGeom prst="rect">
            <a:avLst/>
          </a:prstGeom>
          <a:noFill/>
          <a:ln/>
        </p:spPr>
        <p:txBody>
          <a:bodyPr wrap="square" lIns="0" tIns="0" rIns="0" bIns="0" rtlCol="0" anchor="t"/>
          <a:lstStyle/>
          <a:p>
            <a:r>
              <a:rPr lang="en-US" sz="1200" dirty="0">
                <a:solidFill>
                  <a:srgbClr val="8892B0"/>
                </a:solidFill>
                <a:latin typeface="SF Mono" pitchFamily="34" charset="0"/>
                <a:ea typeface="SF Mono" pitchFamily="34" charset="-122"/>
                <a:cs typeface="SF Mono" pitchFamily="34" charset="-120"/>
              </a:rPr>
              <a:t>round2/R2S5.md  ·  docs/JUDGE_RUNBOOK.md  ·  docs/reference/QA.md</a:t>
            </a:r>
            <a:endParaRPr lang="en-US" sz="1200" dirty="0"/>
          </a:p>
        </p:txBody>
      </p:sp>
      <p:sp>
        <p:nvSpPr>
          <p:cNvPr id="26" name="Shape 23"/>
          <p:cNvSpPr/>
          <p:nvPr/>
        </p:nvSpPr>
        <p:spPr>
          <a:xfrm>
            <a:off x="950976" y="7479792"/>
            <a:ext cx="16386048" cy="1993392"/>
          </a:xfrm>
          <a:prstGeom prst="rect">
            <a:avLst/>
          </a:prstGeom>
          <a:solidFill>
            <a:srgbClr val="0F1525"/>
          </a:solidFill>
          <a:ln w="8636">
            <a:solidFill>
              <a:srgbClr val="1E2A3D"/>
            </a:solidFill>
            <a:prstDash val="solid"/>
          </a:ln>
        </p:spPr>
      </p:sp>
      <p:sp>
        <p:nvSpPr>
          <p:cNvPr id="27" name="Text 24"/>
          <p:cNvSpPr/>
          <p:nvPr/>
        </p:nvSpPr>
        <p:spPr>
          <a:xfrm>
            <a:off x="1243584" y="7699248"/>
            <a:ext cx="15819120" cy="329184"/>
          </a:xfrm>
          <a:prstGeom prst="rect">
            <a:avLst/>
          </a:prstGeom>
          <a:noFill/>
          <a:ln/>
        </p:spPr>
        <p:txBody>
          <a:bodyPr wrap="square" lIns="0" tIns="0" rIns="0" bIns="0" rtlCol="0" anchor="ctr"/>
          <a:lstStyle/>
          <a:p>
            <a:r>
              <a:rPr lang="en-US" sz="1500" b="1" spc="140" kern="0" dirty="0">
                <a:solidFill>
                  <a:srgbClr val="F5F0EB"/>
                </a:solidFill>
                <a:latin typeface="Segoe UI" pitchFamily="34" charset="0"/>
                <a:ea typeface="Segoe UI" pitchFamily="34" charset="-122"/>
                <a:cs typeface="Segoe UI" pitchFamily="34" charset="-120"/>
              </a:rPr>
              <a:t>IIT GANDHINAGAR  ·  TEAM CONTROLPLANE  ·  ACCENTURE INNOVATION CHALLENGE 2026  ·  PS #1</a:t>
            </a:r>
            <a:endParaRPr lang="en-US" sz="1500" dirty="0"/>
          </a:p>
        </p:txBody>
      </p:sp>
      <p:sp>
        <p:nvSpPr>
          <p:cNvPr id="28" name="Text 25"/>
          <p:cNvSpPr/>
          <p:nvPr/>
        </p:nvSpPr>
        <p:spPr>
          <a:xfrm>
            <a:off x="1243584" y="8101584"/>
            <a:ext cx="15819120" cy="329184"/>
          </a:xfrm>
          <a:prstGeom prst="rect">
            <a:avLst/>
          </a:prstGeom>
          <a:noFill/>
          <a:ln/>
        </p:spPr>
        <p:txBody>
          <a:bodyPr wrap="square" lIns="0" tIns="0" rIns="0" bIns="0" rtlCol="0" anchor="ctr"/>
          <a:lstStyle/>
          <a:p>
            <a:r>
              <a:rPr lang="en-US" sz="1400" dirty="0">
                <a:solidFill>
                  <a:srgbClr val="D0C8B8"/>
                </a:solidFill>
                <a:latin typeface="Segoe UI" pitchFamily="34" charset="0"/>
                <a:ea typeface="Segoe UI" pitchFamily="34" charset="-122"/>
                <a:cs typeface="Segoe UI" pitchFamily="34" charset="-120"/>
              </a:rPr>
              <a:t>Public GitHub: github.com/Srujan0798/controlplane-ai  ·  branch main  ·  frozen tag v0.2.0-round2.</a:t>
            </a:r>
            <a:endParaRPr lang="en-US" sz="1400" dirty="0"/>
          </a:p>
        </p:txBody>
      </p:sp>
      <p:sp>
        <p:nvSpPr>
          <p:cNvPr id="29" name="Text 26"/>
          <p:cNvSpPr/>
          <p:nvPr/>
        </p:nvSpPr>
        <p:spPr>
          <a:xfrm>
            <a:off x="1243584" y="8485632"/>
            <a:ext cx="15819120" cy="713232"/>
          </a:xfrm>
          <a:prstGeom prst="rect">
            <a:avLst/>
          </a:prstGeom>
          <a:noFill/>
          <a:ln/>
        </p:spPr>
        <p:txBody>
          <a:bodyPr wrap="square" lIns="0" tIns="0" rIns="0" bIns="0" rtlCol="0" anchor="t"/>
          <a:lstStyle/>
          <a:p>
            <a:r>
              <a:rPr lang="en-US" sz="1400" dirty="0">
                <a:solidFill>
                  <a:srgbClr val="8892B0"/>
                </a:solidFill>
                <a:latin typeface="Segoe UI" pitchFamily="34" charset="0"/>
                <a:ea typeface="Segoe UI" pitchFamily="34" charset="-122"/>
                <a:cs typeface="Segoe UI" pitchFamily="34" charset="-120"/>
              </a:rPr>
              <a:t>Every artifact in /submission regenerates from the live JSON. make verify is the source of truth — if a number is not in submission/latency_bench.json, it does not exist.</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60A14"/>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12182A">
              <a:alpha val="30000"/>
            </a:srgbClr>
          </a:solidFill>
          <a:ln/>
        </p:spPr>
      </p:sp>
      <p:sp>
        <p:nvSpPr>
          <p:cNvPr id="3" name="Text 1"/>
          <p:cNvSpPr/>
          <p:nvPr/>
        </p:nvSpPr>
        <p:spPr>
          <a:xfrm>
            <a:off x="384048" y="402336"/>
            <a:ext cx="210312" cy="228600"/>
          </a:xfrm>
          <a:prstGeom prst="rect">
            <a:avLst/>
          </a:prstGeom>
          <a:noFill/>
          <a:ln/>
        </p:spPr>
        <p:txBody>
          <a:bodyPr wrap="square" lIns="0" tIns="0" rIns="0" bIns="0" rtlCol="0" anchor="ctr"/>
          <a:lstStyle/>
          <a:p>
            <a:r>
              <a:rPr lang="en-US" sz="1200" dirty="0">
                <a:solidFill>
                  <a:srgbClr val="C9A227"/>
                </a:solidFill>
                <a:latin typeface="Segoe UI" pitchFamily="34" charset="0"/>
                <a:ea typeface="Segoe UI" pitchFamily="34" charset="-122"/>
                <a:cs typeface="Segoe UI" pitchFamily="34" charset="-120"/>
              </a:rPr>
              <a:t>◢</a:t>
            </a:r>
            <a:endParaRPr lang="en-US" sz="1200" dirty="0"/>
          </a:p>
        </p:txBody>
      </p:sp>
      <p:sp>
        <p:nvSpPr>
          <p:cNvPr id="4" name="Text 2"/>
          <p:cNvSpPr/>
          <p:nvPr/>
        </p:nvSpPr>
        <p:spPr>
          <a:xfrm>
            <a:off x="621792" y="384048"/>
            <a:ext cx="3840480" cy="265176"/>
          </a:xfrm>
          <a:prstGeom prst="rect">
            <a:avLst/>
          </a:prstGeom>
          <a:noFill/>
          <a:ln/>
        </p:spPr>
        <p:txBody>
          <a:bodyPr wrap="square" lIns="0" tIns="0" rIns="0" bIns="0" rtlCol="0" anchor="ctr"/>
          <a:lstStyle/>
          <a:p>
            <a:r>
              <a:rPr lang="en-US" sz="1500" spc="150" kern="0" dirty="0">
                <a:solidFill>
                  <a:srgbClr val="F5F0EB"/>
                </a:solidFill>
                <a:latin typeface="Segoe UI" pitchFamily="34" charset="0"/>
                <a:ea typeface="Segoe UI" pitchFamily="34" charset="-122"/>
                <a:cs typeface="Segoe UI" pitchFamily="34" charset="-120"/>
              </a:rPr>
              <a:t>CONTROLPLANE//SYS</a:t>
            </a:r>
            <a:endParaRPr lang="en-US" sz="1500" dirty="0"/>
          </a:p>
        </p:txBody>
      </p:sp>
      <p:sp>
        <p:nvSpPr>
          <p:cNvPr id="5" name="Text 3"/>
          <p:cNvSpPr/>
          <p:nvPr/>
        </p:nvSpPr>
        <p:spPr>
          <a:xfrm>
            <a:off x="11521440" y="384048"/>
            <a:ext cx="6217920" cy="265176"/>
          </a:xfrm>
          <a:prstGeom prst="rect">
            <a:avLst/>
          </a:prstGeom>
          <a:noFill/>
          <a:ln/>
        </p:spPr>
        <p:txBody>
          <a:bodyPr wrap="square" lIns="0" tIns="0" rIns="0" bIns="0" rtlCol="0" anchor="ctr"/>
          <a:lstStyle/>
          <a:p>
            <a:pPr algn="r"/>
            <a:r>
              <a:rPr lang="en-US" sz="1500" spc="150" kern="0" dirty="0">
                <a:solidFill>
                  <a:srgbClr val="8892B0"/>
                </a:solidFill>
                <a:latin typeface="Segoe UI" pitchFamily="34" charset="0"/>
                <a:ea typeface="Segoe UI" pitchFamily="34" charset="-122"/>
                <a:cs typeface="Segoe UI" pitchFamily="34" charset="-120"/>
              </a:rPr>
              <a:t>14 // ASK</a:t>
            </a:r>
            <a:endParaRPr lang="en-US" sz="1500" dirty="0"/>
          </a:p>
        </p:txBody>
      </p:sp>
      <p:sp>
        <p:nvSpPr>
          <p:cNvPr id="6" name="Text 4"/>
          <p:cNvSpPr/>
          <p:nvPr/>
        </p:nvSpPr>
        <p:spPr>
          <a:xfrm>
            <a:off x="17775936" y="402336"/>
            <a:ext cx="210312" cy="228600"/>
          </a:xfrm>
          <a:prstGeom prst="rect">
            <a:avLst/>
          </a:prstGeom>
          <a:noFill/>
          <a:ln/>
        </p:spPr>
        <p:txBody>
          <a:bodyPr wrap="square" lIns="0" tIns="0" rIns="0" bIns="0" rtlCol="0" anchor="ctr"/>
          <a:lstStyle/>
          <a:p>
            <a:r>
              <a:rPr lang="en-US" sz="1200" dirty="0">
                <a:solidFill>
                  <a:srgbClr val="C9A227"/>
                </a:solidFill>
                <a:latin typeface="Segoe UI" pitchFamily="34" charset="0"/>
                <a:ea typeface="Segoe UI" pitchFamily="34" charset="-122"/>
                <a:cs typeface="Segoe UI" pitchFamily="34" charset="-120"/>
              </a:rPr>
              <a:t>◣</a:t>
            </a:r>
            <a:endParaRPr lang="en-US" sz="1200" dirty="0"/>
          </a:p>
        </p:txBody>
      </p:sp>
      <p:sp>
        <p:nvSpPr>
          <p:cNvPr id="7" name="Shape 5"/>
          <p:cNvSpPr/>
          <p:nvPr/>
        </p:nvSpPr>
        <p:spPr>
          <a:xfrm>
            <a:off x="384048" y="9747504"/>
            <a:ext cx="91440" cy="91440"/>
          </a:xfrm>
          <a:prstGeom prst="rect">
            <a:avLst/>
          </a:prstGeom>
          <a:solidFill>
            <a:srgbClr val="C9A227"/>
          </a:solidFill>
          <a:ln/>
        </p:spPr>
      </p:sp>
      <p:sp>
        <p:nvSpPr>
          <p:cNvPr id="8" name="Text 6"/>
          <p:cNvSpPr/>
          <p:nvPr/>
        </p:nvSpPr>
        <p:spPr>
          <a:xfrm>
            <a:off x="566928" y="9683496"/>
            <a:ext cx="2194560" cy="265176"/>
          </a:xfrm>
          <a:prstGeom prst="rect">
            <a:avLst/>
          </a:prstGeom>
          <a:noFill/>
          <a:ln/>
        </p:spPr>
        <p:txBody>
          <a:bodyPr wrap="square" lIns="0" tIns="0" rIns="0" bIns="0" rtlCol="0" anchor="ctr"/>
          <a:lstStyle/>
          <a:p>
            <a:r>
              <a:rPr lang="en-US" sz="1500" dirty="0">
                <a:solidFill>
                  <a:srgbClr val="8892B0"/>
                </a:solidFill>
                <a:latin typeface="Segoe UI" pitchFamily="34" charset="0"/>
                <a:ea typeface="Segoe UI" pitchFamily="34" charset="-122"/>
                <a:cs typeface="Segoe UI" pitchFamily="34" charset="-120"/>
              </a:rPr>
              <a:t>ADMIT//PROVE</a:t>
            </a:r>
            <a:endParaRPr lang="en-US" sz="1500" dirty="0"/>
          </a:p>
        </p:txBody>
      </p:sp>
      <p:sp>
        <p:nvSpPr>
          <p:cNvPr id="9" name="Text 7"/>
          <p:cNvSpPr/>
          <p:nvPr/>
        </p:nvSpPr>
        <p:spPr>
          <a:xfrm>
            <a:off x="13350240" y="9683496"/>
            <a:ext cx="4480560" cy="265176"/>
          </a:xfrm>
          <a:prstGeom prst="rect">
            <a:avLst/>
          </a:prstGeom>
          <a:noFill/>
          <a:ln/>
        </p:spPr>
        <p:txBody>
          <a:bodyPr wrap="square" lIns="0" tIns="0" rIns="0" bIns="0" rtlCol="0" anchor="ctr"/>
          <a:lstStyle/>
          <a:p>
            <a:pPr algn="r"/>
            <a:r>
              <a:rPr lang="en-US" sz="1500" spc="150" kern="0" dirty="0">
                <a:solidFill>
                  <a:srgbClr val="8892B0"/>
                </a:solidFill>
                <a:latin typeface="Segoe UI" pitchFamily="34" charset="0"/>
                <a:ea typeface="Segoe UI" pitchFamily="34" charset="-122"/>
                <a:cs typeface="Segoe UI" pitchFamily="34" charset="-120"/>
              </a:rPr>
              <a:t>AIC.2026 · PS #1 · IITGN</a:t>
            </a:r>
            <a:endParaRPr lang="en-US" sz="1500" dirty="0"/>
          </a:p>
        </p:txBody>
      </p:sp>
      <p:sp>
        <p:nvSpPr>
          <p:cNvPr id="11" name="Text 8"/>
          <p:cNvSpPr/>
          <p:nvPr/>
        </p:nvSpPr>
        <p:spPr>
          <a:xfrm>
            <a:off x="950976" y="1051560"/>
            <a:ext cx="7315200" cy="265176"/>
          </a:xfrm>
          <a:prstGeom prst="rect">
            <a:avLst/>
          </a:prstGeom>
          <a:noFill/>
          <a:ln/>
        </p:spPr>
        <p:txBody>
          <a:bodyPr wrap="square" lIns="0" tIns="0" rIns="0" bIns="0" rtlCol="0" anchor="ctr"/>
          <a:lstStyle/>
          <a:p>
            <a:pPr algn="l"/>
            <a:r>
              <a:rPr lang="en-US" sz="1500" spc="300" kern="0" dirty="0">
                <a:solidFill>
                  <a:srgbClr val="C9A227"/>
                </a:solidFill>
                <a:latin typeface="Segoe UI" pitchFamily="34" charset="0"/>
                <a:ea typeface="Segoe UI" pitchFamily="34" charset="-122"/>
                <a:cs typeface="Segoe UI" pitchFamily="34" charset="-120"/>
              </a:rPr>
              <a:t>14 · ASK</a:t>
            </a:r>
            <a:endParaRPr lang="en-US" sz="1500" dirty="0"/>
          </a:p>
        </p:txBody>
      </p:sp>
      <p:sp>
        <p:nvSpPr>
          <p:cNvPr id="12" name="Text 9"/>
          <p:cNvSpPr/>
          <p:nvPr/>
        </p:nvSpPr>
        <p:spPr>
          <a:xfrm>
            <a:off x="950976" y="1417320"/>
            <a:ext cx="16367760" cy="365760"/>
          </a:xfrm>
          <a:prstGeom prst="rect">
            <a:avLst/>
          </a:prstGeom>
          <a:noFill/>
          <a:ln/>
        </p:spPr>
        <p:txBody>
          <a:bodyPr wrap="square" lIns="0" tIns="0" rIns="0" bIns="0" rtlCol="0" anchor="ctr"/>
          <a:lstStyle/>
          <a:p>
            <a:r>
              <a:rPr lang="en-US" sz="1600" spc="300" kern="0" dirty="0">
                <a:solidFill>
                  <a:srgbClr val="8892B0"/>
                </a:solidFill>
                <a:latin typeface="Segoe UI" pitchFamily="34" charset="0"/>
                <a:ea typeface="Segoe UI" pitchFamily="34" charset="-122"/>
                <a:cs typeface="Segoe UI" pitchFamily="34" charset="-120"/>
              </a:rPr>
              <a:t>CONTROLPLANE.AI</a:t>
            </a:r>
            <a:endParaRPr lang="en-US" sz="1600" dirty="0"/>
          </a:p>
        </p:txBody>
      </p:sp>
      <p:sp>
        <p:nvSpPr>
          <p:cNvPr id="13" name="Text 10"/>
          <p:cNvSpPr/>
          <p:nvPr/>
        </p:nvSpPr>
        <p:spPr>
          <a:xfrm>
            <a:off x="950976" y="1810512"/>
            <a:ext cx="16367760" cy="329184"/>
          </a:xfrm>
          <a:prstGeom prst="rect">
            <a:avLst/>
          </a:prstGeom>
          <a:noFill/>
          <a:ln/>
        </p:spPr>
        <p:txBody>
          <a:bodyPr wrap="square" lIns="0" tIns="0" rIns="0" bIns="0" rtlCol="0" anchor="ctr"/>
          <a:lstStyle/>
          <a:p>
            <a:r>
              <a:rPr lang="en-US" sz="1600" dirty="0">
                <a:solidFill>
                  <a:srgbClr val="D0C8B8"/>
                </a:solidFill>
                <a:latin typeface="Segoe UI" pitchFamily="34" charset="0"/>
                <a:ea typeface="Segoe UI" pitchFamily="34" charset="-122"/>
                <a:cs typeface="Segoe UI" pitchFamily="34" charset="-120"/>
              </a:rPr>
              <a:t>Admission-control layer  ·  STEP → SPAN → CLAIM → ACTION</a:t>
            </a:r>
            <a:endParaRPr lang="en-US" sz="1600" dirty="0"/>
          </a:p>
        </p:txBody>
      </p:sp>
      <p:sp>
        <p:nvSpPr>
          <p:cNvPr id="14" name="Text 11"/>
          <p:cNvSpPr/>
          <p:nvPr/>
        </p:nvSpPr>
        <p:spPr>
          <a:xfrm>
            <a:off x="950976" y="2286000"/>
            <a:ext cx="16367760" cy="1691640"/>
          </a:xfrm>
          <a:prstGeom prst="rect">
            <a:avLst/>
          </a:prstGeom>
          <a:noFill/>
          <a:ln/>
        </p:spPr>
        <p:txBody>
          <a:bodyPr wrap="square" lIns="0" tIns="0" rIns="0" bIns="0" rtlCol="0" anchor="t"/>
          <a:lstStyle/>
          <a:p>
            <a:pPr algn="l"/>
            <a:r>
              <a:rPr lang="en-US" sz="3600" b="1" spc="-75" kern="0" dirty="0">
                <a:solidFill>
                  <a:srgbClr val="F5F0EB"/>
                </a:solidFill>
                <a:latin typeface="Segoe UI" pitchFamily="34" charset="0"/>
                <a:ea typeface="Segoe UI" pitchFamily="34" charset="-122"/>
                <a:cs typeface="Segoe UI" pitchFamily="34" charset="-120"/>
              </a:rPr>
              <a:t>THAT SYSTEM WAS NEVER ASKED</a:t>
            </a:r>
            <a:endParaRPr lang="en-US" sz="3600" dirty="0"/>
          </a:p>
          <a:p>
            <a:pPr algn="l"/>
            <a:r>
              <a:rPr lang="en-US" sz="3600" b="1" spc="-75" kern="0" dirty="0">
                <a:solidFill>
                  <a:srgbClr val="F5F0EB"/>
                </a:solidFill>
                <a:latin typeface="Segoe UI" pitchFamily="34" charset="0"/>
                <a:ea typeface="Segoe UI" pitchFamily="34" charset="-122"/>
                <a:cs typeface="Segoe UI" pitchFamily="34" charset="-120"/>
              </a:rPr>
              <a:t>TO PROVE ANYTHING.</a:t>
            </a:r>
            <a:endParaRPr lang="en-US" sz="3600" dirty="0"/>
          </a:p>
        </p:txBody>
      </p:sp>
      <p:sp>
        <p:nvSpPr>
          <p:cNvPr id="15" name="Text 12"/>
          <p:cNvSpPr/>
          <p:nvPr/>
        </p:nvSpPr>
        <p:spPr>
          <a:xfrm>
            <a:off x="950976" y="4041648"/>
            <a:ext cx="16367760" cy="502920"/>
          </a:xfrm>
          <a:prstGeom prst="rect">
            <a:avLst/>
          </a:prstGeom>
          <a:noFill/>
          <a:ln/>
        </p:spPr>
        <p:txBody>
          <a:bodyPr wrap="square" lIns="0" tIns="0" rIns="0" bIns="0" rtlCol="0" anchor="ctr"/>
          <a:lstStyle/>
          <a:p>
            <a:r>
              <a:rPr lang="en-US" sz="2600" dirty="0">
                <a:solidFill>
                  <a:srgbClr val="C9A227"/>
                </a:solidFill>
                <a:latin typeface="Segoe UI" pitchFamily="34" charset="0"/>
                <a:ea typeface="Segoe UI" pitchFamily="34" charset="-122"/>
                <a:cs typeface="Segoe UI" pitchFamily="34" charset="-120"/>
              </a:rPr>
              <a:t>Now nothing acts until it can prove it should.</a:t>
            </a:r>
            <a:endParaRPr lang="en-US" sz="2600" dirty="0"/>
          </a:p>
        </p:txBody>
      </p:sp>
      <p:sp>
        <p:nvSpPr>
          <p:cNvPr id="16" name="Shape 13"/>
          <p:cNvSpPr/>
          <p:nvPr/>
        </p:nvSpPr>
        <p:spPr>
          <a:xfrm>
            <a:off x="950976" y="4754880"/>
            <a:ext cx="16386048" cy="2331720"/>
          </a:xfrm>
          <a:prstGeom prst="rect">
            <a:avLst/>
          </a:prstGeom>
          <a:solidFill>
            <a:srgbClr val="0F1525"/>
          </a:solidFill>
          <a:ln w="12700">
            <a:solidFill>
              <a:srgbClr val="C9A227"/>
            </a:solidFill>
            <a:prstDash val="solid"/>
          </a:ln>
        </p:spPr>
      </p:sp>
      <p:sp>
        <p:nvSpPr>
          <p:cNvPr id="17" name="Text 14"/>
          <p:cNvSpPr/>
          <p:nvPr/>
        </p:nvSpPr>
        <p:spPr>
          <a:xfrm>
            <a:off x="1280160" y="4937760"/>
            <a:ext cx="15727680" cy="292608"/>
          </a:xfrm>
          <a:prstGeom prst="rect">
            <a:avLst/>
          </a:prstGeom>
          <a:noFill/>
          <a:ln/>
        </p:spPr>
        <p:txBody>
          <a:bodyPr wrap="square" lIns="0" tIns="0" rIns="0" bIns="0" rtlCol="0" anchor="ctr"/>
          <a:lstStyle/>
          <a:p>
            <a:r>
              <a:rPr lang="en-US" sz="1400" spc="180" kern="0" dirty="0">
                <a:solidFill>
                  <a:srgbClr val="C9A227"/>
                </a:solidFill>
                <a:latin typeface="Segoe UI" pitchFamily="34" charset="0"/>
                <a:ea typeface="Segoe UI" pitchFamily="34" charset="-122"/>
                <a:cs typeface="Segoe UI" pitchFamily="34" charset="-120"/>
              </a:rPr>
              <a:t>ASK  ·  ROUND 2 ADVANCE</a:t>
            </a:r>
            <a:endParaRPr lang="en-US" sz="1400" dirty="0"/>
          </a:p>
        </p:txBody>
      </p:sp>
      <p:sp>
        <p:nvSpPr>
          <p:cNvPr id="18" name="Text 15"/>
          <p:cNvSpPr/>
          <p:nvPr/>
        </p:nvSpPr>
        <p:spPr>
          <a:xfrm>
            <a:off x="1280160" y="5303520"/>
            <a:ext cx="15727680" cy="438912"/>
          </a:xfrm>
          <a:prstGeom prst="rect">
            <a:avLst/>
          </a:prstGeom>
          <a:noFill/>
          <a:ln/>
        </p:spPr>
        <p:txBody>
          <a:bodyPr wrap="square" lIns="0" tIns="0" rIns="0" bIns="0" rtlCol="0" anchor="ctr"/>
          <a:lstStyle/>
          <a:p>
            <a:r>
              <a:rPr lang="en-US" sz="2200" b="1" dirty="0">
                <a:solidFill>
                  <a:srgbClr val="F5F0EB"/>
                </a:solidFill>
                <a:latin typeface="Segoe UI" pitchFamily="34" charset="0"/>
                <a:ea typeface="Segoe UI" pitchFamily="34" charset="-122"/>
                <a:cs typeface="Segoe UI" pitchFamily="34" charset="-120"/>
              </a:rPr>
              <a:t>Phase 0 shadow on one support route and one acting route.</a:t>
            </a:r>
            <a:endParaRPr lang="en-US" sz="2200" dirty="0"/>
          </a:p>
        </p:txBody>
      </p:sp>
      <p:sp>
        <p:nvSpPr>
          <p:cNvPr id="19" name="Text 16"/>
          <p:cNvSpPr/>
          <p:nvPr/>
        </p:nvSpPr>
        <p:spPr>
          <a:xfrm>
            <a:off x="1280160" y="5833872"/>
            <a:ext cx="15727680" cy="914400"/>
          </a:xfrm>
          <a:prstGeom prst="rect">
            <a:avLst/>
          </a:prstGeom>
          <a:noFill/>
          <a:ln/>
        </p:spPr>
        <p:txBody>
          <a:bodyPr wrap="square" lIns="0" tIns="0" rIns="0" bIns="0" rtlCol="0" anchor="t"/>
          <a:lstStyle/>
          <a:p>
            <a:r>
              <a:rPr lang="en-US" sz="1600" dirty="0">
                <a:solidFill>
                  <a:srgbClr val="D0C8B8"/>
                </a:solidFill>
                <a:latin typeface="Segoe UI" pitchFamily="34" charset="0"/>
                <a:ea typeface="Segoe UI" pitchFamily="34" charset="-122"/>
                <a:cs typeface="Segoe UI" pitchFamily="34" charset="-120"/>
              </a:rPr>
              <a:t>The counterfactual, not a global switch. Would have held N, of which M were true positives — not a block. Enforcement is earned per route.</a:t>
            </a:r>
            <a:endParaRPr lang="en-US" sz="1600" dirty="0"/>
          </a:p>
        </p:txBody>
      </p:sp>
      <p:sp>
        <p:nvSpPr>
          <p:cNvPr id="20" name="Text 17"/>
          <p:cNvSpPr/>
          <p:nvPr/>
        </p:nvSpPr>
        <p:spPr>
          <a:xfrm>
            <a:off x="950976" y="7315200"/>
            <a:ext cx="16386048" cy="384048"/>
          </a:xfrm>
          <a:prstGeom prst="rect">
            <a:avLst/>
          </a:prstGeom>
          <a:noFill/>
          <a:ln/>
        </p:spPr>
        <p:txBody>
          <a:bodyPr wrap="square" lIns="0" tIns="0" rIns="0" bIns="0" rtlCol="0" anchor="ctr"/>
          <a:lstStyle/>
          <a:p>
            <a:r>
              <a:rPr lang="en-US" sz="1800" dirty="0">
                <a:solidFill>
                  <a:srgbClr val="F5F0EB"/>
                </a:solidFill>
                <a:latin typeface="Segoe UI" pitchFamily="34" charset="0"/>
                <a:ea typeface="Segoe UI" pitchFamily="34" charset="-122"/>
                <a:cs typeface="Segoe UI" pitchFamily="34" charset="-120"/>
              </a:rPr>
              <a:t>That refund was ₹1,84,000 on a clause that does not exist.</a:t>
            </a:r>
            <a:endParaRPr lang="en-US" sz="1800" dirty="0"/>
          </a:p>
        </p:txBody>
      </p:sp>
      <p:sp>
        <p:nvSpPr>
          <p:cNvPr id="21" name="Text 18"/>
          <p:cNvSpPr/>
          <p:nvPr/>
        </p:nvSpPr>
        <p:spPr>
          <a:xfrm>
            <a:off x="950976" y="7818120"/>
            <a:ext cx="16386048" cy="292608"/>
          </a:xfrm>
          <a:prstGeom prst="rect">
            <a:avLst/>
          </a:prstGeom>
          <a:noFill/>
          <a:ln/>
        </p:spPr>
        <p:txBody>
          <a:bodyPr wrap="square" lIns="0" tIns="0" rIns="0" bIns="0" rtlCol="0" anchor="ctr"/>
          <a:lstStyle/>
          <a:p>
            <a:r>
              <a:rPr lang="en-US" sz="1400" spc="120" kern="0" dirty="0">
                <a:solidFill>
                  <a:srgbClr val="8892B0"/>
                </a:solidFill>
                <a:latin typeface="Segoe UI" pitchFamily="34" charset="0"/>
                <a:ea typeface="Segoe UI" pitchFamily="34" charset="-122"/>
                <a:cs typeface="Segoe UI" pitchFamily="34" charset="-120"/>
              </a:rPr>
              <a:t>CHODA SRUJAN SAI  ·  DHRITHIKA  ·  IIT GANDHINAGAR  ·  TEAM CONTROLPLANE  ·  PS #1</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IIT Gandhinagar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ControlPlane.ai — Round 2 Pitch</dc:title>
  <dc:subject>Admission-control layer for AI that acts · Accenture Innovation Challenge 2026 · PS #1</dc:subject>
  <dc:creator>ControlPlane · Choda Srujan Sai · Dhrithika</dc:creator>
  <cp:lastModifiedBy>ControlPlane · Choda Srujan Sai · Dhrithika</cp:lastModifiedBy>
  <cp:revision>1</cp:revision>
  <dcterms:created xsi:type="dcterms:W3CDTF">2026-08-30T22:18:28Z</dcterms:created>
  <dcterms:modified xsi:type="dcterms:W3CDTF">2026-08-30T22:18:28Z</dcterms:modified>
</cp:coreProperties>
</file>